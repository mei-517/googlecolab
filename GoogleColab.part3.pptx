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318" r:id="rId3"/>
    <p:sldId id="321" r:id="rId4"/>
    <p:sldId id="320" r:id="rId5"/>
    <p:sldId id="322" r:id="rId6"/>
    <p:sldId id="324" r:id="rId7"/>
    <p:sldId id="323" r:id="rId8"/>
    <p:sldId id="325" r:id="rId9"/>
    <p:sldId id="319" r:id="rId10"/>
  </p:sldIdLst>
  <p:sldSz cx="12192000" cy="6858000"/>
  <p:notesSz cx="6802438" cy="993775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C9C962AA-A2AB-4376-8EA3-205F5036992C}">
          <p14:sldIdLst>
            <p14:sldId id="256"/>
          </p14:sldIdLst>
        </p14:section>
        <p14:section name="elephant_ipynb" id="{BA157B24-D1C0-41FD-B252-B250D701F68F}">
          <p14:sldIdLst>
            <p14:sldId id="318"/>
            <p14:sldId id="321"/>
            <p14:sldId id="320"/>
            <p14:sldId id="322"/>
            <p14:sldId id="324"/>
            <p14:sldId id="323"/>
            <p14:sldId id="325"/>
          </p14:sldIdLst>
        </p14:section>
        <p14:section name="参考文献" id="{CFFDC787-557B-4910-97C6-D64501BECE89}">
          <p14:sldIdLst>
            <p14:sldId id="31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FF"/>
    <a:srgbClr val="FF7C80"/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1" d="100"/>
          <a:sy n="51" d="100"/>
        </p:scale>
        <p:origin x="-132" y="9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3141" y="0"/>
            <a:ext cx="2947723" cy="4986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9496A5-7C6D-4562-83AD-78E6F1D02C8F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59475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244" y="4782542"/>
            <a:ext cx="5441950" cy="39129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3141" y="9439138"/>
            <a:ext cx="2947723" cy="4986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38E0EF-4404-48A5-A14D-C28912D88E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6017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812800" y="1219200"/>
            <a:ext cx="10566400" cy="914400"/>
          </a:xfrm>
          <a:custGeom>
            <a:avLst/>
            <a:gdLst>
              <a:gd name="T0" fmla="*/ 0 w 1000"/>
              <a:gd name="T1" fmla="*/ 8361273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2641601" y="3962400"/>
            <a:ext cx="8682567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391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219201" y="1524000"/>
            <a:ext cx="10164233" cy="1752600"/>
          </a:xfrm>
        </p:spPr>
        <p:txBody>
          <a:bodyPr/>
          <a:lstStyle>
            <a:lvl1pPr>
              <a:defRPr sz="5000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91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641600" y="3962400"/>
            <a:ext cx="87376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サブタイトルの書式設定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609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243638"/>
            <a:ext cx="3860800" cy="457200"/>
          </a:xfrm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8737600" y="6243638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75419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75418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18734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4112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07199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254660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98770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68321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 dirty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37721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00769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839200" y="277814"/>
            <a:ext cx="2743200" cy="610393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609600" y="277814"/>
            <a:ext cx="8026400" cy="61039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873130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タイトル、テキスト、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277814"/>
            <a:ext cx="10972800" cy="8477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sz="half" idx="1"/>
          </p:nvPr>
        </p:nvSpPr>
        <p:spPr>
          <a:xfrm>
            <a:off x="609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68414"/>
            <a:ext cx="5384800" cy="5113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ja-JP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6309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7814"/>
            <a:ext cx="10972800" cy="84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268414"/>
            <a:ext cx="10972800" cy="5113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39014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5BBCB299-525B-C043-8ABF-E2AB50D107C3}" type="datetimeFigureOut">
              <a:rPr lang="ja-JP" altLang="en-US" smtClean="0"/>
              <a:pPr/>
              <a:t>2026/9/9</a:t>
            </a:fld>
            <a:endParaRPr lang="ja-JP" altLang="en-US" dirty="0"/>
          </a:p>
        </p:txBody>
      </p:sp>
      <p:sp>
        <p:nvSpPr>
          <p:cNvPr id="39014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62700"/>
            <a:ext cx="3860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39015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57938"/>
            <a:ext cx="2844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latin typeface="+mj-lt"/>
                <a:ea typeface="ＭＳ Ｐゴシック" pitchFamily="50" charset="-128"/>
              </a:defRPr>
            </a:lvl1pPr>
          </a:lstStyle>
          <a:p>
            <a:fld id="{A602DE73-0B5E-8446-9073-5A6DE92C9AAA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31" name="Freeform 7"/>
          <p:cNvSpPr>
            <a:spLocks noChangeArrowheads="1"/>
          </p:cNvSpPr>
          <p:nvPr/>
        </p:nvSpPr>
        <p:spPr bwMode="auto">
          <a:xfrm>
            <a:off x="508000" y="228600"/>
            <a:ext cx="10972800" cy="609600"/>
          </a:xfrm>
          <a:custGeom>
            <a:avLst/>
            <a:gdLst>
              <a:gd name="T0" fmla="*/ 0 w 1000"/>
              <a:gd name="T1" fmla="*/ 371612160 h 1000"/>
              <a:gd name="T2" fmla="*/ 0 w 1000"/>
              <a:gd name="T3" fmla="*/ 0 h 1000"/>
              <a:gd name="T4" fmla="*/ 2147483647 w 1000"/>
              <a:gd name="T5" fmla="*/ 0 h 1000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  <p:sp>
        <p:nvSpPr>
          <p:cNvPr id="1032" name="Line 8"/>
          <p:cNvSpPr>
            <a:spLocks noChangeShapeType="1"/>
          </p:cNvSpPr>
          <p:nvPr/>
        </p:nvSpPr>
        <p:spPr bwMode="auto">
          <a:xfrm>
            <a:off x="609600" y="6457950"/>
            <a:ext cx="109728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106680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2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pitchFamily="2" charset="2"/>
        <a:buChar char="q"/>
        <a:defRPr kumimoji="1" sz="2800">
          <a:solidFill>
            <a:schemeClr val="tx1"/>
          </a:solidFill>
          <a:latin typeface="+mn-lt"/>
          <a:ea typeface="+mn-ea"/>
        </a:defRPr>
      </a:lvl2pPr>
      <a:lvl3pPr marL="1022350" indent="-350838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kumimoji="1" sz="2400">
          <a:solidFill>
            <a:schemeClr val="tx1"/>
          </a:solidFill>
          <a:latin typeface="+mn-lt"/>
          <a:ea typeface="+mn-ea"/>
        </a:defRPr>
      </a:lvl3pPr>
      <a:lvl4pPr marL="1339850" indent="-315913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q"/>
        <a:defRPr kumimoji="1" sz="2000">
          <a:solidFill>
            <a:schemeClr val="tx1"/>
          </a:solidFill>
          <a:latin typeface="+mn-lt"/>
          <a:ea typeface="+mn-ea"/>
        </a:defRPr>
      </a:lvl4pPr>
      <a:lvl5pPr marL="16811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4C1ADB73-28C1-6E47-5D23-27F5F32058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7978" y="1683757"/>
            <a:ext cx="10916043" cy="2043211"/>
          </a:xfrm>
        </p:spPr>
        <p:txBody>
          <a:bodyPr anchor="ctr">
            <a:noAutofit/>
          </a:bodyPr>
          <a:lstStyle/>
          <a:p>
            <a:r>
              <a:rPr lang="ja-JP" altLang="en-US" sz="4000" dirty="0">
                <a:latin typeface="+mj-ea"/>
              </a:rPr>
              <a:t>「</a:t>
            </a:r>
            <a:r>
              <a:rPr lang="en-US" altLang="ja-JP" sz="4000" dirty="0">
                <a:latin typeface="+mj-ea"/>
              </a:rPr>
              <a:t>Python</a:t>
            </a:r>
            <a:r>
              <a:rPr lang="ja-JP" altLang="en-US" sz="4000" dirty="0">
                <a:latin typeface="+mj-ea"/>
              </a:rPr>
              <a:t>が動く</a:t>
            </a:r>
            <a:r>
              <a:rPr lang="en-US" altLang="ja-JP" sz="4000" dirty="0" err="1">
                <a:latin typeface="+mj-ea"/>
              </a:rPr>
              <a:t>Gogle</a:t>
            </a:r>
            <a:r>
              <a:rPr lang="en-US" altLang="ja-JP" sz="4000" dirty="0">
                <a:latin typeface="+mj-ea"/>
              </a:rPr>
              <a:t> </a:t>
            </a:r>
            <a:r>
              <a:rPr lang="en-US" altLang="ja-JP" sz="4000" dirty="0" err="1">
                <a:latin typeface="+mj-ea"/>
              </a:rPr>
              <a:t>Colab</a:t>
            </a:r>
            <a:r>
              <a:rPr lang="ja-JP" altLang="en-US" sz="4000" dirty="0">
                <a:latin typeface="+mj-ea"/>
              </a:rPr>
              <a:t>で</a:t>
            </a:r>
            <a:r>
              <a:rPr lang="en-US" altLang="ja-JP" sz="4000" dirty="0">
                <a:latin typeface="+mj-ea"/>
              </a:rPr>
              <a:t>AI</a:t>
            </a:r>
            <a:r>
              <a:rPr lang="ja-JP" altLang="en-US" sz="4000" dirty="0">
                <a:latin typeface="+mj-ea"/>
              </a:rPr>
              <a:t>自習ドリル」</a:t>
            </a:r>
            <a:br>
              <a:rPr lang="en-US" altLang="ja-JP" sz="4000" dirty="0">
                <a:latin typeface="+mj-ea"/>
              </a:rPr>
            </a:br>
            <a:r>
              <a:rPr lang="ja-JP" altLang="en-US" sz="4000" dirty="0">
                <a:latin typeface="+mj-ea"/>
              </a:rPr>
              <a:t>第１部３章演習</a:t>
            </a:r>
          </a:p>
        </p:txBody>
      </p:sp>
      <p:sp>
        <p:nvSpPr>
          <p:cNvPr id="7" name="字幕 6">
            <a:extLst>
              <a:ext uri="{FF2B5EF4-FFF2-40B4-BE49-F238E27FC236}">
                <a16:creationId xmlns:a16="http://schemas.microsoft.com/office/drawing/2014/main" id="{1FB1DF19-9957-EF38-B101-A60D1BC60F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5108" y="3892062"/>
            <a:ext cx="8737600" cy="1752600"/>
          </a:xfrm>
        </p:spPr>
        <p:txBody>
          <a:bodyPr/>
          <a:lstStyle/>
          <a:p>
            <a:endParaRPr lang="en-US" altLang="ja-JP" dirty="0"/>
          </a:p>
          <a:p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dirty="0">
                <a:latin typeface="+mj-ea"/>
                <a:ea typeface="+mj-ea"/>
              </a:rPr>
              <a:t>24510171 </a:t>
            </a:r>
            <a:r>
              <a:rPr lang="ja-JP" altLang="en-US" dirty="0">
                <a:latin typeface="+mj-ea"/>
                <a:ea typeface="+mj-ea"/>
              </a:rPr>
              <a:t>永井芽衣</a:t>
            </a:r>
          </a:p>
        </p:txBody>
      </p:sp>
    </p:spTree>
    <p:extLst>
      <p:ext uri="{BB962C8B-B14F-4D97-AF65-F5344CB8AC3E}">
        <p14:creationId xmlns:p14="http://schemas.microsoft.com/office/powerpoint/2010/main" val="3150873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00D9D6-997E-C24A-B95B-87D9AB47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84" name="字幕 2">
            <a:extLst>
              <a:ext uri="{FF2B5EF4-FFF2-40B4-BE49-F238E27FC236}">
                <a16:creationId xmlns:a16="http://schemas.microsoft.com/office/drawing/2014/main" id="{006B75A2-CA46-5FE5-299D-BC113BF87D99}"/>
              </a:ext>
            </a:extLst>
          </p:cNvPr>
          <p:cNvSpPr txBox="1">
            <a:spLocks/>
          </p:cNvSpPr>
          <p:nvPr/>
        </p:nvSpPr>
        <p:spPr>
          <a:xfrm>
            <a:off x="884439" y="1097282"/>
            <a:ext cx="9391483" cy="54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　</a:t>
            </a:r>
            <a:endParaRPr kumimoji="1" lang="en-US" altLang="ja-JP" sz="2000" b="0" i="0" u="none" strike="noStrike" kern="1200" cap="none" spc="0" normalizeH="0" baseline="0" noProof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983A2FE9-2C8C-266F-4107-E97A3399D80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15673B-D34F-6A06-286B-6B361B2EEE9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kern="0" dirty="0"/>
              <a:t>フローチャート</a:t>
            </a:r>
            <a:endParaRPr lang="en-US" altLang="ja-JP" kern="0" dirty="0"/>
          </a:p>
          <a:p>
            <a:pPr marL="0" indent="0">
              <a:buNone/>
            </a:pPr>
            <a:endParaRPr lang="en-US" altLang="ja-JP" kern="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A3CE7E79-24CD-0047-16C3-9641CB93D965}"/>
              </a:ext>
            </a:extLst>
          </p:cNvPr>
          <p:cNvGrpSpPr/>
          <p:nvPr/>
        </p:nvGrpSpPr>
        <p:grpSpPr>
          <a:xfrm>
            <a:off x="997526" y="2220686"/>
            <a:ext cx="2992582" cy="1350818"/>
            <a:chOff x="1698170" y="2078182"/>
            <a:chExt cx="2992582" cy="1350818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B425BD9-099D-A6AD-15F2-F3623A12326F}"/>
                </a:ext>
              </a:extLst>
            </p:cNvPr>
            <p:cNvSpPr/>
            <p:nvPr/>
          </p:nvSpPr>
          <p:spPr bwMode="auto">
            <a:xfrm>
              <a:off x="1698170" y="2078182"/>
              <a:ext cx="2992582" cy="135081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 algn="ctr">
              <a:noFill/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ja-JP" sz="18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elephant_data.txt</a:t>
              </a:r>
            </a:p>
            <a:p>
              <a:pPr marL="0" marR="0" indent="0" algn="ctr" defTabSz="914400" rtl="0" eaLnBrk="1" fontAlgn="base" latinLnBrk="0" hangingPunct="1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ja-JP" altLang="en-US" sz="1500" b="0" i="0" u="none" strike="noStrike" cap="none" normalizeH="0" baseline="0" dirty="0">
                  <a:ln>
                    <a:noFill/>
                  </a:ln>
                  <a:solidFill>
                    <a:schemeClr val="accent5">
                      <a:lumMod val="50000"/>
                    </a:schemeClr>
                  </a:solidFill>
                  <a:effectLst/>
                  <a:latin typeface="Arial" charset="0"/>
                  <a:ea typeface="ＭＳ Ｐゴシック" pitchFamily="50" charset="-128"/>
                </a:rPr>
                <a:t>　　　体長　　　　体重　　　ラベル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84DE7B81-C143-6356-16D3-58820B541B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84591" y="2740733"/>
              <a:ext cx="2619741" cy="590632"/>
            </a:xfrm>
            <a:prstGeom prst="rect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1162395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217BBE65-3ACC-B6E4-D613-17C17B5AD7FD}"/>
                  </a:ext>
                </a:extLst>
              </p:cNvPr>
              <p:cNvSpPr/>
              <p:nvPr/>
            </p:nvSpPr>
            <p:spPr bwMode="auto">
              <a:xfrm>
                <a:off x="1140803" y="3015416"/>
                <a:ext cx="2729345" cy="1030349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indent="0">
                  <a:buNone/>
                </a:pPr>
                <a:r>
                  <a:rPr lang="ja-JP" altLang="en-US" sz="1800" kern="0" dirty="0">
                    <a:solidFill>
                      <a:schemeClr val="accent6"/>
                    </a:solidFill>
                    <a:latin typeface="+mn-ea"/>
                  </a:rPr>
                  <a:t>正規化の式</a:t>
                </a:r>
                <a:endParaRPr lang="en-US" altLang="ja-JP" sz="1800" kern="0" dirty="0">
                  <a:solidFill>
                    <a:schemeClr val="accent6"/>
                  </a:solidFill>
                  <a:latin typeface="+mn-ea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ja-JP" sz="1800" b="0" i="1" kern="0" dirty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𝑛𝑜𝑟𝑚𝑎𝑙𝑖𝑧𝑒𝑑</m:t>
                        </m:r>
                      </m:sub>
                    </m:sSub>
                  </m:oMath>
                </a14:m>
                <a:r>
                  <a:rPr lang="en-US" altLang="ja-JP" sz="1800" kern="0" dirty="0">
                    <a:solidFill>
                      <a:schemeClr val="accent6"/>
                    </a:solidFill>
                  </a:rPr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en-US" altLang="ja-JP" sz="1800" b="0" i="1" kern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1800" b="0" i="1" kern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𝑚𝑖𝑛</m:t>
                            </m:r>
                          </m:sub>
                        </m:sSub>
                      </m:den>
                    </m:f>
                  </m:oMath>
                </a14:m>
                <a:endParaRPr kumimoji="1" lang="ja-JP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ＭＳ Ｐゴシック" pitchFamily="50" charset="-128"/>
                </a:endParaRPr>
              </a:p>
            </p:txBody>
          </p:sp>
        </mc:Choice>
        <mc:Fallback xmlns=""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217BBE65-3ACC-B6E4-D613-17C17B5AD7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40803" y="3015416"/>
                <a:ext cx="2729345" cy="1030349"/>
              </a:xfrm>
              <a:prstGeom prst="rect">
                <a:avLst/>
              </a:prstGeom>
              <a:blipFill>
                <a:blip r:embed="rId2"/>
                <a:stretch>
                  <a:fillRect l="-1786" t="-3550"/>
                </a:stretch>
              </a:blipFill>
              <a:ln w="9525" cap="flat" cmpd="sng" algn="ctr">
                <a:noFill/>
                <a:prstDash val="solid"/>
                <a:miter lim="800000"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タイトル 1">
            <a:extLst>
              <a:ext uri="{FF2B5EF4-FFF2-40B4-BE49-F238E27FC236}">
                <a16:creationId xmlns:a16="http://schemas.microsoft.com/office/drawing/2014/main" id="{C700D9D6-997E-C24A-B95B-87D9AB47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84" name="字幕 2">
            <a:extLst>
              <a:ext uri="{FF2B5EF4-FFF2-40B4-BE49-F238E27FC236}">
                <a16:creationId xmlns:a16="http://schemas.microsoft.com/office/drawing/2014/main" id="{006B75A2-CA46-5FE5-299D-BC113BF87D99}"/>
              </a:ext>
            </a:extLst>
          </p:cNvPr>
          <p:cNvSpPr txBox="1">
            <a:spLocks/>
          </p:cNvSpPr>
          <p:nvPr/>
        </p:nvSpPr>
        <p:spPr>
          <a:xfrm>
            <a:off x="884439" y="1097282"/>
            <a:ext cx="9391483" cy="54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1" lang="ja-JP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FFC000">
                    <a:lumMod val="75000"/>
                  </a:srgb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</a:rPr>
              <a:t>　</a:t>
            </a:r>
            <a:endParaRPr kumimoji="1" lang="en-US" altLang="ja-JP" sz="2000" b="0" i="0" u="none" strike="noStrike" kern="1200" cap="none" spc="0" normalizeH="0" baseline="0" noProof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983A2FE9-2C8C-266F-4107-E97A3399D80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15673B-D34F-6A06-286B-6B361B2EEE9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ja-JP" kern="0" dirty="0"/>
              <a:t>def</a:t>
            </a:r>
            <a:r>
              <a:rPr lang="ja-JP" altLang="en-US" kern="0" dirty="0"/>
              <a:t> </a:t>
            </a:r>
            <a:r>
              <a:rPr lang="en-US" altLang="ja-JP" kern="0" dirty="0" err="1"/>
              <a:t>min_val</a:t>
            </a:r>
            <a:r>
              <a:rPr lang="ja-JP" altLang="en-US" kern="0" dirty="0"/>
              <a:t>　</a:t>
            </a:r>
            <a:r>
              <a:rPr lang="ja-JP" altLang="en-US" sz="2400" kern="0" dirty="0"/>
              <a:t>データを正規化する</a:t>
            </a:r>
            <a:endParaRPr lang="en-US" altLang="ja-JP" sz="2400" kern="0" dirty="0"/>
          </a:p>
          <a:p>
            <a:r>
              <a:rPr lang="en-US" altLang="ja-JP" sz="2400" kern="0" dirty="0"/>
              <a:t>x1,x2</a:t>
            </a:r>
            <a:r>
              <a:rPr lang="ja-JP" altLang="en-US" sz="2400" kern="0" dirty="0"/>
              <a:t> を転置する</a:t>
            </a:r>
            <a:endParaRPr lang="en-US" altLang="ja-JP" sz="2400" kern="0" dirty="0"/>
          </a:p>
          <a:p>
            <a:r>
              <a:rPr lang="ja-JP" altLang="en-US" sz="2400" kern="0" dirty="0"/>
              <a:t>データを正規化する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000" kern="0" dirty="0">
              <a:solidFill>
                <a:schemeClr val="accent6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F60535-138B-732E-1893-7563B5F9E89B}"/>
              </a:ext>
            </a:extLst>
          </p:cNvPr>
          <p:cNvSpPr/>
          <p:nvPr/>
        </p:nvSpPr>
        <p:spPr bwMode="auto">
          <a:xfrm>
            <a:off x="5070080" y="2200772"/>
            <a:ext cx="6787159" cy="165463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			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　　　　　「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x1.T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」　　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x1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の転置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			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　　　　　「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x2.min(</a:t>
            </a:r>
            <a:r>
              <a:rPr kumimoji="1" lang="en-US" altLang="ja-JP" sz="1500" b="0" i="0" u="none" strike="noStrike" cap="none" normalizeH="0" baseline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axis,keepdims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)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」　最小値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			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　　　　　「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axis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」　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0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: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列方向　１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: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行方向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			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　　　　　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keepdims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T : 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配列の次元を維持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	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		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　　　　　「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return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返り値を指定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DBE3B8F-501C-030C-2B41-3A35D663D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542" y="2323139"/>
            <a:ext cx="3000794" cy="1409897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8064596-8A0D-1667-841B-85C709BCD0D4}"/>
              </a:ext>
            </a:extLst>
          </p:cNvPr>
          <p:cNvSpPr/>
          <p:nvPr/>
        </p:nvSpPr>
        <p:spPr bwMode="auto">
          <a:xfrm>
            <a:off x="5068545" y="4265139"/>
            <a:ext cx="7123455" cy="1945655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t(x1)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」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x21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の転置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apply( x, m, fun 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（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x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データ、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m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１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: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行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2: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列）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or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列ごとに関数を適用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sweep( x, m, s, fun 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( s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：使用する値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)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					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or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列の各値に計算を実施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3973C81C-9C4E-1158-F71B-9FF7F31897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4459" y="4437754"/>
            <a:ext cx="4086795" cy="160042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6187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16551B-8A21-6A35-F000-25A7BD131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EB4E70-4B14-A2ED-DB1E-3CC1EF7EEA8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B3090A0-1908-E9B0-8290-9A3F400F7109}"/>
              </a:ext>
            </a:extLst>
          </p:cNvPr>
          <p:cNvSpPr/>
          <p:nvPr/>
        </p:nvSpPr>
        <p:spPr bwMode="auto">
          <a:xfrm>
            <a:off x="6487911" y="1413729"/>
            <a:ext cx="5209308" cy="215614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d [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〇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,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△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]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d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の〇行△列目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: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」　すべて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「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a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: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b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」　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a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以上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b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未満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-1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」　最後の値</a:t>
            </a:r>
            <a:endParaRPr kumimoji="1" lang="ja-JP" altLang="en-US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8A8C012-3453-ED17-5FD2-86A8CBA3EA67}"/>
              </a:ext>
            </a:extLst>
          </p:cNvPr>
          <p:cNvSpPr/>
          <p:nvPr/>
        </p:nvSpPr>
        <p:spPr bwMode="auto">
          <a:xfrm>
            <a:off x="6487911" y="3596598"/>
            <a:ext cx="5246889" cy="2658005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d [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〇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,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△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]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」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d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の〇行△列目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 」　すべて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a : b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a 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以上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b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以下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</a:t>
            </a:r>
            <a:r>
              <a:rPr lang="en-US" altLang="ja-JP" sz="1500" dirty="0" err="1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ncol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(d)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」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d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の最後の列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D1E742D-3C11-8A33-0E77-5529A4675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6470" y="1557257"/>
            <a:ext cx="4505954" cy="666843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B4EBA53-DA81-DFD1-3DF7-3D483FDCD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2716" y="3697934"/>
            <a:ext cx="3572374" cy="1095528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B9ED96D3-E6CA-7642-8B77-081D7BC95C0F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en-US" altLang="ja-JP" kern="0" dirty="0" err="1"/>
              <a:t>deta</a:t>
            </a:r>
            <a:r>
              <a:rPr lang="ja-JP" altLang="en-US" kern="0" dirty="0"/>
              <a:t>の取得</a:t>
            </a:r>
            <a:endParaRPr lang="en-US" altLang="ja-JP" kern="0" dirty="0"/>
          </a:p>
          <a:p>
            <a:r>
              <a:rPr lang="ja-JP" altLang="en-US" sz="2400" kern="0" dirty="0"/>
              <a:t>変数</a:t>
            </a:r>
            <a:r>
              <a:rPr lang="en-US" altLang="ja-JP" sz="2400" kern="0" dirty="0"/>
              <a:t>d </a:t>
            </a:r>
            <a:r>
              <a:rPr lang="ja-JP" altLang="en-US" sz="2400" kern="0" dirty="0"/>
              <a:t>に </a:t>
            </a:r>
            <a:r>
              <a:rPr lang="en-US" altLang="ja-JP" sz="2400" kern="0" dirty="0"/>
              <a:t>elephant_data.txt </a:t>
            </a:r>
            <a:r>
              <a:rPr lang="ja-JP" altLang="en-US" sz="2400" kern="0" dirty="0"/>
              <a:t>を代入</a:t>
            </a:r>
            <a:endParaRPr lang="en-US" altLang="ja-JP" sz="2400" kern="0" dirty="0"/>
          </a:p>
          <a:p>
            <a:r>
              <a:rPr lang="ja-JP" altLang="en-US" sz="2400" kern="0" dirty="0"/>
              <a:t>変数 </a:t>
            </a:r>
            <a:r>
              <a:rPr lang="en-US" altLang="ja-JP" sz="2400" kern="0" dirty="0" err="1"/>
              <a:t>Xd,yd</a:t>
            </a:r>
            <a:r>
              <a:rPr lang="ja-JP" altLang="en-US" sz="2400" kern="0" dirty="0"/>
              <a:t> に値を代入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1800" kern="0" dirty="0"/>
              <a:t>　</a:t>
            </a:r>
            <a:r>
              <a:rPr lang="en-US" altLang="ja-JP" sz="1800" kern="0" dirty="0" err="1">
                <a:solidFill>
                  <a:schemeClr val="accent6"/>
                </a:solidFill>
              </a:rPr>
              <a:t>Xd</a:t>
            </a:r>
            <a:r>
              <a:rPr lang="en-US" altLang="ja-JP" sz="1800" kern="0" dirty="0">
                <a:solidFill>
                  <a:schemeClr val="accent6"/>
                </a:solidFill>
              </a:rPr>
              <a:t> </a:t>
            </a:r>
            <a:r>
              <a:rPr lang="ja-JP" altLang="en-US" sz="1800" kern="0" dirty="0">
                <a:solidFill>
                  <a:schemeClr val="accent6"/>
                </a:solidFill>
              </a:rPr>
              <a:t>体長と体重　</a:t>
            </a:r>
            <a:r>
              <a:rPr lang="en-US" altLang="ja-JP" sz="1800" kern="0" dirty="0">
                <a:solidFill>
                  <a:schemeClr val="accent6"/>
                </a:solidFill>
              </a:rPr>
              <a:t>(d</a:t>
            </a:r>
            <a:r>
              <a:rPr lang="ja-JP" altLang="en-US" sz="1800" kern="0" dirty="0">
                <a:solidFill>
                  <a:schemeClr val="accent6"/>
                </a:solidFill>
              </a:rPr>
              <a:t>の</a:t>
            </a:r>
            <a:r>
              <a:rPr lang="en-US" altLang="ja-JP" sz="1800" kern="0" dirty="0">
                <a:solidFill>
                  <a:schemeClr val="accent6"/>
                </a:solidFill>
              </a:rPr>
              <a:t>1</a:t>
            </a:r>
            <a:r>
              <a:rPr lang="ja-JP" altLang="en-US" sz="1800" kern="0" dirty="0">
                <a:solidFill>
                  <a:schemeClr val="accent6"/>
                </a:solidFill>
              </a:rPr>
              <a:t>行目から２（最後</a:t>
            </a:r>
            <a:r>
              <a:rPr lang="en-US" altLang="ja-JP" sz="1800" kern="0" dirty="0">
                <a:solidFill>
                  <a:schemeClr val="accent6"/>
                </a:solidFill>
              </a:rPr>
              <a:t>-1</a:t>
            </a:r>
            <a:r>
              <a:rPr lang="ja-JP" altLang="en-US" sz="1800" kern="0" dirty="0">
                <a:solidFill>
                  <a:schemeClr val="accent6"/>
                </a:solidFill>
              </a:rPr>
              <a:t>）行目</a:t>
            </a:r>
            <a:r>
              <a:rPr lang="en-US" altLang="ja-JP" sz="1800" kern="0" dirty="0">
                <a:solidFill>
                  <a:schemeClr val="accent6"/>
                </a:solidFill>
              </a:rPr>
              <a:t>)</a:t>
            </a: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yd</a:t>
            </a:r>
            <a:r>
              <a:rPr lang="ja-JP" altLang="en-US" sz="1800" kern="0" dirty="0">
                <a:solidFill>
                  <a:schemeClr val="accent6"/>
                </a:solidFill>
              </a:rPr>
              <a:t>　ラベル　</a:t>
            </a:r>
            <a:r>
              <a:rPr lang="en-US" altLang="ja-JP" sz="1800" kern="0" dirty="0">
                <a:solidFill>
                  <a:schemeClr val="accent6"/>
                </a:solidFill>
              </a:rPr>
              <a:t>(</a:t>
            </a:r>
            <a:r>
              <a:rPr lang="ja-JP" altLang="en-US" sz="1800" kern="0" dirty="0">
                <a:solidFill>
                  <a:schemeClr val="accent6"/>
                </a:solidFill>
              </a:rPr>
              <a:t>最後の行</a:t>
            </a:r>
            <a:r>
              <a:rPr lang="en-US" altLang="ja-JP" sz="1800" kern="0" dirty="0">
                <a:solidFill>
                  <a:schemeClr val="accent6"/>
                </a:solidFill>
              </a:rPr>
              <a:t>)</a:t>
            </a:r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endParaRPr lang="en-US" altLang="ja-JP" sz="2400" kern="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4624E3C-A13F-C860-CBAB-6295845925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2144" y="5046447"/>
            <a:ext cx="1571844" cy="1533739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6" name="矢印: 右 15">
            <a:extLst>
              <a:ext uri="{FF2B5EF4-FFF2-40B4-BE49-F238E27FC236}">
                <a16:creationId xmlns:a16="http://schemas.microsoft.com/office/drawing/2014/main" id="{2CC46FE8-C4DD-92D8-4A63-5E9A03A7AE41}"/>
              </a:ext>
            </a:extLst>
          </p:cNvPr>
          <p:cNvSpPr/>
          <p:nvPr/>
        </p:nvSpPr>
        <p:spPr bwMode="auto">
          <a:xfrm>
            <a:off x="9294102" y="5813316"/>
            <a:ext cx="605642" cy="187204"/>
          </a:xfrm>
          <a:prstGeom prst="rightArrow">
            <a:avLst/>
          </a:prstGeom>
          <a:solidFill>
            <a:schemeClr val="accent4">
              <a:lumMod val="65000"/>
              <a:lumOff val="3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84297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DBA4AFB-FEB6-8BA5-128E-B3CC94FD7DC1}"/>
              </a:ext>
            </a:extLst>
          </p:cNvPr>
          <p:cNvSpPr/>
          <p:nvPr/>
        </p:nvSpPr>
        <p:spPr bwMode="auto">
          <a:xfrm>
            <a:off x="4392937" y="1341231"/>
            <a:ext cx="7748923" cy="292058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「 </a:t>
            </a:r>
            <a:r>
              <a:rPr kumimoji="1" lang="en-US" altLang="ja-JP" sz="1500" b="0" i="0" u="none" strike="noStrike" cap="none" normalizeH="0" baseline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plt.figure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( n, </a:t>
            </a:r>
            <a:r>
              <a:rPr kumimoji="1" lang="en-US" altLang="ja-JP" sz="1500" b="0" i="0" u="none" strike="noStrike" cap="none" normalizeH="0" baseline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figsize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 = (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横幅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,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縦幅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) ) 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」　図番号：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n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,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大きさ：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figsize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の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図を用意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plt.clf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()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」　グラフの内容を消す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		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「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for </a:t>
            </a:r>
            <a:r>
              <a:rPr kumimoji="1" lang="en-US" altLang="ja-JP" sz="1500" b="0" i="0" u="none" strike="noStrike" cap="none" normalizeH="0" baseline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i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 in x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 」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　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x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の要素ごとに繰り返し</a:t>
            </a:r>
            <a:endParaRPr kumimoji="1" lang="en-US" altLang="ja-JP" sz="1500" b="0" i="0" u="none" strike="noStrike" cap="none" normalizeH="0" baseline="0" dirty="0">
              <a:ln>
                <a:noFill/>
              </a:ln>
              <a:solidFill>
                <a:schemeClr val="accent5">
                  <a:lumMod val="50000"/>
                </a:schemeClr>
              </a:solidFill>
              <a:effectLst/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「 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set( x )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 」　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x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の中の重複をなくしたもの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	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np.where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条件式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)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条件を満たす要素の位置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plt.scatter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(x, y, marker, c,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zorder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,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edgecolors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)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点を打つ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716551B-8A21-6A35-F000-25A7BD131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EB4E70-4B14-A2ED-DB1E-3CC1EF7EEA8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F507706-6079-4D40-5945-E11BCDC51E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4633"/>
          <a:stretch/>
        </p:blipFill>
        <p:spPr>
          <a:xfrm>
            <a:off x="4857981" y="1463084"/>
            <a:ext cx="6430272" cy="168722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564B1F7A-6CA1-8294-EDA3-A4E236B50922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kern="0" dirty="0"/>
              <a:t>散布図をかく</a:t>
            </a:r>
            <a:endParaRPr lang="en-US" altLang="ja-JP" sz="2400" kern="0" dirty="0"/>
          </a:p>
          <a:p>
            <a:r>
              <a:rPr lang="ja-JP" altLang="en-US" sz="2400" kern="0" dirty="0"/>
              <a:t>図</a:t>
            </a:r>
            <a:r>
              <a:rPr lang="en-US" altLang="ja-JP" sz="2400" kern="0" dirty="0"/>
              <a:t>fig</a:t>
            </a:r>
            <a:r>
              <a:rPr lang="ja-JP" altLang="en-US" sz="2400" kern="0" dirty="0"/>
              <a:t>を用意</a:t>
            </a:r>
            <a:endParaRPr lang="en-US" altLang="ja-JP" sz="2400" kern="0" dirty="0"/>
          </a:p>
          <a:p>
            <a:endParaRPr lang="en-US" altLang="ja-JP" sz="2400" kern="0" dirty="0">
              <a:solidFill>
                <a:schemeClr val="accent6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マーカーを用意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2400" kern="0" dirty="0">
                <a:solidFill>
                  <a:schemeClr val="accent4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yd</a:t>
            </a:r>
            <a:r>
              <a:rPr lang="ja-JP" altLang="en-US" sz="1800" kern="0" dirty="0">
                <a:solidFill>
                  <a:schemeClr val="accent6"/>
                </a:solidFill>
              </a:rPr>
              <a:t>の種類ごとにマーカーの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形と色を分ける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マーカーを打って図をかく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2400" kern="0" dirty="0">
                <a:solidFill>
                  <a:schemeClr val="accent4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yd</a:t>
            </a:r>
            <a:r>
              <a:rPr lang="ja-JP" altLang="en-US" sz="1800" kern="0" dirty="0">
                <a:solidFill>
                  <a:schemeClr val="accent6"/>
                </a:solidFill>
              </a:rPr>
              <a:t>の１種類のデータ番号を</a:t>
            </a:r>
            <a:r>
              <a:rPr lang="en-US" altLang="ja-JP" sz="1800" kern="0" dirty="0">
                <a:solidFill>
                  <a:schemeClr val="accent6"/>
                </a:solidFill>
              </a:rPr>
              <a:t>n</a:t>
            </a:r>
            <a:r>
              <a:rPr lang="ja-JP" altLang="en-US" sz="1800" kern="0" dirty="0">
                <a:solidFill>
                  <a:schemeClr val="accent6"/>
                </a:solidFill>
              </a:rPr>
              <a:t>に格納する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n</a:t>
            </a:r>
            <a:r>
              <a:rPr lang="ja-JP" altLang="en-US" sz="1800" kern="0" dirty="0">
                <a:solidFill>
                  <a:schemeClr val="accent6"/>
                </a:solidFill>
              </a:rPr>
              <a:t>番目の（体長</a:t>
            </a:r>
            <a:r>
              <a:rPr lang="en-US" altLang="ja-JP" sz="1800" kern="0" dirty="0">
                <a:solidFill>
                  <a:schemeClr val="accent6"/>
                </a:solidFill>
              </a:rPr>
              <a:t>,</a:t>
            </a:r>
            <a:r>
              <a:rPr lang="ja-JP" altLang="en-US" sz="1800" kern="0" dirty="0">
                <a:solidFill>
                  <a:schemeClr val="accent6"/>
                </a:solidFill>
              </a:rPr>
              <a:t>体重）の座標に</a:t>
            </a:r>
            <a:r>
              <a:rPr lang="en-US" altLang="ja-JP" sz="1800" kern="0" dirty="0">
                <a:solidFill>
                  <a:schemeClr val="accent6"/>
                </a:solidFill>
              </a:rPr>
              <a:t>m</a:t>
            </a:r>
            <a:r>
              <a:rPr lang="ja-JP" altLang="en-US" sz="1800" kern="0" dirty="0">
                <a:solidFill>
                  <a:schemeClr val="accent6"/>
                </a:solidFill>
              </a:rPr>
              <a:t>番目のマーカーをつける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次に</a:t>
            </a:r>
            <a:r>
              <a:rPr lang="en-US" altLang="ja-JP" sz="1800" kern="0" dirty="0">
                <a:solidFill>
                  <a:schemeClr val="accent6"/>
                </a:solidFill>
              </a:rPr>
              <a:t> yd</a:t>
            </a:r>
            <a:r>
              <a:rPr lang="ja-JP" altLang="en-US" sz="1800" kern="0" dirty="0">
                <a:solidFill>
                  <a:schemeClr val="accent6"/>
                </a:solidFill>
              </a:rPr>
              <a:t> の種類に進める（同時に</a:t>
            </a:r>
            <a:r>
              <a:rPr lang="en-US" altLang="ja-JP" sz="1800" kern="0" dirty="0">
                <a:solidFill>
                  <a:schemeClr val="accent6"/>
                </a:solidFill>
              </a:rPr>
              <a:t>m</a:t>
            </a:r>
            <a:r>
              <a:rPr lang="ja-JP" altLang="en-US" sz="1800" kern="0" dirty="0">
                <a:solidFill>
                  <a:schemeClr val="accent6"/>
                </a:solidFill>
              </a:rPr>
              <a:t>も１増やす）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4"/>
                </a:solidFill>
              </a:rPr>
              <a:t>　</a:t>
            </a:r>
            <a:endParaRPr lang="en-US" altLang="ja-JP" sz="1800" kern="0" dirty="0">
              <a:solidFill>
                <a:schemeClr val="accent4"/>
              </a:solidFill>
            </a:endParaRP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46048BD6-4A02-E0BF-9BD9-2BF81BAE9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7750" y="4182236"/>
            <a:ext cx="3585965" cy="228532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sp>
        <p:nvSpPr>
          <p:cNvPr id="14" name="矢印: 右 13">
            <a:extLst>
              <a:ext uri="{FF2B5EF4-FFF2-40B4-BE49-F238E27FC236}">
                <a16:creationId xmlns:a16="http://schemas.microsoft.com/office/drawing/2014/main" id="{CF632E6A-879C-79D1-FC3D-4DB4BB0F4ED3}"/>
              </a:ext>
            </a:extLst>
          </p:cNvPr>
          <p:cNvSpPr/>
          <p:nvPr/>
        </p:nvSpPr>
        <p:spPr bwMode="auto">
          <a:xfrm>
            <a:off x="7729708" y="5369453"/>
            <a:ext cx="605642" cy="187204"/>
          </a:xfrm>
          <a:prstGeom prst="rightArrow">
            <a:avLst/>
          </a:prstGeom>
          <a:solidFill>
            <a:schemeClr val="accent5">
              <a:lumMod val="5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77422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16551B-8A21-6A35-F000-25A7BD131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EB4E70-4B14-A2ED-DB1E-3CC1EF7EEA8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EE29E32-E518-D36F-9298-2097D177EB81}"/>
              </a:ext>
            </a:extLst>
          </p:cNvPr>
          <p:cNvSpPr/>
          <p:nvPr/>
        </p:nvSpPr>
        <p:spPr bwMode="auto">
          <a:xfrm>
            <a:off x="4947777" y="1268414"/>
            <a:ext cx="6280341" cy="3661825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plot( x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軸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, y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軸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, type = n)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　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NULL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の図をかく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5000"/>
                    <a:lumOff val="35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unique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5000"/>
                    <a:lumOff val="35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( x )</a:t>
            </a:r>
            <a:r>
              <a:rPr kumimoji="1" lang="ja-JP" altLang="en-US" sz="15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5000"/>
                    <a:lumOff val="35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 」　</a:t>
            </a:r>
            <a:r>
              <a:rPr kumimoji="1" lang="en-US" altLang="ja-JP" sz="1500" b="0" i="0" u="none" strike="noStrike" cap="none" normalizeH="0" baseline="0" dirty="0">
                <a:ln>
                  <a:noFill/>
                </a:ln>
                <a:solidFill>
                  <a:schemeClr val="accent4">
                    <a:lumMod val="65000"/>
                    <a:lumOff val="35000"/>
                  </a:schemeClr>
                </a:solidFill>
                <a:effectLst/>
                <a:latin typeface="Arial" charset="0"/>
                <a:ea typeface="ＭＳ Ｐゴシック" pitchFamily="50" charset="-128"/>
              </a:rPr>
              <a:t>x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の中の重複をなくしたもの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which(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条件式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　条件を満たす要素の位置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points(x, y, </a:t>
            </a:r>
            <a:r>
              <a:rPr lang="en-US" altLang="ja-JP" sz="1500" dirty="0" err="1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pch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, col)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 」　点を打つ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EED49052-6400-70AB-1241-CB556F6D2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8406" y="1367310"/>
            <a:ext cx="4896533" cy="2305372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1EE0FA69-D986-A076-E543-3A5BDDF36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632" y="3402947"/>
            <a:ext cx="2458193" cy="3283604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E461CFF8-D65A-E224-4D01-8441C881367F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kern="0" dirty="0"/>
              <a:t>散布図をかく</a:t>
            </a:r>
            <a:endParaRPr lang="en-US" altLang="ja-JP" sz="2400" kern="0" dirty="0"/>
          </a:p>
          <a:p>
            <a:r>
              <a:rPr lang="ja-JP" altLang="en-US" sz="2400" kern="0" dirty="0"/>
              <a:t>図</a:t>
            </a:r>
            <a:r>
              <a:rPr lang="en-US" altLang="ja-JP" sz="2400" kern="0" dirty="0"/>
              <a:t>fig</a:t>
            </a:r>
            <a:r>
              <a:rPr lang="ja-JP" altLang="en-US" sz="2400" kern="0" dirty="0"/>
              <a:t>を用意</a:t>
            </a:r>
            <a:endParaRPr lang="en-US" altLang="ja-JP" sz="2400" kern="0" dirty="0"/>
          </a:p>
          <a:p>
            <a:endParaRPr lang="en-US" altLang="ja-JP" sz="2400" kern="0" dirty="0">
              <a:solidFill>
                <a:schemeClr val="accent6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マーカーを用意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2400" kern="0" dirty="0">
                <a:solidFill>
                  <a:schemeClr val="accent4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yd</a:t>
            </a:r>
            <a:r>
              <a:rPr lang="ja-JP" altLang="en-US" sz="1800" kern="0" dirty="0">
                <a:solidFill>
                  <a:schemeClr val="accent6"/>
                </a:solidFill>
              </a:rPr>
              <a:t>の種類ごとにマーカーの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形と色を分ける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endParaRPr lang="en-US" altLang="ja-JP" sz="2400" kern="0" dirty="0">
              <a:solidFill>
                <a:schemeClr val="accent4"/>
              </a:solidFill>
            </a:endParaRPr>
          </a:p>
          <a:p>
            <a:r>
              <a:rPr lang="ja-JP" altLang="en-US" sz="2400" kern="0" dirty="0">
                <a:solidFill>
                  <a:schemeClr val="accent4"/>
                </a:solidFill>
              </a:rPr>
              <a:t>マーカーを打って図をかく</a:t>
            </a:r>
            <a:endParaRPr lang="en-US" altLang="ja-JP" sz="2400" kern="0" dirty="0">
              <a:solidFill>
                <a:schemeClr val="accent4"/>
              </a:solidFill>
            </a:endParaRPr>
          </a:p>
          <a:p>
            <a:pPr marL="0" indent="0">
              <a:buNone/>
            </a:pPr>
            <a:r>
              <a:rPr lang="ja-JP" altLang="en-US" sz="2400" kern="0" dirty="0">
                <a:solidFill>
                  <a:schemeClr val="accent4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yd</a:t>
            </a:r>
            <a:r>
              <a:rPr lang="ja-JP" altLang="en-US" sz="1800" kern="0" dirty="0">
                <a:solidFill>
                  <a:schemeClr val="accent6"/>
                </a:solidFill>
              </a:rPr>
              <a:t>の１種類のデータ番号を</a:t>
            </a:r>
            <a:r>
              <a:rPr lang="en-US" altLang="ja-JP" sz="1800" kern="0" dirty="0">
                <a:solidFill>
                  <a:schemeClr val="accent6"/>
                </a:solidFill>
              </a:rPr>
              <a:t>n</a:t>
            </a:r>
            <a:r>
              <a:rPr lang="ja-JP" altLang="en-US" sz="1800" kern="0" dirty="0">
                <a:solidFill>
                  <a:schemeClr val="accent6"/>
                </a:solidFill>
              </a:rPr>
              <a:t>に格納する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</a:t>
            </a:r>
            <a:r>
              <a:rPr lang="en-US" altLang="ja-JP" sz="1800" kern="0" dirty="0">
                <a:solidFill>
                  <a:schemeClr val="accent6"/>
                </a:solidFill>
              </a:rPr>
              <a:t>n</a:t>
            </a:r>
            <a:r>
              <a:rPr lang="ja-JP" altLang="en-US" sz="1800" kern="0" dirty="0">
                <a:solidFill>
                  <a:schemeClr val="accent6"/>
                </a:solidFill>
              </a:rPr>
              <a:t>番目の（体長</a:t>
            </a:r>
            <a:r>
              <a:rPr lang="en-US" altLang="ja-JP" sz="1800" kern="0" dirty="0">
                <a:solidFill>
                  <a:schemeClr val="accent6"/>
                </a:solidFill>
              </a:rPr>
              <a:t>,</a:t>
            </a:r>
            <a:r>
              <a:rPr lang="ja-JP" altLang="en-US" sz="1800" kern="0" dirty="0">
                <a:solidFill>
                  <a:schemeClr val="accent6"/>
                </a:solidFill>
              </a:rPr>
              <a:t>体重）の座標に</a:t>
            </a:r>
            <a:r>
              <a:rPr lang="en-US" altLang="ja-JP" sz="1800" kern="0" dirty="0">
                <a:solidFill>
                  <a:schemeClr val="accent6"/>
                </a:solidFill>
              </a:rPr>
              <a:t>m</a:t>
            </a:r>
            <a:r>
              <a:rPr lang="ja-JP" altLang="en-US" sz="1800" kern="0" dirty="0">
                <a:solidFill>
                  <a:schemeClr val="accent6"/>
                </a:solidFill>
              </a:rPr>
              <a:t>番目のマーカーをつける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6"/>
                </a:solidFill>
              </a:rPr>
              <a:t>　次に</a:t>
            </a:r>
            <a:r>
              <a:rPr lang="en-US" altLang="ja-JP" sz="1800" kern="0" dirty="0">
                <a:solidFill>
                  <a:schemeClr val="accent6"/>
                </a:solidFill>
              </a:rPr>
              <a:t> yd</a:t>
            </a:r>
            <a:r>
              <a:rPr lang="ja-JP" altLang="en-US" sz="1800" kern="0" dirty="0">
                <a:solidFill>
                  <a:schemeClr val="accent6"/>
                </a:solidFill>
              </a:rPr>
              <a:t> の種類に進める（同時に</a:t>
            </a:r>
            <a:r>
              <a:rPr lang="en-US" altLang="ja-JP" sz="1800" kern="0" dirty="0">
                <a:solidFill>
                  <a:schemeClr val="accent6"/>
                </a:solidFill>
              </a:rPr>
              <a:t>m</a:t>
            </a:r>
            <a:r>
              <a:rPr lang="ja-JP" altLang="en-US" sz="1800" kern="0" dirty="0">
                <a:solidFill>
                  <a:schemeClr val="accent6"/>
                </a:solidFill>
              </a:rPr>
              <a:t>も１増やす）</a:t>
            </a:r>
            <a:endParaRPr lang="en-US" altLang="ja-JP" sz="1800" kern="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ja-JP" altLang="en-US" sz="1800" kern="0" dirty="0">
                <a:solidFill>
                  <a:schemeClr val="accent4"/>
                </a:solidFill>
              </a:rPr>
              <a:t>　</a:t>
            </a:r>
            <a:endParaRPr lang="en-US" altLang="ja-JP" sz="1800" kern="0" dirty="0">
              <a:solidFill>
                <a:schemeClr val="accent4"/>
              </a:solidFill>
            </a:endParaRPr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78B00D20-D4F1-977D-1EF3-0B31E5D78DEF}"/>
              </a:ext>
            </a:extLst>
          </p:cNvPr>
          <p:cNvSpPr/>
          <p:nvPr/>
        </p:nvSpPr>
        <p:spPr bwMode="auto">
          <a:xfrm>
            <a:off x="8670965" y="5495984"/>
            <a:ext cx="605642" cy="187204"/>
          </a:xfrm>
          <a:prstGeom prst="rightArrow">
            <a:avLst/>
          </a:prstGeom>
          <a:solidFill>
            <a:schemeClr val="accent4">
              <a:lumMod val="65000"/>
              <a:lumOff val="3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377469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DBA4AFB-FEB6-8BA5-128E-B3CC94FD7DC1}"/>
              </a:ext>
            </a:extLst>
          </p:cNvPr>
          <p:cNvSpPr/>
          <p:nvPr/>
        </p:nvSpPr>
        <p:spPr bwMode="auto">
          <a:xfrm>
            <a:off x="6820836" y="1159385"/>
            <a:ext cx="4761563" cy="153631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plt.show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()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作ったグラフを表示する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fig.savefig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(“ img1.png”)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」　画像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img1.png 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として保存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fig.savefig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(“img1.pdf”)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 」　画像 </a:t>
            </a: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img1.pdf</a:t>
            </a:r>
            <a:r>
              <a:rPr lang="ja-JP" altLang="en-US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として保存</a:t>
            </a: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716551B-8A21-6A35-F000-25A7BD131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9EB4E70-4B14-A2ED-DB1E-3CC1EF7EEA85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EE29E32-E518-D36F-9298-2097D177EB81}"/>
              </a:ext>
            </a:extLst>
          </p:cNvPr>
          <p:cNvSpPr/>
          <p:nvPr/>
        </p:nvSpPr>
        <p:spPr bwMode="auto">
          <a:xfrm>
            <a:off x="6820836" y="3205011"/>
            <a:ext cx="4411956" cy="2079508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 err="1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png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(“ img1.png”)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」　画像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img1.png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として保存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「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pdf(“img1.pdf”) 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」　画像 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img1.pdf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として保存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どちらも</a:t>
            </a:r>
            <a:r>
              <a:rPr lang="en-US" altLang="ja-JP" sz="1500" dirty="0" err="1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dev.off</a:t>
            </a: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()</a:t>
            </a:r>
            <a:r>
              <a:rPr lang="ja-JP" altLang="en-US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までが保存する図の範囲</a:t>
            </a: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564B1F7A-6CA1-8294-EDA3-A4E236B50922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kern="0" dirty="0"/>
              <a:t>図を保存する</a:t>
            </a:r>
            <a:endParaRPr lang="en-US" altLang="ja-JP" sz="2400" kern="0" dirty="0"/>
          </a:p>
          <a:p>
            <a:r>
              <a:rPr lang="ja-JP" altLang="en-US" sz="2400" kern="0" dirty="0"/>
              <a:t>図を表示する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</a:t>
            </a:r>
            <a:r>
              <a:rPr lang="en-US" altLang="ja-JP" sz="2400" kern="0" dirty="0"/>
              <a:t>Python</a:t>
            </a:r>
            <a:r>
              <a:rPr lang="ja-JP" altLang="en-US" sz="2400" kern="0" dirty="0"/>
              <a:t>は</a:t>
            </a:r>
            <a:r>
              <a:rPr lang="en-US" altLang="ja-JP" sz="2400" kern="0" dirty="0"/>
              <a:t>show</a:t>
            </a:r>
            <a:r>
              <a:rPr lang="ja-JP" altLang="en-US" sz="2400" kern="0" dirty="0"/>
              <a:t>で表示、</a:t>
            </a:r>
            <a:r>
              <a:rPr lang="en-US" altLang="ja-JP" sz="2400" kern="0" dirty="0"/>
              <a:t>R</a:t>
            </a:r>
            <a:r>
              <a:rPr lang="ja-JP" altLang="en-US" sz="2400" kern="0" dirty="0"/>
              <a:t>は自動で表示される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  <a:p>
            <a:r>
              <a:rPr lang="ja-JP" altLang="en-US" sz="2400" kern="0" dirty="0"/>
              <a:t>図を保存する</a:t>
            </a:r>
            <a:endParaRPr lang="en-US" altLang="ja-JP" sz="2400" kern="0" dirty="0"/>
          </a:p>
          <a:p>
            <a:pPr marL="0" indent="0">
              <a:buNone/>
            </a:pPr>
            <a:r>
              <a:rPr lang="ja-JP" altLang="en-US" sz="2400" kern="0" dirty="0"/>
              <a:t>　Ｒでは</a:t>
            </a:r>
            <a:endParaRPr lang="en-US" altLang="ja-JP" sz="2400" kern="0" dirty="0"/>
          </a:p>
          <a:p>
            <a:pPr marL="0" indent="0">
              <a:buNone/>
            </a:pPr>
            <a:r>
              <a:rPr lang="en-US" altLang="ja-JP" sz="2400" kern="0" dirty="0"/>
              <a:t>	</a:t>
            </a:r>
            <a:r>
              <a:rPr lang="en-US" altLang="ja-JP" sz="2400" kern="0" dirty="0" err="1"/>
              <a:t>png</a:t>
            </a:r>
            <a:r>
              <a:rPr lang="en-US" altLang="ja-JP" sz="2400" kern="0" dirty="0"/>
              <a:t>()</a:t>
            </a:r>
          </a:p>
          <a:p>
            <a:pPr marL="0" indent="0">
              <a:buNone/>
            </a:pPr>
            <a:r>
              <a:rPr lang="en-US" altLang="ja-JP" sz="2400" kern="0" dirty="0"/>
              <a:t>	plot()</a:t>
            </a:r>
          </a:p>
          <a:p>
            <a:pPr marL="0" indent="0">
              <a:buNone/>
            </a:pPr>
            <a:r>
              <a:rPr lang="en-US" altLang="ja-JP" sz="2400" kern="0" dirty="0"/>
              <a:t>	</a:t>
            </a:r>
            <a:r>
              <a:rPr lang="en-US" altLang="ja-JP" sz="2400" kern="0" dirty="0" err="1"/>
              <a:t>dev.off</a:t>
            </a:r>
            <a:r>
              <a:rPr lang="en-US" altLang="ja-JP" sz="2400" kern="0" dirty="0"/>
              <a:t>()</a:t>
            </a:r>
          </a:p>
          <a:p>
            <a:pPr marL="0" indent="0">
              <a:buNone/>
            </a:pPr>
            <a:r>
              <a:rPr lang="ja-JP" altLang="en-US" sz="2400" kern="0" dirty="0"/>
              <a:t>で１セットなので、前頁の内容を関数</a:t>
            </a:r>
            <a:r>
              <a:rPr lang="en-US" altLang="ja-JP" sz="2400" kern="0" dirty="0" err="1"/>
              <a:t>draw_graph</a:t>
            </a:r>
            <a:r>
              <a:rPr lang="ja-JP" altLang="en-US" sz="2400" kern="0" dirty="0"/>
              <a:t>に格納し、</a:t>
            </a:r>
            <a:endParaRPr lang="en-US" altLang="ja-JP" sz="2400" kern="0" dirty="0"/>
          </a:p>
          <a:p>
            <a:pPr marL="0" indent="0">
              <a:buNone/>
            </a:pPr>
            <a:r>
              <a:rPr lang="en-US" altLang="ja-JP" sz="2400" kern="0" dirty="0" err="1"/>
              <a:t>png</a:t>
            </a:r>
            <a:r>
              <a:rPr lang="ja-JP" altLang="en-US" sz="2400" kern="0" dirty="0"/>
              <a:t>と</a:t>
            </a:r>
            <a:r>
              <a:rPr lang="en-US" altLang="ja-JP" sz="2400" kern="0" dirty="0"/>
              <a:t>pdf</a:t>
            </a:r>
            <a:r>
              <a:rPr lang="ja-JP" altLang="en-US" sz="2400" kern="0" dirty="0"/>
              <a:t>の２つで保存する</a:t>
            </a:r>
            <a:endParaRPr lang="en-US" altLang="ja-JP" sz="2400" kern="0" dirty="0"/>
          </a:p>
          <a:p>
            <a:pPr marL="0" indent="0">
              <a:buNone/>
            </a:pPr>
            <a:endParaRPr lang="en-US" altLang="ja-JP" sz="2400" kern="0" dirty="0"/>
          </a:p>
          <a:p>
            <a:pPr marL="0" indent="0">
              <a:buNone/>
            </a:pPr>
            <a:endParaRPr lang="ja-JP" altLang="en-US" sz="2400" kern="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1FE9B44-578F-6111-BF10-E3858D658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790" y="1254641"/>
            <a:ext cx="1638529" cy="619211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EC225996-E665-4EAB-117D-5E5E3D5BD9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790" y="3263028"/>
            <a:ext cx="1257475" cy="1124107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6170852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5C81A-9A21-CEC4-618C-AADDA9110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BFEA26B-2A7C-CDA7-A5AE-7685E7C948B1}"/>
              </a:ext>
            </a:extLst>
          </p:cNvPr>
          <p:cNvSpPr/>
          <p:nvPr/>
        </p:nvSpPr>
        <p:spPr bwMode="auto">
          <a:xfrm>
            <a:off x="5721693" y="1268414"/>
            <a:ext cx="6610242" cy="153631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5">
                    <a:lumMod val="50000"/>
                  </a:schemeClr>
                </a:solidFill>
                <a:latin typeface="Arial" charset="0"/>
                <a:ea typeface="ＭＳ Ｐゴシック" pitchFamily="50" charset="-128"/>
              </a:rPr>
              <a:t>P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5">
                  <a:lumMod val="50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D031C14-81B9-2475-EAA3-8DA6F5206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elephant.ipynb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3E17388-F4D1-41A6-3529-214D010A152D}"/>
              </a:ext>
            </a:extLst>
          </p:cNvPr>
          <p:cNvSpPr txBox="1">
            <a:spLocks/>
          </p:cNvSpPr>
          <p:nvPr/>
        </p:nvSpPr>
        <p:spPr>
          <a:xfrm>
            <a:off x="609600" y="12684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endParaRPr lang="ja-JP" altLang="en-US" kern="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B2F2228-9080-EF3D-EB3A-9FAE4C74A227}"/>
              </a:ext>
            </a:extLst>
          </p:cNvPr>
          <p:cNvSpPr/>
          <p:nvPr/>
        </p:nvSpPr>
        <p:spPr bwMode="auto">
          <a:xfrm>
            <a:off x="6820836" y="3205011"/>
            <a:ext cx="4411956" cy="2079508"/>
          </a:xfrm>
          <a:prstGeom prst="rect">
            <a:avLst/>
          </a:prstGeom>
          <a:solidFill>
            <a:schemeClr val="accent3">
              <a:lumMod val="85000"/>
            </a:schemeClr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ja-JP" sz="1500" dirty="0">
                <a:solidFill>
                  <a:schemeClr val="accent4">
                    <a:lumMod val="65000"/>
                    <a:lumOff val="35000"/>
                  </a:schemeClr>
                </a:solidFill>
                <a:latin typeface="Arial" charset="0"/>
                <a:ea typeface="ＭＳ Ｐゴシック" pitchFamily="50" charset="-128"/>
              </a:rPr>
              <a:t>R</a:t>
            </a: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  <a:p>
            <a:pPr marL="0" marR="0" indent="0" defTabSz="914400" rtl="0" eaLnBrk="1" fontAlgn="base" latinLnBrk="0" hangingPunct="1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ja-JP" sz="1500" dirty="0">
              <a:solidFill>
                <a:schemeClr val="accent4">
                  <a:lumMod val="65000"/>
                  <a:lumOff val="35000"/>
                </a:schemeClr>
              </a:solidFill>
              <a:latin typeface="Arial" charset="0"/>
              <a:ea typeface="ＭＳ Ｐゴシック" pitchFamily="50" charset="-128"/>
            </a:endParaRP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E9FD4C4D-AFFF-8C85-F569-324720DC6E3B}"/>
              </a:ext>
            </a:extLst>
          </p:cNvPr>
          <p:cNvSpPr txBox="1">
            <a:spLocks/>
          </p:cNvSpPr>
          <p:nvPr/>
        </p:nvSpPr>
        <p:spPr>
          <a:xfrm>
            <a:off x="762000" y="1420814"/>
            <a:ext cx="10972800" cy="5113337"/>
          </a:xfrm>
          <a:prstGeom prst="rect">
            <a:avLst/>
          </a:prstGeom>
        </p:spPr>
        <p:txBody>
          <a:bodyPr/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022350" indent="-35083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339850" indent="-3159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16811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5pPr>
            <a:lvl6pPr marL="21383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6pPr>
            <a:lvl7pPr marL="25955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7pPr>
            <a:lvl8pPr marL="30527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8pPr>
            <a:lvl9pPr marL="3509963" indent="-33972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kumimoji="1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None/>
            </a:pPr>
            <a:r>
              <a:rPr lang="ja-JP" altLang="en-US" sz="2400" kern="0" dirty="0"/>
              <a:t>データを学習用とテスト用に分ける</a:t>
            </a:r>
            <a:endParaRPr lang="en-US" altLang="ja-JP" sz="2400" kern="0" dirty="0"/>
          </a:p>
          <a:p>
            <a:r>
              <a:rPr lang="ja-JP" altLang="en-US" sz="2400" kern="0" dirty="0"/>
              <a:t>図を表示する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B8A4F90-460F-C307-D9DD-719C46DD5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4607" y="1302719"/>
            <a:ext cx="6121715" cy="304816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ED1A23D9-8C35-7D43-3816-DB86A730D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5281" y="3429000"/>
            <a:ext cx="4254719" cy="1428823"/>
          </a:xfrm>
          <a:prstGeom prst="rect">
            <a:avLst/>
          </a:prstGeom>
          <a:ln>
            <a:solidFill>
              <a:schemeClr val="accent3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613770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2EEB9-D52F-262D-9932-339045E07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11AD8D-36A1-5DF0-654C-7D5CB301E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参考文献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819672-D17E-DF8C-DEA2-084BC6C49B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あ</a:t>
            </a:r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99641A50-23CB-2877-6685-B6FDD180F290}"/>
              </a:ext>
            </a:extLst>
          </p:cNvPr>
          <p:cNvSpPr txBox="1">
            <a:spLocks/>
          </p:cNvSpPr>
          <p:nvPr/>
        </p:nvSpPr>
        <p:spPr>
          <a:xfrm>
            <a:off x="719541" y="2386173"/>
            <a:ext cx="10992128" cy="1837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1" lang="ja-JP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>
                  <a:lumMod val="75000"/>
                </a:srgb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0878030"/>
      </p:ext>
    </p:extLst>
  </p:cSld>
  <p:clrMapOvr>
    <a:masterClrMapping/>
  </p:clrMapOvr>
</p:sld>
</file>

<file path=ppt/theme/theme1.xml><?xml version="1.0" encoding="utf-8"?>
<a:theme xmlns:a="http://schemas.openxmlformats.org/drawingml/2006/main" name="lecture">
  <a:themeElements>
    <a:clrScheme name="lectur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lecture">
      <a:majorFont>
        <a:latin typeface="Garamond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ja-JP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ＭＳ Ｐゴシック" pitchFamily="50" charset="-128"/>
          </a:defRPr>
        </a:defPPr>
      </a:lstStyle>
    </a:lnDef>
  </a:objectDefaults>
  <a:extraClrSchemeLst>
    <a:extraClrScheme>
      <a:clrScheme name="lectur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ctur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ctur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2186</TotalTime>
  <Words>859</Words>
  <Application>Microsoft Office PowerPoint</Application>
  <PresentationFormat>ワイド画面</PresentationFormat>
  <Paragraphs>143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7" baseType="lpstr">
      <vt:lpstr>ＭＳ Ｐゴシック</vt:lpstr>
      <vt:lpstr>メイリオ</vt:lpstr>
      <vt:lpstr>游ゴシック</vt:lpstr>
      <vt:lpstr>Arial</vt:lpstr>
      <vt:lpstr>Cambria Math</vt:lpstr>
      <vt:lpstr>Garamond</vt:lpstr>
      <vt:lpstr>Wingdings</vt:lpstr>
      <vt:lpstr>lecture</vt:lpstr>
      <vt:lpstr>「Pythonが動くGogle ColabでAI自習ドリル」 第１部３章演習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elephant.ipynb</vt:lpstr>
      <vt:lpstr>参考文献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「Pythonが動くGogle ColabでAI自習ドリル」 第１部３章演習</dc:title>
  <dc:creator>楓子 松本</dc:creator>
  <cp:lastModifiedBy>mei nagai</cp:lastModifiedBy>
  <cp:revision>92</cp:revision>
  <cp:lastPrinted>2025-01-29T02:41:47Z</cp:lastPrinted>
  <dcterms:created xsi:type="dcterms:W3CDTF">2025-01-28T06:03:12Z</dcterms:created>
  <dcterms:modified xsi:type="dcterms:W3CDTF">2026-09-10T06:18:28Z</dcterms:modified>
</cp:coreProperties>
</file>