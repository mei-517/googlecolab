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318" r:id="rId3"/>
    <p:sldId id="330" r:id="rId4"/>
    <p:sldId id="331" r:id="rId5"/>
    <p:sldId id="332" r:id="rId6"/>
    <p:sldId id="333" r:id="rId7"/>
    <p:sldId id="334" r:id="rId8"/>
    <p:sldId id="335" r:id="rId9"/>
    <p:sldId id="336" r:id="rId10"/>
    <p:sldId id="337" r:id="rId11"/>
    <p:sldId id="338" r:id="rId12"/>
    <p:sldId id="339" r:id="rId13"/>
    <p:sldId id="329" r:id="rId14"/>
    <p:sldId id="340" r:id="rId15"/>
    <p:sldId id="342" r:id="rId16"/>
    <p:sldId id="344" r:id="rId17"/>
    <p:sldId id="347" r:id="rId18"/>
    <p:sldId id="346" r:id="rId19"/>
    <p:sldId id="343" r:id="rId20"/>
    <p:sldId id="345" r:id="rId21"/>
    <p:sldId id="348" r:id="rId22"/>
    <p:sldId id="349" r:id="rId23"/>
    <p:sldId id="351" r:id="rId24"/>
    <p:sldId id="352" r:id="rId25"/>
    <p:sldId id="355" r:id="rId26"/>
    <p:sldId id="353" r:id="rId27"/>
    <p:sldId id="356" r:id="rId28"/>
    <p:sldId id="354" r:id="rId29"/>
    <p:sldId id="357" r:id="rId30"/>
    <p:sldId id="359" r:id="rId31"/>
    <p:sldId id="360" r:id="rId32"/>
    <p:sldId id="361" r:id="rId33"/>
  </p:sldIdLst>
  <p:sldSz cx="12192000" cy="6858000"/>
  <p:notesSz cx="6802438" cy="993775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C9C962AA-A2AB-4376-8EA3-205F5036992C}">
          <p14:sldIdLst>
            <p14:sldId id="256"/>
          </p14:sldIdLst>
        </p14:section>
        <p14:section name="elephant_ipynb" id="{BA157B24-D1C0-41FD-B252-B250D701F68F}">
          <p14:sldIdLst>
            <p14:sldId id="318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29"/>
          </p14:sldIdLst>
        </p14:section>
        <p14:section name="random_plot.ipynb" id="{C65E1B47-33D0-4CF9-8802-6CA23082522A}">
          <p14:sldIdLst>
            <p14:sldId id="340"/>
            <p14:sldId id="342"/>
            <p14:sldId id="344"/>
            <p14:sldId id="347"/>
            <p14:sldId id="346"/>
            <p14:sldId id="343"/>
            <p14:sldId id="345"/>
          </p14:sldIdLst>
        </p14:section>
        <p14:section name="inu" id="{8C03D738-5D74-49CC-8196-FD9C8F38B3DD}">
          <p14:sldIdLst>
            <p14:sldId id="348"/>
            <p14:sldId id="349"/>
            <p14:sldId id="351"/>
            <p14:sldId id="352"/>
            <p14:sldId id="355"/>
            <p14:sldId id="353"/>
            <p14:sldId id="356"/>
            <p14:sldId id="354"/>
            <p14:sldId id="357"/>
            <p14:sldId id="359"/>
            <p14:sldId id="360"/>
            <p14:sldId id="361"/>
          </p14:sldIdLst>
        </p14:section>
        <p14:section name="参考文献" id="{CFFDC787-557B-4910-97C6-D64501BECE89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812F"/>
    <a:srgbClr val="CC9900"/>
    <a:srgbClr val="FF00FF"/>
    <a:srgbClr val="FF7C80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76" autoAdjust="0"/>
    <p:restoredTop sz="93836" autoAdjust="0"/>
  </p:normalViewPr>
  <p:slideViewPr>
    <p:cSldViewPr snapToGrid="0">
      <p:cViewPr>
        <p:scale>
          <a:sx n="65" d="100"/>
          <a:sy n="65" d="100"/>
        </p:scale>
        <p:origin x="176" y="712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200" d="100"/>
        <a:sy n="200" d="100"/>
      </p:scale>
      <p:origin x="0" y="-506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723" cy="4986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3141" y="0"/>
            <a:ext cx="2947723" cy="4986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9496A5-7C6D-4562-83AD-78E6F1D02C8F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59475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244" y="4782542"/>
            <a:ext cx="5441950" cy="39129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39138"/>
            <a:ext cx="2947723" cy="4986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3141" y="9439138"/>
            <a:ext cx="2947723" cy="4986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38E0EF-4404-48A5-A14D-C28912D88E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6017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38E0EF-4404-48A5-A14D-C28912D88EC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4361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38E0EF-4404-48A5-A14D-C28912D88EC3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3407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20C00-182F-7AE0-1C54-4787FD277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40E900F-1543-1963-9C11-B0EECD2E3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1D06396-343B-1F84-82AD-98CFC95941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DB5751D-E45D-9A19-9952-DABFDD88E2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38E0EF-4404-48A5-A14D-C28912D88EC3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69619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B724B-2EC1-7BE8-607D-B8766F297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199DC3F-77FD-7DC8-007B-B750AB161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E63A146-B08B-7AE1-025C-23D0F1CAB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6EFE370-A7B0-D0E8-E34E-97F8434B87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38E0EF-4404-48A5-A14D-C28912D88EC3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0429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B5236-3B77-F39E-B3CD-41D00F8F6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46283B0-DE2B-2F05-4A52-3BE2444F7F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97643AE-63C1-9B59-DB88-A8F008C89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CCFACFF-03D5-20DD-DAAE-67C3BE254C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38E0EF-4404-48A5-A14D-C28912D88EC3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3668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B5236-3B77-F39E-B3CD-41D00F8F6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46283B0-DE2B-2F05-4A52-3BE2444F7F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97643AE-63C1-9B59-DB88-A8F008C89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CCFACFF-03D5-20DD-DAAE-67C3BE254C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38E0EF-4404-48A5-A14D-C28912D88EC3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0182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B724B-2EC1-7BE8-607D-B8766F297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199DC3F-77FD-7DC8-007B-B750AB161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E63A146-B08B-7AE1-025C-23D0F1CAB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6EFE370-A7B0-D0E8-E34E-97F8434B87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38E0EF-4404-48A5-A14D-C28912D88EC3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72650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B724B-2EC1-7BE8-607D-B8766F297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199DC3F-77FD-7DC8-007B-B750AB161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E63A146-B08B-7AE1-025C-23D0F1CAB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6EFE370-A7B0-D0E8-E34E-97F8434B87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38E0EF-4404-48A5-A14D-C28912D88EC3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55457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B724B-2EC1-7BE8-607D-B8766F297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199DC3F-77FD-7DC8-007B-B750AB161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E63A146-B08B-7AE1-025C-23D0F1CAB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6EFE370-A7B0-D0E8-E34E-97F8434B87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38E0EF-4404-48A5-A14D-C28912D88EC3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96123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B724B-2EC1-7BE8-607D-B8766F297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199DC3F-77FD-7DC8-007B-B750AB161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E63A146-B08B-7AE1-025C-23D0F1CAB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6EFE370-A7B0-D0E8-E34E-97F8434B87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38E0EF-4404-48A5-A14D-C28912D88EC3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09183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B724B-2EC1-7BE8-607D-B8766F297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199DC3F-77FD-7DC8-007B-B750AB161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E63A146-B08B-7AE1-025C-23D0F1CAB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6EFE370-A7B0-D0E8-E34E-97F8434B87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38E0EF-4404-48A5-A14D-C28912D88EC3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69790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B5236-3B77-F39E-B3CD-41D00F8F6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46283B0-DE2B-2F05-4A52-3BE2444F7F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97643AE-63C1-9B59-DB88-A8F008C89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CCFACFF-03D5-20DD-DAAE-67C3BE254C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38E0EF-4404-48A5-A14D-C28912D88EC3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18265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B5236-3B77-F39E-B3CD-41D00F8F6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46283B0-DE2B-2F05-4A52-3BE2444F7F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97643AE-63C1-9B59-DB88-A8F008C89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CCFACFF-03D5-20DD-DAAE-67C3BE254C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38E0EF-4404-48A5-A14D-C28912D88EC3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48255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B5236-3B77-F39E-B3CD-41D00F8F6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46283B0-DE2B-2F05-4A52-3BE2444F7F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97643AE-63C1-9B59-DB88-A8F008C89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CCFACFF-03D5-20DD-DAAE-67C3BE254C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38E0EF-4404-48A5-A14D-C28912D88EC3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6891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B5236-3B77-F39E-B3CD-41D00F8F6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46283B0-DE2B-2F05-4A52-3BE2444F7F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97643AE-63C1-9B59-DB88-A8F008C89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CCFACFF-03D5-20DD-DAAE-67C3BE254C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38E0EF-4404-48A5-A14D-C28912D88EC3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86948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B5236-3B77-F39E-B3CD-41D00F8F6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46283B0-DE2B-2F05-4A52-3BE2444F7F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97643AE-63C1-9B59-DB88-A8F008C89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CCFACFF-03D5-20DD-DAAE-67C3BE254C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38E0EF-4404-48A5-A14D-C28912D88EC3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80558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B5236-3B77-F39E-B3CD-41D00F8F6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46283B0-DE2B-2F05-4A52-3BE2444F7F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97643AE-63C1-9B59-DB88-A8F008C89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CCFACFF-03D5-20DD-DAAE-67C3BE254C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38E0EF-4404-48A5-A14D-C28912D88EC3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83440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B5236-3B77-F39E-B3CD-41D00F8F6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46283B0-DE2B-2F05-4A52-3BE2444F7F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97643AE-63C1-9B59-DB88-A8F008C89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CCFACFF-03D5-20DD-DAAE-67C3BE254C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38E0EF-4404-48A5-A14D-C28912D88EC3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20632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B5236-3B77-F39E-B3CD-41D00F8F6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46283B0-DE2B-2F05-4A52-3BE2444F7F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97643AE-63C1-9B59-DB88-A8F008C89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CCFACFF-03D5-20DD-DAAE-67C3BE254C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38E0EF-4404-48A5-A14D-C28912D88EC3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04649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B5236-3B77-F39E-B3CD-41D00F8F6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46283B0-DE2B-2F05-4A52-3BE2444F7F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97643AE-63C1-9B59-DB88-A8F008C89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CCFACFF-03D5-20DD-DAAE-67C3BE254C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38E0EF-4404-48A5-A14D-C28912D88EC3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3555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DEF1B-8438-0C47-15F9-A30803B19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8F39201-6C77-1859-59C6-2F4FD6B415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15B2F3F-C193-8FBF-C2D7-EB12280B7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9CC7CF5-C661-BF4D-BC50-38F99F71FD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38E0EF-4404-48A5-A14D-C28912D88EC3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07199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E79D0-4B51-4B47-68BC-3E81F603D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1B3C804-112A-FC30-1333-2F12463E80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EA61153-EE58-4FE3-2E25-8730BA21F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5DF0A12-EDE5-CF9E-068E-67219E7EF8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38E0EF-4404-48A5-A14D-C28912D88EC3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00247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D4E33-5803-71A7-FD85-F3208EBEB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DF6C99E-FB1B-EAAA-987B-384124F221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CFB148B-0359-6CD1-EA2A-23C42E1CE5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19399DE-BBB4-51E3-DC54-D057F4FBBB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38E0EF-4404-48A5-A14D-C28912D88EC3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55955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4F2F5-B36A-671C-3E26-EAD05B3D5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5F0B1B7-E956-14F8-593F-8C36442B43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C92D642-E0A8-4DC5-A673-397A44CE8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FC5AA7C-0F26-A2EF-2ACF-966B5ECAB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38E0EF-4404-48A5-A14D-C28912D88EC3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50078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5C401-E74C-48C5-C265-2563BE61C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FAD8B7C-D511-23AF-A41E-816861FC98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B6DC52F-7AA3-FD52-B211-AB2F3FBA50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5DDEF43-355E-07CA-69CD-B0EC07CD7C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38E0EF-4404-48A5-A14D-C28912D88EC3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06088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B2C1F-85F3-F80A-89A1-BADA849EE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E1B6F7D-351F-A472-4606-FAF2894B5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0214B3C-C5C4-CC66-006E-3CE2DD36B1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C9818CD-F54A-74C3-9C17-1399312BB1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38E0EF-4404-48A5-A14D-C28912D88EC3}" type="slidenum">
              <a:rPr kumimoji="1" lang="ja-JP" altLang="en-US" smtClean="0"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3129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DF0ED-248D-A62C-E5CE-745154F82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81EBA9F-31C5-30CA-0A33-40476019EB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9E5901-119D-2B61-C83A-138B71A55B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4267E26-FB8C-8F07-68D8-517190C6BC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38E0EF-4404-48A5-A14D-C28912D88EC3}" type="slidenum">
              <a:rPr kumimoji="1" lang="ja-JP" altLang="en-US" smtClean="0"/>
              <a:t>29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58284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5BA2B-EADA-FFC6-5079-4AF86E59B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5EDE9A0-0B85-1D59-041A-E86C323ADF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E72597F-0982-840B-1E06-422B0D70AD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DB7D569-80B5-176B-55DD-199A4E33D3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38E0EF-4404-48A5-A14D-C28912D88EC3}" type="slidenum">
              <a:rPr kumimoji="1" lang="ja-JP" altLang="en-US" smtClean="0"/>
              <a:t>30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5536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A8059-A1E8-EC91-F128-3576FE5C3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885E041-7555-195D-7135-0A97132FA5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EFF22C1-BAC7-EFD1-585D-930B08C40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7BD3DC3-2220-9F1E-C2BA-038FF741BE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38E0EF-4404-48A5-A14D-C28912D88EC3}" type="slidenum">
              <a:rPr kumimoji="1" lang="ja-JP" altLang="en-US" smtClean="0"/>
              <a:t>31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51033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D23ED-B5A9-F9EC-9E16-8134E908B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7D9D254-A934-47C1-014D-0AE2774F7B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1A6AE6B-F217-7B51-68E4-7B120B0BD6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93D0B11-0C08-4870-7798-ECF5DB3EF7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38E0EF-4404-48A5-A14D-C28912D88EC3}" type="slidenum">
              <a:rPr kumimoji="1" lang="ja-JP" altLang="en-US" smtClean="0"/>
              <a:t>32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0479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812800" y="1219200"/>
            <a:ext cx="10566400" cy="914400"/>
          </a:xfrm>
          <a:custGeom>
            <a:avLst/>
            <a:gdLst>
              <a:gd name="T0" fmla="*/ 0 w 1000"/>
              <a:gd name="T1" fmla="*/ 836127360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ja-JP" altLang="en-US" sz="1800" dirty="0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ja-JP" altLang="en-US" sz="1800" dirty="0"/>
          </a:p>
        </p:txBody>
      </p:sp>
      <p:sp>
        <p:nvSpPr>
          <p:cNvPr id="391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1" y="1524000"/>
            <a:ext cx="10164233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911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3962400"/>
            <a:ext cx="87376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000"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3638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5BBCB299-525B-C043-8ABF-E2AB50D107C3}" type="datetimeFigureOut">
              <a:rPr lang="ja-JP" altLang="en-US" smtClean="0"/>
              <a:pPr/>
              <a:t>2026/9/24</a:t>
            </a:fld>
            <a:endParaRPr lang="ja-JP" alt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ja-JP" altLang="en-US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3638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A602DE73-0B5E-8446-9073-5A6DE92C9AAA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75419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BCB299-525B-C043-8ABF-E2AB50D107C3}" type="datetimeFigureOut">
              <a:rPr lang="ja-JP" altLang="en-US" smtClean="0"/>
              <a:pPr/>
              <a:t>2026/9/24</a:t>
            </a:fld>
            <a:endParaRPr lang="ja-JP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ja-JP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02DE73-0B5E-8446-9073-5A6DE92C9AAA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75418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BCB299-525B-C043-8ABF-E2AB50D107C3}" type="datetimeFigureOut">
              <a:rPr lang="ja-JP" altLang="en-US" smtClean="0"/>
              <a:pPr/>
              <a:t>2026/9/24</a:t>
            </a:fld>
            <a:endParaRPr lang="ja-JP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ja-JP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02DE73-0B5E-8446-9073-5A6DE92C9AAA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18734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609600" y="1268414"/>
            <a:ext cx="5384800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197600" y="1268414"/>
            <a:ext cx="5384800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BCB299-525B-C043-8ABF-E2AB50D107C3}" type="datetimeFigureOut">
              <a:rPr lang="ja-JP" altLang="en-US" smtClean="0"/>
              <a:pPr/>
              <a:t>2026/9/24</a:t>
            </a:fld>
            <a:endParaRPr lang="ja-JP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ja-JP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02DE73-0B5E-8446-9073-5A6DE92C9AAA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64112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BCB299-525B-C043-8ABF-E2AB50D107C3}" type="datetimeFigureOut">
              <a:rPr lang="ja-JP" altLang="en-US" smtClean="0"/>
              <a:pPr/>
              <a:t>2026/9/24</a:t>
            </a:fld>
            <a:endParaRPr lang="ja-JP" alt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ja-JP" alt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02DE73-0B5E-8446-9073-5A6DE92C9AAA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07199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BCB299-525B-C043-8ABF-E2AB50D107C3}" type="datetimeFigureOut">
              <a:rPr lang="ja-JP" altLang="en-US" smtClean="0"/>
              <a:pPr/>
              <a:t>2026/9/24</a:t>
            </a:fld>
            <a:endParaRPr lang="ja-JP" alt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ja-JP" alt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02DE73-0B5E-8446-9073-5A6DE92C9AAA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25466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BCB299-525B-C043-8ABF-E2AB50D107C3}" type="datetimeFigureOut">
              <a:rPr lang="ja-JP" altLang="en-US" smtClean="0"/>
              <a:pPr/>
              <a:t>2026/9/24</a:t>
            </a:fld>
            <a:endParaRPr lang="ja-JP" alt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02DE73-0B5E-8446-9073-5A6DE92C9AAA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98770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BCB299-525B-C043-8ABF-E2AB50D107C3}" type="datetimeFigureOut">
              <a:rPr lang="ja-JP" altLang="en-US" smtClean="0"/>
              <a:pPr/>
              <a:t>2026/9/24</a:t>
            </a:fld>
            <a:endParaRPr lang="ja-JP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ja-JP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02DE73-0B5E-8446-9073-5A6DE92C9AAA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68321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ja-JP" altLang="en-US" noProof="0" dirty="0"/>
              <a:t>アイコンをクリックして図を追加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BCB299-525B-C043-8ABF-E2AB50D107C3}" type="datetimeFigureOut">
              <a:rPr lang="ja-JP" altLang="en-US" smtClean="0"/>
              <a:pPr/>
              <a:t>2026/9/24</a:t>
            </a:fld>
            <a:endParaRPr lang="ja-JP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ja-JP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02DE73-0B5E-8446-9073-5A6DE92C9AAA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37721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BCB299-525B-C043-8ABF-E2AB50D107C3}" type="datetimeFigureOut">
              <a:rPr lang="ja-JP" altLang="en-US" smtClean="0"/>
              <a:pPr/>
              <a:t>2026/9/24</a:t>
            </a:fld>
            <a:endParaRPr lang="ja-JP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ja-JP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02DE73-0B5E-8446-9073-5A6DE92C9AAA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00769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839200" y="277814"/>
            <a:ext cx="2743200" cy="610393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609600" y="277814"/>
            <a:ext cx="8026400" cy="610393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BCB299-525B-C043-8ABF-E2AB50D107C3}" type="datetimeFigureOut">
              <a:rPr lang="ja-JP" altLang="en-US" smtClean="0"/>
              <a:pPr/>
              <a:t>2026/9/24</a:t>
            </a:fld>
            <a:endParaRPr lang="ja-JP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ja-JP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02DE73-0B5E-8446-9073-5A6DE92C9AAA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873130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タイトル、テキスト、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84772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sz="half" idx="1"/>
          </p:nvPr>
        </p:nvSpPr>
        <p:spPr>
          <a:xfrm>
            <a:off x="609600" y="1268414"/>
            <a:ext cx="5384800" cy="5113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197600" y="1268414"/>
            <a:ext cx="5384800" cy="5113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BCB299-525B-C043-8ABF-E2AB50D107C3}" type="datetimeFigureOut">
              <a:rPr lang="ja-JP" altLang="en-US" smtClean="0"/>
              <a:pPr/>
              <a:t>2026/9/24</a:t>
            </a:fld>
            <a:endParaRPr lang="ja-JP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ja-JP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02DE73-0B5E-8446-9073-5A6DE92C9AAA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46309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4"/>
            <a:ext cx="10972800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68414"/>
            <a:ext cx="10972800" cy="511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39014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7938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>
                <a:latin typeface="+mj-lt"/>
                <a:ea typeface="ＭＳ Ｐゴシック" pitchFamily="50" charset="-128"/>
              </a:defRPr>
            </a:lvl1pPr>
          </a:lstStyle>
          <a:p>
            <a:fld id="{5BBCB299-525B-C043-8ABF-E2AB50D107C3}" type="datetimeFigureOut">
              <a:rPr lang="ja-JP" altLang="en-US" smtClean="0"/>
              <a:pPr/>
              <a:t>2026/9/24</a:t>
            </a:fld>
            <a:endParaRPr lang="ja-JP" altLang="en-US" dirty="0"/>
          </a:p>
        </p:txBody>
      </p:sp>
      <p:sp>
        <p:nvSpPr>
          <p:cNvPr id="39014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627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200">
                <a:latin typeface="+mj-lt"/>
                <a:ea typeface="ＭＳ Ｐゴシック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39015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57938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+mj-lt"/>
                <a:ea typeface="ＭＳ Ｐゴシック" pitchFamily="50" charset="-128"/>
              </a:defRPr>
            </a:lvl1pPr>
          </a:lstStyle>
          <a:p>
            <a:fld id="{A602DE73-0B5E-8446-9073-5A6DE92C9AAA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031" name="Freeform 7"/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371612160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ja-JP" altLang="en-US" sz="1800" dirty="0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609600" y="645795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ja-JP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106680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kumimoji="1" sz="2800">
          <a:solidFill>
            <a:schemeClr val="tx1"/>
          </a:solidFill>
          <a:latin typeface="+mn-lt"/>
          <a:ea typeface="+mn-ea"/>
        </a:defRPr>
      </a:lvl2pPr>
      <a:lvl3pPr marL="1022350" indent="-35083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339850" indent="-31591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kumimoji="1" sz="2000">
          <a:solidFill>
            <a:schemeClr val="tx1"/>
          </a:solidFill>
          <a:latin typeface="+mn-lt"/>
          <a:ea typeface="+mn-ea"/>
        </a:defRPr>
      </a:lvl4pPr>
      <a:lvl5pPr marL="16811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6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4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9" Type="http://schemas.openxmlformats.org/officeDocument/2006/relationships/image" Target="../media/image9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7" Type="http://schemas.openxmlformats.org/officeDocument/2006/relationships/image" Target="../media/image1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7" Type="http://schemas.openxmlformats.org/officeDocument/2006/relationships/image" Target="../media/image1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4C1ADB73-28C1-6E47-5D23-27F5F32058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7978" y="1683757"/>
            <a:ext cx="10916043" cy="2043211"/>
          </a:xfrm>
        </p:spPr>
        <p:txBody>
          <a:bodyPr anchor="ctr">
            <a:noAutofit/>
          </a:bodyPr>
          <a:lstStyle/>
          <a:p>
            <a:r>
              <a:rPr lang="ja-JP" altLang="en-US" sz="4000" dirty="0">
                <a:latin typeface="+mj-ea"/>
              </a:rPr>
              <a:t>「</a:t>
            </a:r>
            <a:r>
              <a:rPr lang="en-US" altLang="ja-JP" sz="4000" dirty="0">
                <a:latin typeface="+mj-ea"/>
              </a:rPr>
              <a:t>Python</a:t>
            </a:r>
            <a:r>
              <a:rPr lang="ja-JP" altLang="en-US" sz="4000" dirty="0">
                <a:latin typeface="+mj-ea"/>
              </a:rPr>
              <a:t>が動く</a:t>
            </a:r>
            <a:r>
              <a:rPr lang="en-US" altLang="ja-JP" sz="4000" dirty="0" err="1">
                <a:latin typeface="+mj-ea"/>
              </a:rPr>
              <a:t>Gogle</a:t>
            </a:r>
            <a:r>
              <a:rPr lang="en-US" altLang="ja-JP" sz="4000" dirty="0">
                <a:latin typeface="+mj-ea"/>
              </a:rPr>
              <a:t> </a:t>
            </a:r>
            <a:r>
              <a:rPr lang="en-US" altLang="ja-JP" sz="4000" dirty="0" err="1">
                <a:latin typeface="+mj-ea"/>
              </a:rPr>
              <a:t>Colab</a:t>
            </a:r>
            <a:r>
              <a:rPr lang="ja-JP" altLang="en-US" sz="4000" dirty="0">
                <a:latin typeface="+mj-ea"/>
              </a:rPr>
              <a:t>で</a:t>
            </a:r>
            <a:r>
              <a:rPr lang="en-US" altLang="ja-JP" sz="4000" dirty="0">
                <a:latin typeface="+mj-ea"/>
              </a:rPr>
              <a:t>AI</a:t>
            </a:r>
            <a:r>
              <a:rPr lang="ja-JP" altLang="en-US" sz="4000" dirty="0">
                <a:latin typeface="+mj-ea"/>
              </a:rPr>
              <a:t>自習ドリル」</a:t>
            </a:r>
            <a:br>
              <a:rPr lang="en-US" altLang="ja-JP" sz="4000" dirty="0">
                <a:latin typeface="+mj-ea"/>
              </a:rPr>
            </a:br>
            <a:r>
              <a:rPr lang="ja-JP" altLang="en-US" sz="4000" dirty="0">
                <a:latin typeface="+mj-ea"/>
              </a:rPr>
              <a:t>第１部３章演習</a:t>
            </a:r>
          </a:p>
        </p:txBody>
      </p:sp>
      <p:sp>
        <p:nvSpPr>
          <p:cNvPr id="7" name="字幕 6">
            <a:extLst>
              <a:ext uri="{FF2B5EF4-FFF2-40B4-BE49-F238E27FC236}">
                <a16:creationId xmlns:a16="http://schemas.microsoft.com/office/drawing/2014/main" id="{1FB1DF19-9957-EF38-B101-A60D1BC60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5108" y="3892062"/>
            <a:ext cx="8737600" cy="1752600"/>
          </a:xfrm>
        </p:spPr>
        <p:txBody>
          <a:bodyPr/>
          <a:lstStyle/>
          <a:p>
            <a:endParaRPr lang="en-US" altLang="ja-JP" dirty="0"/>
          </a:p>
          <a:p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dirty="0">
                <a:latin typeface="+mj-ea"/>
                <a:ea typeface="+mj-ea"/>
              </a:rPr>
              <a:t>24510171 </a:t>
            </a:r>
            <a:r>
              <a:rPr lang="ja-JP" altLang="en-US" dirty="0">
                <a:latin typeface="+mj-ea"/>
                <a:ea typeface="+mj-ea"/>
              </a:rPr>
              <a:t>永井芽衣</a:t>
            </a:r>
          </a:p>
        </p:txBody>
      </p:sp>
    </p:spTree>
    <p:extLst>
      <p:ext uri="{BB962C8B-B14F-4D97-AF65-F5344CB8AC3E}">
        <p14:creationId xmlns:p14="http://schemas.microsoft.com/office/powerpoint/2010/main" val="3150873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矢印: 右 46">
            <a:extLst>
              <a:ext uri="{FF2B5EF4-FFF2-40B4-BE49-F238E27FC236}">
                <a16:creationId xmlns:a16="http://schemas.microsoft.com/office/drawing/2014/main" id="{2857E544-6C31-ED9D-A349-3D9A1484F728}"/>
              </a:ext>
            </a:extLst>
          </p:cNvPr>
          <p:cNvSpPr/>
          <p:nvPr/>
        </p:nvSpPr>
        <p:spPr bwMode="auto">
          <a:xfrm>
            <a:off x="9259337" y="5870131"/>
            <a:ext cx="1318416" cy="260635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1" name="矢印: 右 40">
            <a:extLst>
              <a:ext uri="{FF2B5EF4-FFF2-40B4-BE49-F238E27FC236}">
                <a16:creationId xmlns:a16="http://schemas.microsoft.com/office/drawing/2014/main" id="{705646EF-7F8E-8964-312D-6CEF04078A3F}"/>
              </a:ext>
            </a:extLst>
          </p:cNvPr>
          <p:cNvSpPr/>
          <p:nvPr/>
        </p:nvSpPr>
        <p:spPr bwMode="auto">
          <a:xfrm>
            <a:off x="6676951" y="4993627"/>
            <a:ext cx="3900802" cy="260635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700D9D6-997E-C24A-B95B-87D9AB47B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elephant.ipynb</a:t>
            </a:r>
            <a:endParaRPr kumimoji="1" lang="ja-JP" altLang="en-US" dirty="0"/>
          </a:p>
        </p:txBody>
      </p:sp>
      <p:sp>
        <p:nvSpPr>
          <p:cNvPr id="84" name="字幕 2">
            <a:extLst>
              <a:ext uri="{FF2B5EF4-FFF2-40B4-BE49-F238E27FC236}">
                <a16:creationId xmlns:a16="http://schemas.microsoft.com/office/drawing/2014/main" id="{006B75A2-CA46-5FE5-299D-BC113BF87D99}"/>
              </a:ext>
            </a:extLst>
          </p:cNvPr>
          <p:cNvSpPr txBox="1">
            <a:spLocks/>
          </p:cNvSpPr>
          <p:nvPr/>
        </p:nvSpPr>
        <p:spPr>
          <a:xfrm>
            <a:off x="884439" y="1097282"/>
            <a:ext cx="9391483" cy="5446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　</a:t>
            </a:r>
            <a:endParaRPr kumimoji="1" lang="en-US" altLang="ja-JP" sz="2000" b="0" i="0" u="none" strike="noStrike" kern="1200" cap="none" spc="0" normalizeH="0" baseline="0" noProof="0">
              <a:ln>
                <a:noFill/>
              </a:ln>
              <a:solidFill>
                <a:srgbClr val="FFC000">
                  <a:lumMod val="75000"/>
                </a:srgb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ja-JP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75000"/>
                </a:srgb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983A2FE9-2C8C-266F-4107-E97A3399D805}"/>
              </a:ext>
            </a:extLst>
          </p:cNvPr>
          <p:cNvSpPr txBox="1">
            <a:spLocks/>
          </p:cNvSpPr>
          <p:nvPr/>
        </p:nvSpPr>
        <p:spPr>
          <a:xfrm>
            <a:off x="609600" y="1268414"/>
            <a:ext cx="10972800" cy="5113337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ja-JP" altLang="en-US" kern="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15673B-D34F-6A06-286B-6B361B2EEE9B}"/>
              </a:ext>
            </a:extLst>
          </p:cNvPr>
          <p:cNvSpPr txBox="1">
            <a:spLocks/>
          </p:cNvSpPr>
          <p:nvPr/>
        </p:nvSpPr>
        <p:spPr>
          <a:xfrm>
            <a:off x="762000" y="1420814"/>
            <a:ext cx="10972800" cy="5113337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kern="0" dirty="0"/>
              <a:t>フローチャート</a:t>
            </a:r>
            <a:endParaRPr lang="en-US" altLang="ja-JP" kern="0" dirty="0"/>
          </a:p>
          <a:p>
            <a:pPr marL="0" indent="0">
              <a:buNone/>
            </a:pPr>
            <a:r>
              <a:rPr lang="en-US" altLang="ja-JP" kern="0" dirty="0"/>
              <a:t>img1~3</a:t>
            </a:r>
            <a:r>
              <a:rPr lang="ja-JP" altLang="en-US" kern="0" dirty="0"/>
              <a:t>を作成する</a:t>
            </a:r>
            <a:endParaRPr lang="en-US" altLang="ja-JP" kern="0" dirty="0"/>
          </a:p>
          <a:p>
            <a:pPr marL="0" indent="0">
              <a:buNone/>
            </a:pPr>
            <a:endParaRPr lang="en-US" altLang="ja-JP" kern="0" dirty="0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A3CE7E79-24CD-0047-16C3-9641CB93D965}"/>
              </a:ext>
            </a:extLst>
          </p:cNvPr>
          <p:cNvGrpSpPr/>
          <p:nvPr/>
        </p:nvGrpSpPr>
        <p:grpSpPr>
          <a:xfrm>
            <a:off x="734059" y="4190158"/>
            <a:ext cx="3326280" cy="1541417"/>
            <a:chOff x="4408386" y="1510642"/>
            <a:chExt cx="2992582" cy="1350818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9B425BD9-099D-A6AD-15F2-F3623A12326F}"/>
                </a:ext>
              </a:extLst>
            </p:cNvPr>
            <p:cNvSpPr/>
            <p:nvPr/>
          </p:nvSpPr>
          <p:spPr bwMode="auto">
            <a:xfrm>
              <a:off x="4408386" y="1510642"/>
              <a:ext cx="2992582" cy="135081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accent5">
                  <a:lumMod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ja-JP" sz="1800" b="0" i="0" u="none" strike="noStrike" cap="none" normalizeH="0" baseline="0" dirty="0">
                  <a:ln>
                    <a:noFill/>
                  </a:ln>
                  <a:solidFill>
                    <a:schemeClr val="accent5">
                      <a:lumMod val="50000"/>
                    </a:schemeClr>
                  </a:solidFill>
                  <a:effectLst/>
                  <a:latin typeface="Arial" charset="0"/>
                  <a:ea typeface="ＭＳ Ｐゴシック" pitchFamily="50" charset="-128"/>
                </a:rPr>
                <a:t>elephant_data.txt</a:t>
              </a:r>
            </a:p>
            <a:p>
              <a:pPr marL="0" marR="0" indent="0" algn="ctr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ja-JP" altLang="en-US" sz="1500" b="0" i="0" u="none" strike="noStrike" cap="none" normalizeH="0" baseline="0" dirty="0">
                  <a:ln>
                    <a:noFill/>
                  </a:ln>
                  <a:solidFill>
                    <a:schemeClr val="accent5">
                      <a:lumMod val="50000"/>
                    </a:schemeClr>
                  </a:solidFill>
                  <a:effectLst/>
                  <a:latin typeface="Arial" charset="0"/>
                  <a:ea typeface="ＭＳ Ｐゴシック" pitchFamily="50" charset="-128"/>
                </a:rPr>
                <a:t>　　　体長　　　　体重　　　ラベル</a:t>
              </a:r>
            </a:p>
          </p:txBody>
        </p:sp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84DE7B81-C143-6356-16D3-58820B541B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94806" y="2131483"/>
              <a:ext cx="2619741" cy="590632"/>
            </a:xfrm>
            <a:prstGeom prst="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</p:pic>
      </p:grp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1E34434F-71D2-FD01-436D-62B08922C4EF}"/>
              </a:ext>
            </a:extLst>
          </p:cNvPr>
          <p:cNvSpPr/>
          <p:nvPr/>
        </p:nvSpPr>
        <p:spPr bwMode="auto">
          <a:xfrm>
            <a:off x="10802603" y="4251504"/>
            <a:ext cx="627397" cy="35600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500" b="1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Img1</a:t>
            </a:r>
            <a:endParaRPr kumimoji="1" lang="en-US" altLang="ja-JP" sz="15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E8A83597-2CB4-DD42-0776-28237CECC389}"/>
              </a:ext>
            </a:extLst>
          </p:cNvPr>
          <p:cNvSpPr/>
          <p:nvPr/>
        </p:nvSpPr>
        <p:spPr bwMode="auto">
          <a:xfrm>
            <a:off x="5412329" y="4949097"/>
            <a:ext cx="1302278" cy="31828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500" b="1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学習用データ</a:t>
            </a:r>
            <a:endParaRPr lang="en-US" altLang="ja-JP" sz="1500" b="1" dirty="0">
              <a:solidFill>
                <a:schemeClr val="accent5">
                  <a:lumMod val="50000"/>
                </a:schemeClr>
              </a:solidFill>
              <a:latin typeface="Arial" charset="0"/>
              <a:ea typeface="ＭＳ Ｐゴシック" pitchFamily="50" charset="-128"/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72CCBA0A-719F-4F57-776B-215D00398468}"/>
              </a:ext>
            </a:extLst>
          </p:cNvPr>
          <p:cNvSpPr/>
          <p:nvPr/>
        </p:nvSpPr>
        <p:spPr bwMode="auto">
          <a:xfrm>
            <a:off x="1337097" y="3146671"/>
            <a:ext cx="1897093" cy="61578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500" b="1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min_max</a:t>
            </a:r>
            <a:endParaRPr kumimoji="1" lang="en-US" altLang="ja-JP" sz="1500" b="1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5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正規化する関数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33D93869-B1DD-EB55-CDE1-43396D4636D4}"/>
              </a:ext>
            </a:extLst>
          </p:cNvPr>
          <p:cNvSpPr/>
          <p:nvPr/>
        </p:nvSpPr>
        <p:spPr bwMode="auto">
          <a:xfrm>
            <a:off x="10761274" y="4964801"/>
            <a:ext cx="668726" cy="31828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500" b="1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img2</a:t>
            </a:r>
            <a:endParaRPr kumimoji="1" lang="ja-JP" altLang="en-US" sz="1500" b="1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7E8C49E8-1EAB-A7A6-E712-433EE4C90730}"/>
              </a:ext>
            </a:extLst>
          </p:cNvPr>
          <p:cNvSpPr/>
          <p:nvPr/>
        </p:nvSpPr>
        <p:spPr bwMode="auto">
          <a:xfrm>
            <a:off x="5432929" y="5862602"/>
            <a:ext cx="1299265" cy="31828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500" b="1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テスト用データ</a:t>
            </a:r>
            <a:endParaRPr lang="en-US" altLang="ja-JP" sz="1500" b="1" dirty="0">
              <a:solidFill>
                <a:schemeClr val="accent5">
                  <a:lumMod val="50000"/>
                </a:schemeClr>
              </a:solidFill>
              <a:latin typeface="Arial" charset="0"/>
              <a:ea typeface="ＭＳ Ｐゴシック" pitchFamily="50" charset="-128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5B95A581-C2ED-2F5E-A491-64A96263B897}"/>
              </a:ext>
            </a:extLst>
          </p:cNvPr>
          <p:cNvSpPr/>
          <p:nvPr/>
        </p:nvSpPr>
        <p:spPr bwMode="auto">
          <a:xfrm>
            <a:off x="10730153" y="5810371"/>
            <a:ext cx="699847" cy="31828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500" b="1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img3</a:t>
            </a:r>
          </a:p>
        </p:txBody>
      </p:sp>
      <p:sp>
        <p:nvSpPr>
          <p:cNvPr id="33" name="矢印: 右 32">
            <a:extLst>
              <a:ext uri="{FF2B5EF4-FFF2-40B4-BE49-F238E27FC236}">
                <a16:creationId xmlns:a16="http://schemas.microsoft.com/office/drawing/2014/main" id="{C6B03786-31EE-CAC8-6F37-324A1E5CBC76}"/>
              </a:ext>
            </a:extLst>
          </p:cNvPr>
          <p:cNvSpPr/>
          <p:nvPr/>
        </p:nvSpPr>
        <p:spPr bwMode="auto">
          <a:xfrm>
            <a:off x="4090069" y="4299189"/>
            <a:ext cx="6487684" cy="260635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2DFCDD0A-6828-01C2-6512-52B364DB9CDD}"/>
              </a:ext>
            </a:extLst>
          </p:cNvPr>
          <p:cNvSpPr txBox="1"/>
          <p:nvPr/>
        </p:nvSpPr>
        <p:spPr>
          <a:xfrm>
            <a:off x="6818656" y="3998359"/>
            <a:ext cx="117710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500" b="1" dirty="0" err="1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min_max</a:t>
            </a:r>
            <a:endParaRPr lang="ja-JP" altLang="en-US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369DD145-8BEA-5E27-16C9-B480E1CB4637}"/>
              </a:ext>
            </a:extLst>
          </p:cNvPr>
          <p:cNvSpPr txBox="1"/>
          <p:nvPr/>
        </p:nvSpPr>
        <p:spPr>
          <a:xfrm>
            <a:off x="6861191" y="5682224"/>
            <a:ext cx="117710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500" b="1" dirty="0" err="1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min_max</a:t>
            </a:r>
            <a:endParaRPr lang="ja-JP" altLang="en-US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9911DBB1-0245-89DD-49BB-FF5872D4AAA4}"/>
              </a:ext>
            </a:extLst>
          </p:cNvPr>
          <p:cNvSpPr txBox="1"/>
          <p:nvPr/>
        </p:nvSpPr>
        <p:spPr>
          <a:xfrm>
            <a:off x="6316777" y="4714316"/>
            <a:ext cx="117710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500" b="1" dirty="0" err="1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min_max</a:t>
            </a:r>
            <a:endParaRPr lang="ja-JP" altLang="en-US" dirty="0"/>
          </a:p>
        </p:txBody>
      </p:sp>
      <p:sp>
        <p:nvSpPr>
          <p:cNvPr id="4" name="矢印: 右 3">
            <a:extLst>
              <a:ext uri="{FF2B5EF4-FFF2-40B4-BE49-F238E27FC236}">
                <a16:creationId xmlns:a16="http://schemas.microsoft.com/office/drawing/2014/main" id="{D35C2669-9C90-0372-2594-F4303ACD6392}"/>
              </a:ext>
            </a:extLst>
          </p:cNvPr>
          <p:cNvSpPr/>
          <p:nvPr/>
        </p:nvSpPr>
        <p:spPr bwMode="auto">
          <a:xfrm rot="1447635">
            <a:off x="4153917" y="5603107"/>
            <a:ext cx="1146839" cy="260635"/>
          </a:xfrm>
          <a:prstGeom prst="rightArrow">
            <a:avLst>
              <a:gd name="adj1" fmla="val 22462"/>
              <a:gd name="adj2" fmla="val 50000"/>
            </a:avLst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409F05F9-E1EF-0BAB-A23F-F5ADC1B92367}"/>
              </a:ext>
            </a:extLst>
          </p:cNvPr>
          <p:cNvSpPr/>
          <p:nvPr/>
        </p:nvSpPr>
        <p:spPr bwMode="auto">
          <a:xfrm rot="20574704">
            <a:off x="4166545" y="5171192"/>
            <a:ext cx="1139577" cy="260635"/>
          </a:xfrm>
          <a:prstGeom prst="rightArrow">
            <a:avLst>
              <a:gd name="adj1" fmla="val 23656"/>
              <a:gd name="adj2" fmla="val 50000"/>
            </a:avLst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980BE10-8F35-2050-D576-1EEF9FCD0B95}"/>
              </a:ext>
            </a:extLst>
          </p:cNvPr>
          <p:cNvSpPr/>
          <p:nvPr/>
        </p:nvSpPr>
        <p:spPr bwMode="auto">
          <a:xfrm>
            <a:off x="7125708" y="4943452"/>
            <a:ext cx="1302278" cy="31828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500" b="1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SVM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F5D1405-5955-775C-43F8-6F149A287730}"/>
              </a:ext>
            </a:extLst>
          </p:cNvPr>
          <p:cNvSpPr/>
          <p:nvPr/>
        </p:nvSpPr>
        <p:spPr bwMode="auto">
          <a:xfrm>
            <a:off x="8753085" y="4943451"/>
            <a:ext cx="1302278" cy="31828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500" b="1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予測</a:t>
            </a:r>
            <a:endParaRPr lang="en-US" altLang="ja-JP" sz="1500" b="1" dirty="0">
              <a:solidFill>
                <a:schemeClr val="accent5">
                  <a:lumMod val="50000"/>
                </a:schemeClr>
              </a:solidFill>
              <a:latin typeface="Arial" charset="0"/>
              <a:ea typeface="ＭＳ Ｐゴシック" pitchFamily="50" charset="-128"/>
            </a:endParaRPr>
          </a:p>
        </p:txBody>
      </p:sp>
      <p:grpSp>
        <p:nvGrpSpPr>
          <p:cNvPr id="49" name="グループ化 48">
            <a:extLst>
              <a:ext uri="{FF2B5EF4-FFF2-40B4-BE49-F238E27FC236}">
                <a16:creationId xmlns:a16="http://schemas.microsoft.com/office/drawing/2014/main" id="{1BC88708-CCB7-354D-B0E0-73AA230D9DF8}"/>
              </a:ext>
            </a:extLst>
          </p:cNvPr>
          <p:cNvGrpSpPr/>
          <p:nvPr/>
        </p:nvGrpSpPr>
        <p:grpSpPr>
          <a:xfrm>
            <a:off x="4865927" y="1482832"/>
            <a:ext cx="6063234" cy="2044285"/>
            <a:chOff x="3966496" y="879250"/>
            <a:chExt cx="7726013" cy="2647868"/>
          </a:xfrm>
        </p:grpSpPr>
        <p:pic>
          <p:nvPicPr>
            <p:cNvPr id="21" name="図 20">
              <a:extLst>
                <a:ext uri="{FF2B5EF4-FFF2-40B4-BE49-F238E27FC236}">
                  <a16:creationId xmlns:a16="http://schemas.microsoft.com/office/drawing/2014/main" id="{1A038E29-5D81-1D04-94B2-322D3A8591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20701" y="893069"/>
              <a:ext cx="2471808" cy="2471808"/>
            </a:xfrm>
            <a:prstGeom prst="rect">
              <a:avLst/>
            </a:prstGeom>
          </p:spPr>
        </p:pic>
        <p:pic>
          <p:nvPicPr>
            <p:cNvPr id="23" name="図 22">
              <a:extLst>
                <a:ext uri="{FF2B5EF4-FFF2-40B4-BE49-F238E27FC236}">
                  <a16:creationId xmlns:a16="http://schemas.microsoft.com/office/drawing/2014/main" id="{E50898B3-4048-B710-71C3-4C1DCF0AFE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6496" y="899906"/>
              <a:ext cx="2627212" cy="2627212"/>
            </a:xfrm>
            <a:prstGeom prst="rect">
              <a:avLst/>
            </a:prstGeom>
          </p:spPr>
        </p:pic>
        <p:pic>
          <p:nvPicPr>
            <p:cNvPr id="26" name="図 25">
              <a:extLst>
                <a:ext uri="{FF2B5EF4-FFF2-40B4-BE49-F238E27FC236}">
                  <a16:creationId xmlns:a16="http://schemas.microsoft.com/office/drawing/2014/main" id="{C77357C1-AA7C-FD8A-EFE2-94F8B164DF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44200" y="879250"/>
              <a:ext cx="2547192" cy="2547192"/>
            </a:xfrm>
            <a:prstGeom prst="rect">
              <a:avLst/>
            </a:prstGeom>
          </p:spPr>
        </p:pic>
      </p:grpSp>
      <p:sp>
        <p:nvSpPr>
          <p:cNvPr id="43" name="矢印: 右 42">
            <a:extLst>
              <a:ext uri="{FF2B5EF4-FFF2-40B4-BE49-F238E27FC236}">
                <a16:creationId xmlns:a16="http://schemas.microsoft.com/office/drawing/2014/main" id="{8DCA56EA-CC97-1F92-55BF-5CCAA23F2A1A}"/>
              </a:ext>
            </a:extLst>
          </p:cNvPr>
          <p:cNvSpPr/>
          <p:nvPr/>
        </p:nvSpPr>
        <p:spPr bwMode="auto">
          <a:xfrm rot="2847124">
            <a:off x="7625019" y="5466521"/>
            <a:ext cx="741493" cy="260635"/>
          </a:xfrm>
          <a:prstGeom prst="rightArrow">
            <a:avLst>
              <a:gd name="adj1" fmla="val 23656"/>
              <a:gd name="adj2" fmla="val 50000"/>
            </a:avLst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4" name="矢印: 右 43">
            <a:extLst>
              <a:ext uri="{FF2B5EF4-FFF2-40B4-BE49-F238E27FC236}">
                <a16:creationId xmlns:a16="http://schemas.microsoft.com/office/drawing/2014/main" id="{AD778E9F-5003-4627-8BB0-51E43BF8F84D}"/>
              </a:ext>
            </a:extLst>
          </p:cNvPr>
          <p:cNvSpPr/>
          <p:nvPr/>
        </p:nvSpPr>
        <p:spPr bwMode="auto">
          <a:xfrm>
            <a:off x="6724043" y="5903648"/>
            <a:ext cx="1539686" cy="260635"/>
          </a:xfrm>
          <a:prstGeom prst="rightArrow">
            <a:avLst>
              <a:gd name="adj1" fmla="val 23656"/>
              <a:gd name="adj2" fmla="val 50000"/>
            </a:avLst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A0F05058-5437-48B3-43F4-C1795C065D85}"/>
              </a:ext>
            </a:extLst>
          </p:cNvPr>
          <p:cNvSpPr/>
          <p:nvPr/>
        </p:nvSpPr>
        <p:spPr bwMode="auto">
          <a:xfrm>
            <a:off x="8441101" y="5861766"/>
            <a:ext cx="1302278" cy="31828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500" b="1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予測</a:t>
            </a:r>
            <a:endParaRPr lang="en-US" altLang="ja-JP" sz="1500" b="1" dirty="0">
              <a:solidFill>
                <a:schemeClr val="accent5">
                  <a:lumMod val="50000"/>
                </a:schemeClr>
              </a:solidFill>
              <a:latin typeface="Arial" charset="0"/>
              <a:ea typeface="ＭＳ Ｐゴシック" pitchFamily="50" charset="-128"/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59109DA4-3B95-74F1-A03C-2EF60E41EBC0}"/>
              </a:ext>
            </a:extLst>
          </p:cNvPr>
          <p:cNvSpPr/>
          <p:nvPr/>
        </p:nvSpPr>
        <p:spPr bwMode="auto">
          <a:xfrm>
            <a:off x="5686704" y="1286452"/>
            <a:ext cx="627397" cy="35600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500" b="1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Img1</a:t>
            </a:r>
            <a:endParaRPr kumimoji="1" lang="en-US" altLang="ja-JP" sz="15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1BC52097-F3E0-1376-9CB2-3AB077B0A4A1}"/>
              </a:ext>
            </a:extLst>
          </p:cNvPr>
          <p:cNvSpPr/>
          <p:nvPr/>
        </p:nvSpPr>
        <p:spPr bwMode="auto">
          <a:xfrm>
            <a:off x="7626285" y="1286452"/>
            <a:ext cx="668726" cy="31828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500" b="1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img2</a:t>
            </a:r>
            <a:endParaRPr kumimoji="1" lang="ja-JP" altLang="en-US" sz="1500" b="1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A35F6D90-7928-74E3-332F-A02ED388B79D}"/>
              </a:ext>
            </a:extLst>
          </p:cNvPr>
          <p:cNvSpPr/>
          <p:nvPr/>
        </p:nvSpPr>
        <p:spPr bwMode="auto">
          <a:xfrm>
            <a:off x="9606862" y="1258159"/>
            <a:ext cx="699847" cy="31828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500" b="1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img3</a:t>
            </a: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DFE4C7E7-DD96-3903-A611-B2187F255411}"/>
              </a:ext>
            </a:extLst>
          </p:cNvPr>
          <p:cNvSpPr/>
          <p:nvPr/>
        </p:nvSpPr>
        <p:spPr bwMode="auto">
          <a:xfrm>
            <a:off x="1227942" y="2994271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１</a:t>
            </a: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A283AE80-79B2-2CC4-2547-F4F62B2C10F2}"/>
              </a:ext>
            </a:extLst>
          </p:cNvPr>
          <p:cNvSpPr/>
          <p:nvPr/>
        </p:nvSpPr>
        <p:spPr bwMode="auto">
          <a:xfrm>
            <a:off x="631218" y="4047283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２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947F5025-70CE-951A-B928-E61B23AEE163}"/>
              </a:ext>
            </a:extLst>
          </p:cNvPr>
          <p:cNvSpPr/>
          <p:nvPr/>
        </p:nvSpPr>
        <p:spPr bwMode="auto">
          <a:xfrm>
            <a:off x="11372296" y="4131503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３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ADB5414A-FD32-28BA-9B72-592533A8D38A}"/>
              </a:ext>
            </a:extLst>
          </p:cNvPr>
          <p:cNvSpPr/>
          <p:nvPr/>
        </p:nvSpPr>
        <p:spPr bwMode="auto">
          <a:xfrm>
            <a:off x="4153130" y="4968671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４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74BBC170-249B-912C-5253-CACC5DF4BA5C}"/>
              </a:ext>
            </a:extLst>
          </p:cNvPr>
          <p:cNvSpPr/>
          <p:nvPr/>
        </p:nvSpPr>
        <p:spPr bwMode="auto">
          <a:xfrm>
            <a:off x="7972001" y="4647778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b="1" dirty="0">
                <a:solidFill>
                  <a:schemeClr val="accent3"/>
                </a:solidFill>
                <a:latin typeface="Arial" charset="0"/>
                <a:ea typeface="ＭＳ Ｐゴシック" pitchFamily="50" charset="-128"/>
              </a:rPr>
              <a:t>５</a:t>
            </a:r>
            <a:endParaRPr kumimoji="1" lang="ja-JP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17E1D615-73AA-0D86-3386-C991DEFD7FAD}"/>
              </a:ext>
            </a:extLst>
          </p:cNvPr>
          <p:cNvSpPr/>
          <p:nvPr/>
        </p:nvSpPr>
        <p:spPr bwMode="auto">
          <a:xfrm>
            <a:off x="9671416" y="4647778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b="1" dirty="0">
                <a:solidFill>
                  <a:schemeClr val="accent3"/>
                </a:solidFill>
                <a:latin typeface="Arial" charset="0"/>
                <a:ea typeface="ＭＳ Ｐゴシック" pitchFamily="50" charset="-128"/>
              </a:rPr>
              <a:t>５</a:t>
            </a:r>
            <a:endParaRPr kumimoji="1" lang="ja-JP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14BE2853-6D0B-0239-BAC5-EB1D11FF2224}"/>
              </a:ext>
            </a:extLst>
          </p:cNvPr>
          <p:cNvSpPr/>
          <p:nvPr/>
        </p:nvSpPr>
        <p:spPr bwMode="auto">
          <a:xfrm>
            <a:off x="11370831" y="4819900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6</a:t>
            </a:r>
            <a:endParaRPr kumimoji="1" lang="ja-JP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2026D6DB-3B9E-3CE7-04B4-E98FD69229D2}"/>
              </a:ext>
            </a:extLst>
          </p:cNvPr>
          <p:cNvSpPr/>
          <p:nvPr/>
        </p:nvSpPr>
        <p:spPr bwMode="auto">
          <a:xfrm>
            <a:off x="9379719" y="5559452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b="1" dirty="0">
                <a:solidFill>
                  <a:schemeClr val="accent3"/>
                </a:solidFill>
                <a:latin typeface="Arial" charset="0"/>
                <a:ea typeface="ＭＳ Ｐゴシック" pitchFamily="50" charset="-128"/>
              </a:rPr>
              <a:t>7</a:t>
            </a:r>
            <a:endParaRPr kumimoji="1" lang="ja-JP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783B4F8D-FB8A-2477-99EC-03FC10144834}"/>
              </a:ext>
            </a:extLst>
          </p:cNvPr>
          <p:cNvSpPr/>
          <p:nvPr/>
        </p:nvSpPr>
        <p:spPr bwMode="auto">
          <a:xfrm>
            <a:off x="11407276" y="5671683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8</a:t>
            </a:r>
            <a:endParaRPr kumimoji="1" lang="ja-JP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62395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0C5C8-66EF-C504-28F9-CFF7DC7E6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BF5F3C8-F1A2-AB3A-2CDD-142425509CCF}"/>
              </a:ext>
            </a:extLst>
          </p:cNvPr>
          <p:cNvSpPr txBox="1">
            <a:spLocks/>
          </p:cNvSpPr>
          <p:nvPr/>
        </p:nvSpPr>
        <p:spPr>
          <a:xfrm>
            <a:off x="762000" y="1203306"/>
            <a:ext cx="7396729" cy="55759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ja-JP" altLang="en-US" b="1" kern="0" dirty="0"/>
              <a:t>関数　</a:t>
            </a:r>
            <a:r>
              <a:rPr lang="en-US" altLang="ja-JP" b="1" kern="0" dirty="0" err="1"/>
              <a:t>min_max</a:t>
            </a:r>
            <a:r>
              <a:rPr lang="ja-JP" altLang="en-US" b="1" kern="0" dirty="0"/>
              <a:t>　</a:t>
            </a:r>
            <a:r>
              <a:rPr lang="ja-JP" altLang="en-US" sz="2400" kern="0" dirty="0"/>
              <a:t>データを０～１に正規化する</a:t>
            </a:r>
            <a:endParaRPr lang="en-US" altLang="ja-JP" sz="2400" kern="0" dirty="0"/>
          </a:p>
          <a:p>
            <a:endParaRPr lang="en-US" altLang="ja-JP" sz="2400" kern="0" dirty="0"/>
          </a:p>
          <a:p>
            <a:endParaRPr lang="en-US" altLang="ja-JP" sz="2400" kern="0" dirty="0"/>
          </a:p>
          <a:p>
            <a:endParaRPr lang="en-US" altLang="ja-JP" sz="2400" kern="0" dirty="0"/>
          </a:p>
          <a:p>
            <a:pPr marL="0" indent="0">
              <a:buNone/>
            </a:pPr>
            <a:endParaRPr lang="en-US" altLang="ja-JP" sz="2000" kern="0" dirty="0">
              <a:solidFill>
                <a:schemeClr val="accent6"/>
              </a:solidFill>
            </a:endParaRP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7D149D47-84B7-7C6D-58E8-6EF015063F12}"/>
              </a:ext>
            </a:extLst>
          </p:cNvPr>
          <p:cNvSpPr txBox="1">
            <a:spLocks/>
          </p:cNvSpPr>
          <p:nvPr/>
        </p:nvSpPr>
        <p:spPr>
          <a:xfrm>
            <a:off x="762000" y="2143598"/>
            <a:ext cx="3925147" cy="4025289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2400" kern="0" dirty="0"/>
              <a:t>データを行に転置</a:t>
            </a:r>
            <a:endParaRPr lang="en-US" altLang="ja-JP" sz="2400" kern="0" dirty="0"/>
          </a:p>
          <a:p>
            <a:pPr marL="0" indent="0">
              <a:spcBef>
                <a:spcPts val="0"/>
              </a:spcBef>
              <a:buNone/>
            </a:pPr>
            <a:r>
              <a:rPr lang="ja-JP" altLang="en-US" kern="0" dirty="0"/>
              <a:t>　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データを行に転置してから処理</a:t>
            </a:r>
            <a:endParaRPr lang="en-US" altLang="ja-JP" sz="1800" kern="0" dirty="0"/>
          </a:p>
          <a:p>
            <a:r>
              <a:rPr lang="ja-JP" altLang="en-US" sz="2400" kern="0" dirty="0"/>
              <a:t>データを整理</a:t>
            </a: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   x1: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正規化するデータ</a:t>
            </a: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   x2: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正規化の基準にするデータ</a:t>
            </a: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　　　　→</a:t>
            </a:r>
            <a:r>
              <a:rPr lang="en-US" altLang="ja-JP" sz="1800" kern="0" dirty="0" err="1">
                <a:solidFill>
                  <a:schemeClr val="accent3">
                    <a:lumMod val="50000"/>
                  </a:schemeClr>
                </a:solidFill>
              </a:rPr>
              <a:t>min,max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を抽出</a:t>
            </a:r>
            <a:endParaRPr lang="en-US" altLang="ja-JP" sz="2400" kern="0" dirty="0"/>
          </a:p>
          <a:p>
            <a:r>
              <a:rPr lang="ja-JP" altLang="en-US" sz="2400" kern="0" dirty="0"/>
              <a:t>データを正規化</a:t>
            </a:r>
            <a:endParaRPr lang="en-US" altLang="ja-JP" sz="2400" kern="0" dirty="0"/>
          </a:p>
          <a:p>
            <a:endParaRPr lang="en-US" altLang="ja-JP" sz="2400" kern="0" dirty="0">
              <a:solidFill>
                <a:schemeClr val="accent3">
                  <a:lumMod val="50000"/>
                </a:schemeClr>
              </a:solidFill>
            </a:endParaRPr>
          </a:p>
          <a:p>
            <a:endParaRPr lang="en-US" altLang="ja-JP" sz="2400" kern="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ja-JP" altLang="en-US" sz="2400" kern="0" dirty="0">
                <a:solidFill>
                  <a:schemeClr val="accent4"/>
                </a:solidFill>
              </a:rPr>
              <a:t>列に戻して返す</a:t>
            </a:r>
            <a:endParaRPr lang="en-US" altLang="ja-JP" sz="2400" kern="0" dirty="0">
              <a:solidFill>
                <a:schemeClr val="accent4"/>
              </a:solidFill>
            </a:endParaRPr>
          </a:p>
          <a:p>
            <a:pPr marL="0" indent="0">
              <a:buNone/>
            </a:pPr>
            <a:endParaRPr lang="en-US" altLang="ja-JP" sz="1800" kern="0" dirty="0">
              <a:solidFill>
                <a:schemeClr val="accent4"/>
              </a:solidFill>
            </a:endParaRPr>
          </a:p>
          <a:p>
            <a:pPr marL="0" indent="0">
              <a:buNone/>
            </a:pPr>
            <a:endParaRPr lang="en-US" altLang="ja-JP" sz="2400" kern="0" dirty="0"/>
          </a:p>
          <a:p>
            <a:pPr marL="0" indent="0">
              <a:buNone/>
            </a:pPr>
            <a:endParaRPr lang="en-US" altLang="ja-JP" sz="2400" kern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C4950D1F-C947-0581-348F-99C73CF965C4}"/>
                  </a:ext>
                </a:extLst>
              </p:cNvPr>
              <p:cNvSpPr/>
              <p:nvPr/>
            </p:nvSpPr>
            <p:spPr bwMode="auto">
              <a:xfrm>
                <a:off x="1194248" y="4859318"/>
                <a:ext cx="2729345" cy="79537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952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indent="0">
                  <a:buNone/>
                </a:pPr>
                <a:r>
                  <a:rPr lang="ja-JP" altLang="en-US" sz="1800" kern="0" dirty="0">
                    <a:solidFill>
                      <a:schemeClr val="accent6"/>
                    </a:solidFill>
                    <a:latin typeface="+mn-ea"/>
                  </a:rPr>
                  <a:t>正規化の式</a:t>
                </a:r>
                <a:endParaRPr lang="en-US" altLang="ja-JP" sz="1800" kern="0" dirty="0">
                  <a:solidFill>
                    <a:schemeClr val="accent6"/>
                  </a:solidFill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800" b="0" i="1" kern="0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800" b="0" i="1" kern="0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1800" b="0" i="1" kern="0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𝑛𝑜𝑟𝑚𝑎𝑙𝑖𝑧𝑒𝑑</m:t>
                        </m:r>
                      </m:sub>
                    </m:sSub>
                  </m:oMath>
                </a14:m>
                <a:r>
                  <a:rPr lang="en-US" altLang="ja-JP" sz="1800" kern="0" dirty="0">
                    <a:solidFill>
                      <a:schemeClr val="accent6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1800" b="0" i="1" kern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800" b="0" i="1" kern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1800" b="0" i="1" kern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1800" b="0" i="1" kern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800" b="0" i="1" kern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1800" b="0" i="1" kern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ja-JP" sz="1800" b="0" i="1" kern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800" b="0" i="1" kern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1800" b="0" i="1" kern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r>
                          <a:rPr lang="en-US" altLang="ja-JP" sz="1800" b="0" i="1" kern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1800" b="0" i="1" kern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1800" b="0" i="1" kern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1800" b="0" i="1" kern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den>
                    </m:f>
                  </m:oMath>
                </a14:m>
                <a:endParaRPr kumimoji="1" lang="ja-JP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50" charset="-128"/>
                </a:endParaRPr>
              </a:p>
            </p:txBody>
          </p:sp>
        </mc:Choice>
        <mc:Fallback xmlns=""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C4950D1F-C947-0581-348F-99C73CF965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94248" y="4859318"/>
                <a:ext cx="2729345" cy="795376"/>
              </a:xfrm>
              <a:prstGeom prst="rect">
                <a:avLst/>
              </a:prstGeom>
              <a:blipFill>
                <a:blip r:embed="rId3"/>
                <a:stretch>
                  <a:fillRect l="-2009" t="-3817"/>
                </a:stretch>
              </a:blipFill>
              <a:ln w="952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タイトル 1">
            <a:extLst>
              <a:ext uri="{FF2B5EF4-FFF2-40B4-BE49-F238E27FC236}">
                <a16:creationId xmlns:a16="http://schemas.microsoft.com/office/drawing/2014/main" id="{B7E25182-44BC-21EB-1E37-4D991822C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elephant.ipynb</a:t>
            </a:r>
            <a:endParaRPr kumimoji="1" lang="ja-JP" altLang="en-US" dirty="0"/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17876821-62C5-9D1D-F80C-AC7A0D4E73DF}"/>
              </a:ext>
            </a:extLst>
          </p:cNvPr>
          <p:cNvGrpSpPr/>
          <p:nvPr/>
        </p:nvGrpSpPr>
        <p:grpSpPr>
          <a:xfrm>
            <a:off x="5574500" y="1869731"/>
            <a:ext cx="2425684" cy="1559269"/>
            <a:chOff x="4536198" y="1859476"/>
            <a:chExt cx="3279721" cy="2012630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C6DA61C1-5813-A096-4B5D-D478441DCE36}"/>
                </a:ext>
              </a:extLst>
            </p:cNvPr>
            <p:cNvSpPr/>
            <p:nvPr/>
          </p:nvSpPr>
          <p:spPr bwMode="auto">
            <a:xfrm>
              <a:off x="4536198" y="1859476"/>
              <a:ext cx="3279721" cy="201263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ja-JP" sz="1500" b="0" i="0" u="none" strike="noStrike" cap="none" normalizeH="0" baseline="0" dirty="0">
                  <a:ln>
                    <a:noFill/>
                  </a:ln>
                  <a:solidFill>
                    <a:schemeClr val="accent5">
                      <a:lumMod val="50000"/>
                    </a:schemeClr>
                  </a:solidFill>
                  <a:effectLst/>
                  <a:latin typeface="Arial" charset="0"/>
                  <a:ea typeface="ＭＳ Ｐゴシック" pitchFamily="50" charset="-128"/>
                </a:rPr>
                <a:t>Python</a:t>
              </a:r>
              <a:endParaRPr kumimoji="1" lang="ja-JP" altLang="en-US" sz="15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FB51CA1F-782D-79D4-2F60-1A22063D9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88730" y="2212970"/>
              <a:ext cx="3000794" cy="1409897"/>
            </a:xfrm>
            <a:prstGeom prst="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</p:pic>
      </p:grp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5641B1B2-9B66-5E36-647B-7A0CEA9027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9664668"/>
              </p:ext>
            </p:extLst>
          </p:nvPr>
        </p:nvGraphicFramePr>
        <p:xfrm>
          <a:off x="5038170" y="3702867"/>
          <a:ext cx="6602401" cy="255648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441121">
                  <a:extLst>
                    <a:ext uri="{9D8B030D-6E8A-4147-A177-3AD203B41FA5}">
                      <a16:colId xmlns:a16="http://schemas.microsoft.com/office/drawing/2014/main" val="165235932"/>
                    </a:ext>
                  </a:extLst>
                </a:gridCol>
                <a:gridCol w="2695787">
                  <a:extLst>
                    <a:ext uri="{9D8B030D-6E8A-4147-A177-3AD203B41FA5}">
                      <a16:colId xmlns:a16="http://schemas.microsoft.com/office/drawing/2014/main" val="1387312990"/>
                    </a:ext>
                  </a:extLst>
                </a:gridCol>
                <a:gridCol w="2465493">
                  <a:extLst>
                    <a:ext uri="{9D8B030D-6E8A-4147-A177-3AD203B41FA5}">
                      <a16:colId xmlns:a16="http://schemas.microsoft.com/office/drawing/2014/main" val="2241803932"/>
                    </a:ext>
                  </a:extLst>
                </a:gridCol>
              </a:tblGrid>
              <a:tr h="320922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Python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R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4329"/>
                  </a:ext>
                </a:extLst>
              </a:tr>
              <a:tr h="280807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転置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x.T</a:t>
                      </a:r>
                      <a:endParaRPr kumimoji="1" lang="ja-JP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t(x)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238374"/>
                  </a:ext>
                </a:extLst>
              </a:tr>
              <a:tr h="280807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行方向・列方向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axis </a:t>
                      </a:r>
                      <a:r>
                        <a:rPr kumimoji="1" lang="ja-JP" altLang="en-US" sz="1500" dirty="0"/>
                        <a:t>列：０　行：１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m </a:t>
                      </a:r>
                      <a:r>
                        <a:rPr kumimoji="1" lang="ja-JP" altLang="en-US" sz="1500" dirty="0"/>
                        <a:t>行：１　列：２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7436988"/>
                  </a:ext>
                </a:extLst>
              </a:tr>
              <a:tr h="681960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最小値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x.min</a:t>
                      </a:r>
                      <a:r>
                        <a:rPr kumimoji="1" lang="en-US" altLang="ja-JP" sz="1500" dirty="0"/>
                        <a:t>(</a:t>
                      </a:r>
                      <a:r>
                        <a:rPr kumimoji="1" lang="en-US" altLang="ja-JP" sz="1500" dirty="0" err="1"/>
                        <a:t>axis,keepdims</a:t>
                      </a:r>
                      <a:r>
                        <a:rPr kumimoji="1" lang="en-US" altLang="ja-JP" sz="1500" dirty="0"/>
                        <a:t>)</a:t>
                      </a:r>
                    </a:p>
                    <a:p>
                      <a:r>
                        <a:rPr kumimoji="1" lang="ja-JP" altLang="en-US" sz="150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　</a:t>
                      </a:r>
                      <a:r>
                        <a:rPr kumimoji="1" lang="en-US" altLang="ja-JP" sz="1500" dirty="0" err="1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keepdims</a:t>
                      </a:r>
                      <a:r>
                        <a:rPr kumimoji="1" lang="en-US" altLang="ja-JP" sz="150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:</a:t>
                      </a:r>
                      <a:r>
                        <a:rPr kumimoji="1" lang="ja-JP" altLang="en-US" sz="150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配列の次元を維持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apply(</a:t>
                      </a:r>
                      <a:r>
                        <a:rPr kumimoji="1" lang="en-US" altLang="ja-JP" sz="1500" dirty="0" err="1"/>
                        <a:t>x,m,fun</a:t>
                      </a:r>
                      <a:r>
                        <a:rPr kumimoji="1" lang="en-US" altLang="ja-JP" sz="1500" dirty="0"/>
                        <a:t>)</a:t>
                      </a:r>
                    </a:p>
                    <a:p>
                      <a:r>
                        <a:rPr kumimoji="1" lang="ja-JP" altLang="en-US" sz="150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　</a:t>
                      </a:r>
                      <a:r>
                        <a:rPr kumimoji="1" lang="en-US" altLang="ja-JP" sz="150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fun</a:t>
                      </a:r>
                      <a:r>
                        <a:rPr kumimoji="1" lang="ja-JP" altLang="en-US" sz="150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 に </a:t>
                      </a:r>
                      <a:r>
                        <a:rPr kumimoji="1" lang="en-US" altLang="ja-JP" sz="150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min</a:t>
                      </a:r>
                      <a:r>
                        <a:rPr kumimoji="1" lang="ja-JP" altLang="en-US" sz="150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 を代入</a:t>
                      </a:r>
                      <a:endParaRPr kumimoji="1" lang="en-US" altLang="ja-JP" sz="15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025924"/>
                  </a:ext>
                </a:extLst>
              </a:tr>
              <a:tr h="280807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返り値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return x</a:t>
                      </a:r>
                      <a:endParaRPr kumimoji="1" lang="ja-JP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return(x)</a:t>
                      </a:r>
                      <a:endParaRPr kumimoji="1" lang="ja-JP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601380"/>
                  </a:ext>
                </a:extLst>
              </a:tr>
              <a:tr h="481383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計算関数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sweep(x1,m,x2,fun)</a:t>
                      </a:r>
                    </a:p>
                    <a:p>
                      <a:r>
                        <a:rPr kumimoji="1" lang="ja-JP" altLang="en-US" sz="150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　</a:t>
                      </a:r>
                      <a:r>
                        <a:rPr kumimoji="1" lang="en-US" altLang="ja-JP" sz="150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fun</a:t>
                      </a:r>
                      <a:r>
                        <a:rPr kumimoji="1" lang="ja-JP" altLang="en-US" sz="150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に計算時の記号を代入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949504"/>
                  </a:ext>
                </a:extLst>
              </a:tr>
            </a:tbl>
          </a:graphicData>
        </a:graphic>
      </p:graphicFrame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E03634F7-6C9C-8DD4-0B08-9E417AB9BEAC}"/>
              </a:ext>
            </a:extLst>
          </p:cNvPr>
          <p:cNvGrpSpPr/>
          <p:nvPr/>
        </p:nvGrpSpPr>
        <p:grpSpPr>
          <a:xfrm>
            <a:off x="8542982" y="1869730"/>
            <a:ext cx="3174587" cy="1559270"/>
            <a:chOff x="8059645" y="1859476"/>
            <a:chExt cx="4284756" cy="2012630"/>
          </a:xfrm>
        </p:grpSpPr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A601A5B2-72E3-4B71-B8E6-DF7C7A654EE8}"/>
                </a:ext>
              </a:extLst>
            </p:cNvPr>
            <p:cNvSpPr/>
            <p:nvPr/>
          </p:nvSpPr>
          <p:spPr bwMode="auto">
            <a:xfrm>
              <a:off x="8059645" y="1859476"/>
              <a:ext cx="4284756" cy="2012630"/>
            </a:xfrm>
            <a:prstGeom prst="rect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ja-JP" sz="15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Arial" charset="0"/>
                  <a:ea typeface="ＭＳ Ｐゴシック" pitchFamily="50" charset="-128"/>
                </a:rPr>
                <a:t>R</a:t>
              </a:r>
            </a:p>
          </p:txBody>
        </p:sp>
        <p:pic>
          <p:nvPicPr>
            <p:cNvPr id="19" name="図 18">
              <a:extLst>
                <a:ext uri="{FF2B5EF4-FFF2-40B4-BE49-F238E27FC236}">
                  <a16:creationId xmlns:a16="http://schemas.microsoft.com/office/drawing/2014/main" id="{23EE6DF0-2C42-56A7-B96F-F422EEE597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595"/>
            <a:stretch>
              <a:fillRect/>
            </a:stretch>
          </p:blipFill>
          <p:spPr>
            <a:xfrm>
              <a:off x="8163567" y="2212972"/>
              <a:ext cx="4076910" cy="1581008"/>
            </a:xfrm>
            <a:prstGeom prst="rect">
              <a:avLst/>
            </a:prstGeom>
            <a:ln>
              <a:solidFill>
                <a:schemeClr val="accent3">
                  <a:lumMod val="65000"/>
                </a:schemeClr>
              </a:solidFill>
            </a:ln>
          </p:spPr>
        </p:pic>
      </p:grp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65396F9-F057-65E6-0F9D-11B9AD610AC6}"/>
              </a:ext>
            </a:extLst>
          </p:cNvPr>
          <p:cNvSpPr/>
          <p:nvPr/>
        </p:nvSpPr>
        <p:spPr bwMode="auto">
          <a:xfrm>
            <a:off x="434476" y="1325512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１</a:t>
            </a:r>
          </a:p>
        </p:txBody>
      </p:sp>
    </p:spTree>
    <p:extLst>
      <p:ext uri="{BB962C8B-B14F-4D97-AF65-F5344CB8AC3E}">
        <p14:creationId xmlns:p14="http://schemas.microsoft.com/office/powerpoint/2010/main" val="1605961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C9BF8-B3A2-ED76-2093-B6B7148B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49AD4C2-D006-91ED-0493-BD850A544FD1}"/>
              </a:ext>
            </a:extLst>
          </p:cNvPr>
          <p:cNvSpPr txBox="1">
            <a:spLocks/>
          </p:cNvSpPr>
          <p:nvPr/>
        </p:nvSpPr>
        <p:spPr>
          <a:xfrm>
            <a:off x="762000" y="1203306"/>
            <a:ext cx="7396729" cy="55759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ja-JP" b="1" kern="0" dirty="0"/>
              <a:t>data</a:t>
            </a:r>
            <a:r>
              <a:rPr lang="ja-JP" altLang="en-US" b="1" kern="0" dirty="0"/>
              <a:t>の取得</a:t>
            </a:r>
            <a:endParaRPr lang="en-US" altLang="ja-JP" sz="2400" kern="0" dirty="0"/>
          </a:p>
          <a:p>
            <a:endParaRPr lang="en-US" altLang="ja-JP" sz="2400" kern="0" dirty="0"/>
          </a:p>
          <a:p>
            <a:endParaRPr lang="en-US" altLang="ja-JP" sz="2400" kern="0" dirty="0"/>
          </a:p>
          <a:p>
            <a:pPr marL="0" indent="0">
              <a:buNone/>
            </a:pP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ja-JP" sz="2000" kern="0" dirty="0">
              <a:solidFill>
                <a:schemeClr val="accent6"/>
              </a:solidFill>
            </a:endParaRP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AC7F2BBE-6E3A-713A-699C-D9805AC9FDD2}"/>
              </a:ext>
            </a:extLst>
          </p:cNvPr>
          <p:cNvSpPr txBox="1">
            <a:spLocks/>
          </p:cNvSpPr>
          <p:nvPr/>
        </p:nvSpPr>
        <p:spPr>
          <a:xfrm>
            <a:off x="762000" y="2143598"/>
            <a:ext cx="3925147" cy="4025289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ja-JP" sz="2400" kern="0" dirty="0"/>
              <a:t>d	</a:t>
            </a:r>
            <a:r>
              <a:rPr lang="en-US" altLang="ja-JP" sz="1800" kern="0" dirty="0" err="1">
                <a:solidFill>
                  <a:schemeClr val="accent4"/>
                </a:solidFill>
              </a:rPr>
              <a:t>elephant_data</a:t>
            </a:r>
            <a:endParaRPr lang="en-US" altLang="ja-JP" sz="1800" kern="0" dirty="0">
              <a:solidFill>
                <a:schemeClr val="accent4"/>
              </a:solidFill>
            </a:endParaRPr>
          </a:p>
          <a:p>
            <a:r>
              <a:rPr lang="en-US" altLang="ja-JP" sz="2400" kern="0" dirty="0"/>
              <a:t>xd	</a:t>
            </a:r>
            <a:r>
              <a:rPr lang="ja-JP" altLang="en-US" sz="1800" kern="0" dirty="0">
                <a:solidFill>
                  <a:schemeClr val="accent4"/>
                </a:solidFill>
              </a:rPr>
              <a:t>体長・体重</a:t>
            </a:r>
            <a:endParaRPr lang="en-US" altLang="ja-JP" sz="1800" kern="0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   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すべての行</a:t>
            </a: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   1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列目から２（最後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-1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）列目</a:t>
            </a: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endParaRPr lang="en-US" altLang="ja-JP" sz="2400" kern="0" dirty="0"/>
          </a:p>
          <a:p>
            <a:endParaRPr lang="en-US" altLang="ja-JP" sz="2400" kern="0" dirty="0"/>
          </a:p>
          <a:p>
            <a:r>
              <a:rPr lang="en-US" altLang="ja-JP" sz="2400" kern="0" dirty="0"/>
              <a:t>yd	</a:t>
            </a:r>
            <a:r>
              <a:rPr lang="ja-JP" altLang="en-US" sz="1800" kern="0" dirty="0">
                <a:solidFill>
                  <a:schemeClr val="accent4"/>
                </a:solidFill>
              </a:rPr>
              <a:t>ラベル</a:t>
            </a:r>
            <a:endParaRPr lang="en-US" altLang="ja-JP" sz="1800" kern="0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   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すべての行</a:t>
            </a: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   最後の列</a:t>
            </a: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ja-JP" sz="1800" kern="0" dirty="0">
              <a:solidFill>
                <a:schemeClr val="accent4"/>
              </a:solidFill>
            </a:endParaRPr>
          </a:p>
          <a:p>
            <a:pPr marL="0" indent="0">
              <a:buNone/>
            </a:pPr>
            <a:endParaRPr lang="en-US" altLang="ja-JP" sz="2400" kern="0" dirty="0"/>
          </a:p>
          <a:p>
            <a:pPr marL="0" indent="0">
              <a:buNone/>
            </a:pPr>
            <a:endParaRPr lang="en-US" altLang="ja-JP" sz="2400" kern="0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7DF9B92-DF1D-B7A5-BD68-372CD2CA5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elephant.ipynb</a:t>
            </a:r>
            <a:endParaRPr kumimoji="1" lang="ja-JP" alt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C560628-D4C7-7731-8E82-C4BA6F44CB30}"/>
              </a:ext>
            </a:extLst>
          </p:cNvPr>
          <p:cNvSpPr/>
          <p:nvPr/>
        </p:nvSpPr>
        <p:spPr bwMode="auto">
          <a:xfrm>
            <a:off x="5038170" y="1757591"/>
            <a:ext cx="5212770" cy="119777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5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Python</a:t>
            </a:r>
            <a:endParaRPr kumimoji="1" lang="ja-JP" altLang="en-US" sz="15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9232FF57-663A-7551-63B2-D183C99AF5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558601"/>
              </p:ext>
            </p:extLst>
          </p:nvPr>
        </p:nvGraphicFramePr>
        <p:xfrm>
          <a:off x="5038170" y="4983915"/>
          <a:ext cx="6602401" cy="132588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441121">
                  <a:extLst>
                    <a:ext uri="{9D8B030D-6E8A-4147-A177-3AD203B41FA5}">
                      <a16:colId xmlns:a16="http://schemas.microsoft.com/office/drawing/2014/main" val="165235932"/>
                    </a:ext>
                  </a:extLst>
                </a:gridCol>
                <a:gridCol w="2695787">
                  <a:extLst>
                    <a:ext uri="{9D8B030D-6E8A-4147-A177-3AD203B41FA5}">
                      <a16:colId xmlns:a16="http://schemas.microsoft.com/office/drawing/2014/main" val="1387312990"/>
                    </a:ext>
                  </a:extLst>
                </a:gridCol>
                <a:gridCol w="2465493">
                  <a:extLst>
                    <a:ext uri="{9D8B030D-6E8A-4147-A177-3AD203B41FA5}">
                      <a16:colId xmlns:a16="http://schemas.microsoft.com/office/drawing/2014/main" val="2241803932"/>
                    </a:ext>
                  </a:extLst>
                </a:gridCol>
              </a:tblGrid>
              <a:tr h="320922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Python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R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4329"/>
                  </a:ext>
                </a:extLst>
              </a:tr>
              <a:tr h="280807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〇：△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 dirty="0"/>
                        <a:t>〇以上△未満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 dirty="0"/>
                        <a:t>〇以上△以下</a:t>
                      </a:r>
                      <a:endParaRPr kumimoji="1" lang="en-US" altLang="ja-JP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238374"/>
                  </a:ext>
                </a:extLst>
              </a:tr>
              <a:tr h="280807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すべて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 dirty="0"/>
                        <a:t>「：」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 dirty="0"/>
                        <a:t>「　」</a:t>
                      </a:r>
                      <a:endParaRPr kumimoji="1" lang="en-US" altLang="ja-JP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07290"/>
                  </a:ext>
                </a:extLst>
              </a:tr>
              <a:tr h="280807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最後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-1</a:t>
                      </a:r>
                      <a:endParaRPr kumimoji="1" lang="ja-JP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ncol</a:t>
                      </a:r>
                      <a:r>
                        <a:rPr kumimoji="1" lang="en-US" altLang="ja-JP" sz="1500" dirty="0"/>
                        <a:t>(x),</a:t>
                      </a:r>
                      <a:r>
                        <a:rPr kumimoji="1" lang="en-US" altLang="ja-JP" sz="1500" dirty="0" err="1"/>
                        <a:t>nrow</a:t>
                      </a:r>
                      <a:r>
                        <a:rPr kumimoji="1" lang="en-US" altLang="ja-JP" sz="1500" dirty="0"/>
                        <a:t>(x)</a:t>
                      </a:r>
                      <a:endParaRPr kumimoji="1" lang="ja-JP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7436988"/>
                  </a:ext>
                </a:extLst>
              </a:tr>
            </a:tbl>
          </a:graphicData>
        </a:graphic>
      </p:graphicFrame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A5EBF90-6572-DD00-A9CF-993C4098D414}"/>
              </a:ext>
            </a:extLst>
          </p:cNvPr>
          <p:cNvSpPr/>
          <p:nvPr/>
        </p:nvSpPr>
        <p:spPr bwMode="auto">
          <a:xfrm>
            <a:off x="5038170" y="3277557"/>
            <a:ext cx="5212770" cy="1197771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500" dirty="0">
                <a:solidFill>
                  <a:schemeClr val="accent4">
                    <a:lumMod val="65000"/>
                    <a:lumOff val="35000"/>
                  </a:schemeClr>
                </a:solidFill>
                <a:latin typeface="Arial" charset="0"/>
                <a:ea typeface="ＭＳ Ｐゴシック" pitchFamily="50" charset="-128"/>
              </a:rPr>
              <a:t>R</a:t>
            </a:r>
          </a:p>
        </p:txBody>
      </p:sp>
      <p:sp>
        <p:nvSpPr>
          <p:cNvPr id="22" name="矢印: 右 21">
            <a:extLst>
              <a:ext uri="{FF2B5EF4-FFF2-40B4-BE49-F238E27FC236}">
                <a16:creationId xmlns:a16="http://schemas.microsoft.com/office/drawing/2014/main" id="{3FD9703C-8626-10F0-9FEE-1F09336AF24C}"/>
              </a:ext>
            </a:extLst>
          </p:cNvPr>
          <p:cNvSpPr/>
          <p:nvPr/>
        </p:nvSpPr>
        <p:spPr bwMode="auto">
          <a:xfrm>
            <a:off x="9167306" y="3755921"/>
            <a:ext cx="426490" cy="165041"/>
          </a:xfrm>
          <a:prstGeom prst="rightArrow">
            <a:avLst/>
          </a:prstGeom>
          <a:solidFill>
            <a:schemeClr val="accent4">
              <a:lumMod val="65000"/>
              <a:lumOff val="3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87D0542-8E6A-E93F-0BAF-3EA1F4F13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672" y="2187931"/>
            <a:ext cx="4505954" cy="666843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4E06C46C-271D-4AD4-2A70-FB1C51036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5672" y="3318788"/>
            <a:ext cx="3572374" cy="1095528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CD507FE4-D695-48AA-7191-E7054FC189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3056" y="3154092"/>
            <a:ext cx="1571844" cy="1533739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F44C68D6-3FAA-3B71-E5A0-3789EB1767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3530" y="3720368"/>
            <a:ext cx="2911864" cy="67397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4C7550F8-639D-4C49-7218-E4615F58C2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3530" y="5654694"/>
            <a:ext cx="2911864" cy="67397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C601657-539B-13B5-ECE9-F58BA013DC37}"/>
              </a:ext>
            </a:extLst>
          </p:cNvPr>
          <p:cNvSpPr/>
          <p:nvPr/>
        </p:nvSpPr>
        <p:spPr bwMode="auto">
          <a:xfrm>
            <a:off x="1273619" y="3783486"/>
            <a:ext cx="992503" cy="610852"/>
          </a:xfrm>
          <a:prstGeom prst="rect">
            <a:avLst/>
          </a:prstGeom>
          <a:solidFill>
            <a:srgbClr val="CC9900">
              <a:alpha val="30196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FEF9A46B-8F56-9BCE-BB49-C7A8EF7DE62C}"/>
              </a:ext>
            </a:extLst>
          </p:cNvPr>
          <p:cNvSpPr/>
          <p:nvPr/>
        </p:nvSpPr>
        <p:spPr bwMode="auto">
          <a:xfrm>
            <a:off x="2617145" y="3783486"/>
            <a:ext cx="992503" cy="610852"/>
          </a:xfrm>
          <a:prstGeom prst="rect">
            <a:avLst/>
          </a:prstGeom>
          <a:solidFill>
            <a:srgbClr val="CC9900">
              <a:alpha val="30196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C1A3B095-4174-249D-0F32-B39F37582E52}"/>
              </a:ext>
            </a:extLst>
          </p:cNvPr>
          <p:cNvSpPr/>
          <p:nvPr/>
        </p:nvSpPr>
        <p:spPr bwMode="auto">
          <a:xfrm>
            <a:off x="3915019" y="5728377"/>
            <a:ext cx="220375" cy="610852"/>
          </a:xfrm>
          <a:prstGeom prst="rect">
            <a:avLst/>
          </a:prstGeom>
          <a:solidFill>
            <a:srgbClr val="CC9900">
              <a:alpha val="30196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22B122F-2FE9-B250-7D27-D70F94B5B8CC}"/>
              </a:ext>
            </a:extLst>
          </p:cNvPr>
          <p:cNvSpPr/>
          <p:nvPr/>
        </p:nvSpPr>
        <p:spPr bwMode="auto">
          <a:xfrm>
            <a:off x="411753" y="1269442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２</a:t>
            </a:r>
          </a:p>
        </p:txBody>
      </p:sp>
    </p:spTree>
    <p:extLst>
      <p:ext uri="{BB962C8B-B14F-4D97-AF65-F5344CB8AC3E}">
        <p14:creationId xmlns:p14="http://schemas.microsoft.com/office/powerpoint/2010/main" val="965047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77460-602D-11DB-9939-EFFB0B238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EAC601-6525-1D1F-6EDF-E418C9D870C3}"/>
              </a:ext>
            </a:extLst>
          </p:cNvPr>
          <p:cNvSpPr txBox="1">
            <a:spLocks/>
          </p:cNvSpPr>
          <p:nvPr/>
        </p:nvSpPr>
        <p:spPr>
          <a:xfrm>
            <a:off x="762000" y="1203306"/>
            <a:ext cx="7396729" cy="55759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ja-JP" altLang="en-US" b="1" kern="0" dirty="0"/>
              <a:t>関数 </a:t>
            </a:r>
            <a:r>
              <a:rPr lang="en-US" altLang="ja-JP" b="1" kern="0" dirty="0"/>
              <a:t>draw_graph1</a:t>
            </a:r>
            <a:r>
              <a:rPr lang="ja-JP" altLang="en-US" b="1" kern="0" dirty="0"/>
              <a:t>　</a:t>
            </a:r>
            <a:r>
              <a:rPr lang="en-US" altLang="ja-JP" sz="2400" kern="0" dirty="0"/>
              <a:t>d</a:t>
            </a:r>
            <a:r>
              <a:rPr lang="ja-JP" altLang="en-US" sz="2400" kern="0" dirty="0"/>
              <a:t>の散布図をかく</a:t>
            </a:r>
            <a:endParaRPr lang="en-US" altLang="ja-JP" sz="2400" kern="0" dirty="0"/>
          </a:p>
          <a:p>
            <a:pPr marL="0" indent="0">
              <a:buNone/>
            </a:pP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ja-JP" sz="2000" kern="0" dirty="0">
              <a:solidFill>
                <a:schemeClr val="accent6"/>
              </a:solidFill>
            </a:endParaRP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B1505EBD-5BB3-9BB0-A8D8-750082522D2A}"/>
              </a:ext>
            </a:extLst>
          </p:cNvPr>
          <p:cNvSpPr txBox="1">
            <a:spLocks/>
          </p:cNvSpPr>
          <p:nvPr/>
        </p:nvSpPr>
        <p:spPr>
          <a:xfrm>
            <a:off x="762000" y="2143598"/>
            <a:ext cx="4680604" cy="4343341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2400" kern="0" dirty="0"/>
              <a:t>マーカーを用意する</a:t>
            </a:r>
            <a:endParaRPr lang="en-US" altLang="ja-JP" sz="2400" kern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   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markers: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形 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colors: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色 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m: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マーカー番号</a:t>
            </a: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   ↓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R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の記号と番号の対応</a:t>
            </a: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		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（</a:t>
            </a:r>
            <a:r>
              <a:rPr lang="en-US" altLang="ja-JP" sz="1800" kern="0" dirty="0" err="1">
                <a:solidFill>
                  <a:schemeClr val="accent3">
                    <a:lumMod val="50000"/>
                  </a:schemeClr>
                </a:solidFill>
              </a:rPr>
              <a:t>Rdocumentation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）より</a:t>
            </a:r>
            <a:endParaRPr lang="en-US" altLang="ja-JP" sz="2400" kern="0" dirty="0"/>
          </a:p>
          <a:p>
            <a:r>
              <a:rPr lang="ja-JP" altLang="en-US" sz="2400" kern="0" dirty="0">
                <a:solidFill>
                  <a:schemeClr val="accent4"/>
                </a:solidFill>
              </a:rPr>
              <a:t>図を用意する</a:t>
            </a:r>
            <a:endParaRPr lang="en-US" altLang="ja-JP" sz="2400" kern="0" dirty="0">
              <a:solidFill>
                <a:schemeClr val="accent4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  横軸：</a:t>
            </a: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xd 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縦軸</a:t>
            </a: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:yd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   NULL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の図</a:t>
            </a: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: type = n</a:t>
            </a:r>
            <a:endParaRPr lang="en-US" altLang="ja-JP" sz="2400" kern="0" dirty="0">
              <a:solidFill>
                <a:schemeClr val="accent4"/>
              </a:solidFill>
            </a:endParaRPr>
          </a:p>
          <a:p>
            <a:r>
              <a:rPr lang="ja-JP" altLang="en-US" sz="2400" kern="0" dirty="0">
                <a:solidFill>
                  <a:schemeClr val="accent4"/>
                </a:solidFill>
              </a:rPr>
              <a:t>打点する</a:t>
            </a:r>
            <a:endParaRPr lang="en-US" altLang="ja-JP" sz="1800" kern="0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   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unique(yd)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ごとにループ</a:t>
            </a: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   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１行につき１打点</a:t>
            </a: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   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行数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:n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、マーカー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:m</a:t>
            </a:r>
            <a:endParaRPr lang="en-US" altLang="ja-JP" sz="2400" kern="0" dirty="0"/>
          </a:p>
          <a:p>
            <a:endParaRPr lang="en-US" altLang="ja-JP" sz="2400" kern="0" dirty="0"/>
          </a:p>
          <a:p>
            <a:pPr marL="0" indent="0">
              <a:buNone/>
            </a:pPr>
            <a:endParaRPr lang="en-US" altLang="ja-JP" sz="2400" kern="0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B31667A-D314-284E-C92F-E1BBBCC78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elephant.ipynb</a:t>
            </a:r>
            <a:endParaRPr kumimoji="1" lang="ja-JP" altLang="en-US" dirty="0"/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5ECE7812-4C24-8C76-FFDC-36614A2FFA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826205"/>
              </p:ext>
            </p:extLst>
          </p:nvPr>
        </p:nvGraphicFramePr>
        <p:xfrm>
          <a:off x="5205615" y="4841592"/>
          <a:ext cx="6601211" cy="1970824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439931">
                  <a:extLst>
                    <a:ext uri="{9D8B030D-6E8A-4147-A177-3AD203B41FA5}">
                      <a16:colId xmlns:a16="http://schemas.microsoft.com/office/drawing/2014/main" val="165235932"/>
                    </a:ext>
                  </a:extLst>
                </a:gridCol>
                <a:gridCol w="2695787">
                  <a:extLst>
                    <a:ext uri="{9D8B030D-6E8A-4147-A177-3AD203B41FA5}">
                      <a16:colId xmlns:a16="http://schemas.microsoft.com/office/drawing/2014/main" val="1387312990"/>
                    </a:ext>
                  </a:extLst>
                </a:gridCol>
                <a:gridCol w="2465493">
                  <a:extLst>
                    <a:ext uri="{9D8B030D-6E8A-4147-A177-3AD203B41FA5}">
                      <a16:colId xmlns:a16="http://schemas.microsoft.com/office/drawing/2014/main" val="2241803932"/>
                    </a:ext>
                  </a:extLst>
                </a:gridCol>
              </a:tblGrid>
              <a:tr h="320922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Python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R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4329"/>
                  </a:ext>
                </a:extLst>
              </a:tr>
              <a:tr h="280807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図の生成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fig = </a:t>
                      </a:r>
                      <a:r>
                        <a:rPr kumimoji="1" lang="en-US" altLang="ja-JP" sz="1500" dirty="0" err="1"/>
                        <a:t>plt.figure</a:t>
                      </a:r>
                      <a:r>
                        <a:rPr kumimoji="1" lang="en-US" altLang="ja-JP" sz="1500" dirty="0"/>
                        <a:t>(</a:t>
                      </a:r>
                      <a:r>
                        <a:rPr kumimoji="1" lang="ja-JP" altLang="en-US" sz="1500" dirty="0"/>
                        <a:t>番号</a:t>
                      </a:r>
                      <a:r>
                        <a:rPr kumimoji="1" lang="en-US" altLang="ja-JP" sz="1500" dirty="0"/>
                        <a:t>, </a:t>
                      </a:r>
                      <a:r>
                        <a:rPr kumimoji="1" lang="en-US" altLang="ja-JP" sz="1500" dirty="0" err="1"/>
                        <a:t>figsize</a:t>
                      </a:r>
                      <a:r>
                        <a:rPr kumimoji="1" lang="en-US" altLang="ja-JP" sz="1500" dirty="0"/>
                        <a:t>)</a:t>
                      </a:r>
                      <a:endParaRPr kumimoji="1" lang="ja-JP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plot(</a:t>
                      </a:r>
                      <a:r>
                        <a:rPr kumimoji="1" lang="en-US" altLang="ja-JP" sz="1500" dirty="0" err="1"/>
                        <a:t>x,y,type</a:t>
                      </a:r>
                      <a:r>
                        <a:rPr kumimoji="1" lang="en-US" altLang="ja-JP" sz="15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238374"/>
                  </a:ext>
                </a:extLst>
              </a:tr>
              <a:tr h="280807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図形の描写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plt.scater</a:t>
                      </a:r>
                      <a:r>
                        <a:rPr kumimoji="1" lang="en-US" altLang="ja-JP" sz="1500" dirty="0"/>
                        <a:t>(</a:t>
                      </a:r>
                      <a:r>
                        <a:rPr kumimoji="1" lang="en-US" altLang="ja-JP" sz="1500" dirty="0" err="1"/>
                        <a:t>x,y,m,c,z,edgec</a:t>
                      </a:r>
                      <a:r>
                        <a:rPr kumimoji="1" lang="en-US" altLang="ja-JP" sz="1500" dirty="0"/>
                        <a:t>)</a:t>
                      </a:r>
                      <a:endParaRPr kumimoji="1" lang="ja-JP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points(</a:t>
                      </a:r>
                      <a:r>
                        <a:rPr kumimoji="1" lang="en-US" altLang="ja-JP" sz="1500" dirty="0" err="1"/>
                        <a:t>x,y,pch,col</a:t>
                      </a:r>
                      <a:r>
                        <a:rPr kumimoji="1" lang="en-US" altLang="ja-JP" sz="15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439253"/>
                  </a:ext>
                </a:extLst>
              </a:tr>
              <a:tr h="280807">
                <a:tc>
                  <a:txBody>
                    <a:bodyPr/>
                    <a:lstStyle/>
                    <a:p>
                      <a:r>
                        <a:rPr kumimoji="1" lang="en-US" altLang="ja-JP" sz="1500" b="0" dirty="0">
                          <a:solidFill>
                            <a:schemeClr val="tx1"/>
                          </a:solidFill>
                        </a:rPr>
                        <a:t>for</a:t>
                      </a:r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文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for </a:t>
                      </a:r>
                      <a:r>
                        <a:rPr kumimoji="1" lang="en-US" altLang="ja-JP" sz="1500" dirty="0" err="1"/>
                        <a:t>i</a:t>
                      </a:r>
                      <a:r>
                        <a:rPr kumimoji="1" lang="en-US" altLang="ja-JP" sz="1500" dirty="0"/>
                        <a:t> in </a:t>
                      </a:r>
                      <a:r>
                        <a:rPr kumimoji="1" lang="ja-JP" altLang="en-US" sz="1500" dirty="0"/>
                        <a:t>〇</a:t>
                      </a:r>
                      <a:r>
                        <a:rPr kumimoji="1" lang="en-US" altLang="ja-JP" sz="1500" dirty="0"/>
                        <a:t>:</a:t>
                      </a:r>
                      <a:endParaRPr kumimoji="1" lang="ja-JP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for(</a:t>
                      </a:r>
                      <a:r>
                        <a:rPr kumimoji="1" lang="en-US" altLang="ja-JP" sz="1500" dirty="0" err="1"/>
                        <a:t>i</a:t>
                      </a:r>
                      <a:r>
                        <a:rPr kumimoji="1" lang="en-US" altLang="ja-JP" sz="1500" dirty="0"/>
                        <a:t> in </a:t>
                      </a:r>
                      <a:r>
                        <a:rPr kumimoji="1" lang="ja-JP" altLang="en-US" sz="1500" dirty="0"/>
                        <a:t>〇</a:t>
                      </a:r>
                      <a:r>
                        <a:rPr kumimoji="1" lang="en-US" altLang="ja-JP" sz="1500" dirty="0"/>
                        <a:t>){ 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07290"/>
                  </a:ext>
                </a:extLst>
              </a:tr>
              <a:tr h="324904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一致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np.where</a:t>
                      </a:r>
                      <a:r>
                        <a:rPr kumimoji="1" lang="en-US" altLang="ja-JP" sz="1500" dirty="0"/>
                        <a:t>(</a:t>
                      </a:r>
                      <a:r>
                        <a:rPr kumimoji="1" lang="ja-JP" altLang="en-US" sz="1500" dirty="0"/>
                        <a:t>〇 </a:t>
                      </a:r>
                      <a:r>
                        <a:rPr kumimoji="1" lang="en-US" altLang="ja-JP" sz="1500" dirty="0"/>
                        <a:t>== </a:t>
                      </a:r>
                      <a:r>
                        <a:rPr kumimoji="1" lang="ja-JP" altLang="en-US" sz="1500" dirty="0"/>
                        <a:t>△</a:t>
                      </a:r>
                      <a:r>
                        <a:rPr kumimoji="1" lang="en-US" altLang="ja-JP" sz="1500" dirty="0"/>
                        <a:t>)</a:t>
                      </a:r>
                      <a:endParaRPr kumimoji="1" lang="ja-JP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which(</a:t>
                      </a:r>
                      <a:r>
                        <a:rPr kumimoji="1" lang="ja-JP" altLang="en-US" sz="1500" dirty="0"/>
                        <a:t>〇 </a:t>
                      </a:r>
                      <a:r>
                        <a:rPr kumimoji="1" lang="en-US" altLang="ja-JP" sz="1500" dirty="0"/>
                        <a:t>== </a:t>
                      </a:r>
                      <a:r>
                        <a:rPr kumimoji="1" lang="ja-JP" altLang="en-US" sz="1500" dirty="0"/>
                        <a:t>△</a:t>
                      </a:r>
                      <a:r>
                        <a:rPr kumimoji="1" lang="en-US" altLang="ja-JP" sz="1500" dirty="0"/>
                        <a:t>)</a:t>
                      </a:r>
                      <a:endParaRPr kumimoji="1" lang="ja-JP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7436988"/>
                  </a:ext>
                </a:extLst>
              </a:tr>
              <a:tr h="280807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重複しない値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set(x)</a:t>
                      </a:r>
                      <a:endParaRPr kumimoji="1" lang="ja-JP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unique(x)</a:t>
                      </a:r>
                      <a:endParaRPr kumimoji="1" lang="ja-JP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394912"/>
                  </a:ext>
                </a:extLst>
              </a:tr>
            </a:tbl>
          </a:graphicData>
        </a:graphic>
      </p:graphicFrame>
      <p:pic>
        <p:nvPicPr>
          <p:cNvPr id="15" name="図 14">
            <a:extLst>
              <a:ext uri="{FF2B5EF4-FFF2-40B4-BE49-F238E27FC236}">
                <a16:creationId xmlns:a16="http://schemas.microsoft.com/office/drawing/2014/main" id="{11416C19-2E18-1C91-EE4F-389B58F57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030" y="3230288"/>
            <a:ext cx="4591516" cy="345834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F6EE943-8AD3-E112-D2A6-034902452A6F}"/>
              </a:ext>
            </a:extLst>
          </p:cNvPr>
          <p:cNvSpPr/>
          <p:nvPr/>
        </p:nvSpPr>
        <p:spPr bwMode="auto">
          <a:xfrm>
            <a:off x="5069406" y="1780442"/>
            <a:ext cx="5212770" cy="150018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5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Python</a:t>
            </a:r>
            <a:endParaRPr kumimoji="1" lang="ja-JP" altLang="en-US" sz="15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859BD46-0327-5F01-00A5-072F1C1F51FD}"/>
              </a:ext>
            </a:extLst>
          </p:cNvPr>
          <p:cNvSpPr/>
          <p:nvPr/>
        </p:nvSpPr>
        <p:spPr bwMode="auto">
          <a:xfrm>
            <a:off x="5069406" y="3300408"/>
            <a:ext cx="5212770" cy="1500185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500" dirty="0">
                <a:solidFill>
                  <a:schemeClr val="accent4">
                    <a:lumMod val="65000"/>
                    <a:lumOff val="35000"/>
                  </a:schemeClr>
                </a:solidFill>
                <a:latin typeface="Arial" charset="0"/>
                <a:ea typeface="ＭＳ Ｐゴシック" pitchFamily="50" charset="-128"/>
              </a:rPr>
              <a:t>R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C45FFD4-C85B-6C94-F77E-45E3B551B23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4633"/>
          <a:stretch/>
        </p:blipFill>
        <p:spPr>
          <a:xfrm>
            <a:off x="5366403" y="2105950"/>
            <a:ext cx="4262377" cy="1118393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DCD988D0-95DF-7B34-5CF4-CA02DA348B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1938" y="1068277"/>
            <a:ext cx="2579673" cy="1644021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D6BA76A8-1CEE-E52D-8F05-2C519C47A9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0952" y="2895620"/>
            <a:ext cx="2049911" cy="2001181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5C5090DD-6FD9-C4D3-F906-CC51E0088F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6858" y="3449101"/>
            <a:ext cx="4333152" cy="1273311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18FF8B3-0E36-5798-7641-B416CF04BCA3}"/>
              </a:ext>
            </a:extLst>
          </p:cNvPr>
          <p:cNvSpPr/>
          <p:nvPr/>
        </p:nvSpPr>
        <p:spPr bwMode="auto">
          <a:xfrm>
            <a:off x="411753" y="1309982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３</a:t>
            </a:r>
          </a:p>
        </p:txBody>
      </p:sp>
    </p:spTree>
    <p:extLst>
      <p:ext uri="{BB962C8B-B14F-4D97-AF65-F5344CB8AC3E}">
        <p14:creationId xmlns:p14="http://schemas.microsoft.com/office/powerpoint/2010/main" val="2708880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C8073-E444-51DF-CE36-45100F5D2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A60E52-4A48-8A44-9D10-73F89E54D7B5}"/>
              </a:ext>
            </a:extLst>
          </p:cNvPr>
          <p:cNvSpPr txBox="1">
            <a:spLocks/>
          </p:cNvSpPr>
          <p:nvPr/>
        </p:nvSpPr>
        <p:spPr>
          <a:xfrm>
            <a:off x="762000" y="1203306"/>
            <a:ext cx="7396729" cy="55759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ja-JP" altLang="en-US" b="1" kern="0" dirty="0"/>
              <a:t>図を保存する</a:t>
            </a: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ja-JP" sz="2000" kern="0" dirty="0">
              <a:solidFill>
                <a:schemeClr val="accent6"/>
              </a:solidFill>
            </a:endParaRP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C5352A9B-147A-270B-B02A-4A45E1AABB12}"/>
              </a:ext>
            </a:extLst>
          </p:cNvPr>
          <p:cNvSpPr txBox="1">
            <a:spLocks/>
          </p:cNvSpPr>
          <p:nvPr/>
        </p:nvSpPr>
        <p:spPr>
          <a:xfrm>
            <a:off x="762000" y="2143599"/>
            <a:ext cx="4680604" cy="1361602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2400" kern="0" dirty="0"/>
              <a:t>図を表示</a:t>
            </a:r>
            <a:endParaRPr lang="en-US" altLang="ja-JP" sz="2400" kern="0" dirty="0"/>
          </a:p>
          <a:p>
            <a:r>
              <a:rPr lang="ja-JP" altLang="en-US" sz="2400" kern="0" dirty="0"/>
              <a:t>図を保存</a:t>
            </a:r>
            <a:endParaRPr lang="en-US" altLang="ja-JP" sz="2400" kern="0" dirty="0"/>
          </a:p>
          <a:p>
            <a:pPr marL="0" indent="0">
              <a:buNone/>
            </a:pPr>
            <a:r>
              <a:rPr lang="en-US" altLang="ja-JP" sz="2400" kern="0" dirty="0"/>
              <a:t>   </a:t>
            </a:r>
            <a:r>
              <a:rPr lang="en-US" altLang="ja-JP" sz="1800" kern="0" dirty="0" err="1">
                <a:solidFill>
                  <a:schemeClr val="accent3">
                    <a:lumMod val="50000"/>
                  </a:schemeClr>
                </a:solidFill>
              </a:rPr>
              <a:t>png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形式、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jpg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形式の２パターンで保存</a:t>
            </a:r>
            <a:endParaRPr lang="en-US" altLang="ja-JP" sz="2400" kern="0" dirty="0"/>
          </a:p>
          <a:p>
            <a:pPr marL="0" indent="0">
              <a:buNone/>
            </a:pPr>
            <a:endParaRPr lang="en-US" altLang="ja-JP" sz="2400" kern="0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4908C1C-E1BE-7B66-9AE3-98D91F13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elephant.ipynb</a:t>
            </a:r>
            <a:endParaRPr kumimoji="1" lang="ja-JP" altLang="en-US" dirty="0"/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2BB8C37D-34E4-940C-5C11-2E0CC3E595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989761"/>
              </p:ext>
            </p:extLst>
          </p:nvPr>
        </p:nvGraphicFramePr>
        <p:xfrm>
          <a:off x="7153151" y="1930313"/>
          <a:ext cx="4749737" cy="146304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997268">
                  <a:extLst>
                    <a:ext uri="{9D8B030D-6E8A-4147-A177-3AD203B41FA5}">
                      <a16:colId xmlns:a16="http://schemas.microsoft.com/office/drawing/2014/main" val="165235932"/>
                    </a:ext>
                  </a:extLst>
                </a:gridCol>
                <a:gridCol w="2083862">
                  <a:extLst>
                    <a:ext uri="{9D8B030D-6E8A-4147-A177-3AD203B41FA5}">
                      <a16:colId xmlns:a16="http://schemas.microsoft.com/office/drawing/2014/main" val="1387312990"/>
                    </a:ext>
                  </a:extLst>
                </a:gridCol>
                <a:gridCol w="1668607">
                  <a:extLst>
                    <a:ext uri="{9D8B030D-6E8A-4147-A177-3AD203B41FA5}">
                      <a16:colId xmlns:a16="http://schemas.microsoft.com/office/drawing/2014/main" val="2241803932"/>
                    </a:ext>
                  </a:extLst>
                </a:gridCol>
              </a:tblGrid>
              <a:tr h="320922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Python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R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4329"/>
                  </a:ext>
                </a:extLst>
              </a:tr>
              <a:tr h="280807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図の表示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plt.show</a:t>
                      </a:r>
                      <a:endParaRPr kumimoji="1" lang="ja-JP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 dirty="0"/>
                        <a:t>自動表示</a:t>
                      </a:r>
                      <a:endParaRPr kumimoji="1" lang="en-US" altLang="ja-JP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238374"/>
                  </a:ext>
                </a:extLst>
              </a:tr>
              <a:tr h="280807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図の保存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fig.saving</a:t>
                      </a:r>
                      <a:r>
                        <a:rPr kumimoji="1" lang="en-US" altLang="ja-JP" sz="1500" dirty="0"/>
                        <a:t>(“</a:t>
                      </a:r>
                      <a:r>
                        <a:rPr kumimoji="1" lang="ja-JP" altLang="en-US" sz="1500" dirty="0"/>
                        <a:t>図の名称</a:t>
                      </a:r>
                      <a:r>
                        <a:rPr kumimoji="1" lang="en-US" altLang="ja-JP" sz="1500" dirty="0"/>
                        <a:t>”)</a:t>
                      </a:r>
                      <a:endParaRPr kumimoji="1" lang="ja-JP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png</a:t>
                      </a:r>
                      <a:r>
                        <a:rPr kumimoji="1" lang="en-US" altLang="ja-JP" sz="1500" dirty="0"/>
                        <a:t>(“</a:t>
                      </a:r>
                      <a:r>
                        <a:rPr kumimoji="1" lang="ja-JP" altLang="en-US" sz="1500" dirty="0"/>
                        <a:t>図の名称</a:t>
                      </a:r>
                      <a:r>
                        <a:rPr kumimoji="1" lang="en-US" altLang="ja-JP" sz="1500" dirty="0"/>
                        <a:t>”)</a:t>
                      </a:r>
                    </a:p>
                    <a:p>
                      <a:r>
                        <a:rPr kumimoji="1" lang="ja-JP" altLang="en-US" sz="1500" dirty="0"/>
                        <a:t>図</a:t>
                      </a:r>
                      <a:endParaRPr kumimoji="1" lang="en-US" altLang="ja-JP" sz="1500" dirty="0"/>
                    </a:p>
                    <a:p>
                      <a:r>
                        <a:rPr kumimoji="1" lang="en-US" altLang="ja-JP" sz="1500" dirty="0" err="1"/>
                        <a:t>dev.off</a:t>
                      </a:r>
                      <a:r>
                        <a:rPr kumimoji="1" lang="en-US" altLang="ja-JP" sz="1500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439253"/>
                  </a:ext>
                </a:extLst>
              </a:tr>
            </a:tbl>
          </a:graphicData>
        </a:graphic>
      </p:graphicFrame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082B75C-8B32-C889-B5AA-7E197128E2D2}"/>
              </a:ext>
            </a:extLst>
          </p:cNvPr>
          <p:cNvSpPr/>
          <p:nvPr/>
        </p:nvSpPr>
        <p:spPr bwMode="auto">
          <a:xfrm>
            <a:off x="2978588" y="1930313"/>
            <a:ext cx="2060263" cy="113644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5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Python</a:t>
            </a:r>
            <a:endParaRPr kumimoji="1" lang="ja-JP" altLang="en-US" sz="15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1056466-E41D-8B4C-8C91-CDACA1D6D7B1}"/>
              </a:ext>
            </a:extLst>
          </p:cNvPr>
          <p:cNvSpPr/>
          <p:nvPr/>
        </p:nvSpPr>
        <p:spPr bwMode="auto">
          <a:xfrm>
            <a:off x="5121320" y="1930313"/>
            <a:ext cx="1780322" cy="1136442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500" dirty="0">
                <a:solidFill>
                  <a:schemeClr val="accent4">
                    <a:lumMod val="65000"/>
                    <a:lumOff val="35000"/>
                  </a:schemeClr>
                </a:solidFill>
                <a:latin typeface="Arial" charset="0"/>
                <a:ea typeface="ＭＳ Ｐゴシック" pitchFamily="50" charset="-128"/>
              </a:rPr>
              <a:t>R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20E03F0-72B3-788A-D55F-1D2C1929A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8760" y="2296831"/>
            <a:ext cx="1638529" cy="619211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0802A5AE-C392-7A58-20FE-B090AC1FC9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618"/>
          <a:stretch>
            <a:fillRect/>
          </a:stretch>
        </p:blipFill>
        <p:spPr>
          <a:xfrm>
            <a:off x="5442604" y="1963755"/>
            <a:ext cx="1257475" cy="1083433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051310CA-DAD2-4205-F6B5-0737A9D3CAAE}"/>
              </a:ext>
            </a:extLst>
          </p:cNvPr>
          <p:cNvSpPr txBox="1">
            <a:spLocks/>
          </p:cNvSpPr>
          <p:nvPr/>
        </p:nvSpPr>
        <p:spPr>
          <a:xfrm>
            <a:off x="762000" y="3718487"/>
            <a:ext cx="7396729" cy="55759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ja-JP" altLang="en-US" b="1" kern="0" dirty="0"/>
              <a:t>データを分類する</a:t>
            </a:r>
            <a:endParaRPr lang="en-US" altLang="ja-JP" sz="2000" kern="0" dirty="0">
              <a:solidFill>
                <a:schemeClr val="accent6"/>
              </a:solidFill>
            </a:endParaRPr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147A513C-9CEA-3CC9-79B7-BB05B2F4B426}"/>
              </a:ext>
            </a:extLst>
          </p:cNvPr>
          <p:cNvSpPr txBox="1">
            <a:spLocks/>
          </p:cNvSpPr>
          <p:nvPr/>
        </p:nvSpPr>
        <p:spPr>
          <a:xfrm>
            <a:off x="762000" y="4658779"/>
            <a:ext cx="4680604" cy="3271549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2400" kern="0" dirty="0"/>
              <a:t>学習用データ </a:t>
            </a:r>
            <a:r>
              <a:rPr lang="en-US" altLang="ja-JP" sz="2400" kern="0" dirty="0" err="1"/>
              <a:t>x_train,y_train</a:t>
            </a:r>
            <a:endParaRPr lang="en-US" altLang="ja-JP" sz="2400" kern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   データ全体の８割に設定　</a:t>
            </a:r>
            <a:r>
              <a:rPr lang="en-US" altLang="ja-JP" sz="1800" kern="0" dirty="0" err="1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train_index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を使用</a:t>
            </a:r>
            <a:endParaRPr lang="en-US" altLang="ja-JP" sz="2400" kern="0" dirty="0"/>
          </a:p>
          <a:p>
            <a:r>
              <a:rPr lang="ja-JP" altLang="en-US" sz="2400" kern="0" dirty="0"/>
              <a:t>テスト用データ </a:t>
            </a:r>
            <a:r>
              <a:rPr lang="en-US" altLang="ja-JP" sz="2400" kern="0" dirty="0" err="1"/>
              <a:t>x_test,y_test</a:t>
            </a:r>
            <a:endParaRPr lang="en-US" altLang="ja-JP" sz="2400" kern="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ja-JP" sz="2400" kern="0" dirty="0"/>
              <a:t>   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データ全体の２割に設定　</a:t>
            </a: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   </a:t>
            </a:r>
            <a:r>
              <a:rPr lang="en-US" altLang="ja-JP" sz="1800" kern="0" dirty="0" err="1">
                <a:solidFill>
                  <a:schemeClr val="accent3">
                    <a:lumMod val="50000"/>
                  </a:schemeClr>
                </a:solidFill>
              </a:rPr>
              <a:t>train_index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以外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(-</a:t>
            </a:r>
            <a:r>
              <a:rPr lang="en-US" altLang="ja-JP" sz="1800" kern="0" dirty="0" err="1">
                <a:solidFill>
                  <a:schemeClr val="accent3">
                    <a:lumMod val="50000"/>
                  </a:schemeClr>
                </a:solidFill>
              </a:rPr>
              <a:t>train_index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)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を使用</a:t>
            </a:r>
            <a:endParaRPr lang="en-US" altLang="ja-JP" sz="2400" kern="0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6495E51-2B2A-3307-3F1A-247667BF3F30}"/>
              </a:ext>
            </a:extLst>
          </p:cNvPr>
          <p:cNvSpPr/>
          <p:nvPr/>
        </p:nvSpPr>
        <p:spPr bwMode="auto">
          <a:xfrm>
            <a:off x="5630546" y="3740838"/>
            <a:ext cx="6270510" cy="75310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5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Python</a:t>
            </a:r>
            <a:endParaRPr kumimoji="1" lang="ja-JP" altLang="en-US" sz="15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C3CE713-496B-EDC3-D6F8-91CC3D0A06F1}"/>
              </a:ext>
            </a:extLst>
          </p:cNvPr>
          <p:cNvSpPr/>
          <p:nvPr/>
        </p:nvSpPr>
        <p:spPr bwMode="auto">
          <a:xfrm>
            <a:off x="5630546" y="4530742"/>
            <a:ext cx="6270510" cy="1260909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500" dirty="0">
                <a:solidFill>
                  <a:schemeClr val="accent4">
                    <a:lumMod val="65000"/>
                    <a:lumOff val="35000"/>
                  </a:schemeClr>
                </a:solidFill>
                <a:latin typeface="Arial" charset="0"/>
                <a:ea typeface="ＭＳ Ｐゴシック" pitchFamily="50" charset="-128"/>
              </a:rPr>
              <a:t>R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4D8CD5B2-3A25-05CD-0BBC-3EDD5EED76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2138" y="4142716"/>
            <a:ext cx="6087325" cy="26673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DEFBD0EF-1B57-757C-26DB-8A1953E6CB9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099"/>
          <a:stretch/>
        </p:blipFill>
        <p:spPr>
          <a:xfrm>
            <a:off x="6185692" y="4609683"/>
            <a:ext cx="4220164" cy="1116963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18B7A36-F1E4-C434-CC7B-9BB076B47992}"/>
              </a:ext>
            </a:extLst>
          </p:cNvPr>
          <p:cNvSpPr/>
          <p:nvPr/>
        </p:nvSpPr>
        <p:spPr bwMode="auto">
          <a:xfrm>
            <a:off x="4684120" y="5870592"/>
            <a:ext cx="2076036" cy="8676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charset="0"/>
                <a:ea typeface="ＭＳ Ｐゴシック" pitchFamily="50" charset="-128"/>
              </a:rPr>
              <a:t>複数回実行したときの</a:t>
            </a:r>
            <a:endParaRPr kumimoji="1" lang="en-US" altLang="ja-JP" sz="1200" b="0" i="0" u="none" strike="noStrike" cap="none" normalizeH="0" baseline="0" dirty="0">
              <a:ln>
                <a:noFill/>
              </a:ln>
              <a:solidFill>
                <a:schemeClr val="accent4"/>
              </a:solidFill>
              <a:effectLst/>
              <a:latin typeface="Arial" charset="0"/>
              <a:ea typeface="ＭＳ Ｐゴシック" pitchFamily="50" charset="-128"/>
            </a:endParaRPr>
          </a:p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charset="0"/>
                <a:ea typeface="ＭＳ Ｐゴシック" pitchFamily="50" charset="-128"/>
              </a:rPr>
              <a:t>結果が同じになるように、</a:t>
            </a:r>
            <a:endParaRPr kumimoji="1" lang="en-US" altLang="ja-JP" sz="1200" b="0" i="0" u="none" strike="noStrike" cap="none" normalizeH="0" baseline="0" dirty="0">
              <a:ln>
                <a:noFill/>
              </a:ln>
              <a:solidFill>
                <a:schemeClr val="accent4"/>
              </a:solidFill>
              <a:effectLst/>
              <a:latin typeface="Arial" charset="0"/>
              <a:ea typeface="ＭＳ Ｐゴシック" pitchFamily="50" charset="-128"/>
            </a:endParaRPr>
          </a:p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charset="0"/>
                <a:ea typeface="ＭＳ Ｐゴシック" pitchFamily="50" charset="-128"/>
              </a:rPr>
              <a:t>それぞれのデータを</a:t>
            </a:r>
            <a:endParaRPr kumimoji="1" lang="en-US" altLang="ja-JP" sz="1200" b="0" i="0" u="none" strike="noStrike" cap="none" normalizeH="0" baseline="0" dirty="0">
              <a:ln>
                <a:noFill/>
              </a:ln>
              <a:solidFill>
                <a:schemeClr val="accent4"/>
              </a:solidFill>
              <a:effectLst/>
              <a:latin typeface="Arial" charset="0"/>
              <a:ea typeface="ＭＳ Ｐゴシック" pitchFamily="50" charset="-128"/>
            </a:endParaRPr>
          </a:p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charset="0"/>
                <a:ea typeface="ＭＳ Ｐゴシック" pitchFamily="50" charset="-128"/>
              </a:rPr>
              <a:t>抽出する際の乱数を指定する</a:t>
            </a: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F017264B-18F9-509A-95BF-8FC0262348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326847"/>
              </p:ext>
            </p:extLst>
          </p:nvPr>
        </p:nvGraphicFramePr>
        <p:xfrm>
          <a:off x="6803757" y="5722023"/>
          <a:ext cx="5079036" cy="1016243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326567">
                  <a:extLst>
                    <a:ext uri="{9D8B030D-6E8A-4147-A177-3AD203B41FA5}">
                      <a16:colId xmlns:a16="http://schemas.microsoft.com/office/drawing/2014/main" val="165235932"/>
                    </a:ext>
                  </a:extLst>
                </a:gridCol>
                <a:gridCol w="2083862">
                  <a:extLst>
                    <a:ext uri="{9D8B030D-6E8A-4147-A177-3AD203B41FA5}">
                      <a16:colId xmlns:a16="http://schemas.microsoft.com/office/drawing/2014/main" val="1387312990"/>
                    </a:ext>
                  </a:extLst>
                </a:gridCol>
                <a:gridCol w="1668607">
                  <a:extLst>
                    <a:ext uri="{9D8B030D-6E8A-4147-A177-3AD203B41FA5}">
                      <a16:colId xmlns:a16="http://schemas.microsoft.com/office/drawing/2014/main" val="2241803932"/>
                    </a:ext>
                  </a:extLst>
                </a:gridCol>
              </a:tblGrid>
              <a:tr h="376163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Python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R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4329"/>
                  </a:ext>
                </a:extLst>
              </a:tr>
              <a:tr h="280807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乱数の種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random state</a:t>
                      </a:r>
                      <a:endParaRPr kumimoji="1" lang="ja-JP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set.seed</a:t>
                      </a:r>
                      <a:r>
                        <a:rPr kumimoji="1" lang="en-US" altLang="ja-JP" sz="1500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238374"/>
                  </a:ext>
                </a:extLst>
              </a:tr>
              <a:tr h="280807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データの分割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split()</a:t>
                      </a:r>
                      <a:endParaRPr kumimoji="1" lang="ja-JP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439253"/>
                  </a:ext>
                </a:extLst>
              </a:tr>
            </a:tbl>
          </a:graphicData>
        </a:graphic>
      </p:graphicFrame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A8AEBABA-F0A7-1FF9-87DB-020F7DFC9CD7}"/>
              </a:ext>
            </a:extLst>
          </p:cNvPr>
          <p:cNvCxnSpPr/>
          <p:nvPr/>
        </p:nvCxnSpPr>
        <p:spPr bwMode="auto">
          <a:xfrm>
            <a:off x="609600" y="3600204"/>
            <a:ext cx="1129145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BCE3D97B-FE77-3139-2FE3-BA07CFB679E1}"/>
              </a:ext>
            </a:extLst>
          </p:cNvPr>
          <p:cNvSpPr/>
          <p:nvPr/>
        </p:nvSpPr>
        <p:spPr bwMode="auto">
          <a:xfrm>
            <a:off x="434476" y="3807056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４</a:t>
            </a:r>
          </a:p>
        </p:txBody>
      </p:sp>
    </p:spTree>
    <p:extLst>
      <p:ext uri="{BB962C8B-B14F-4D97-AF65-F5344CB8AC3E}">
        <p14:creationId xmlns:p14="http://schemas.microsoft.com/office/powerpoint/2010/main" val="2307191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C8073-E444-51DF-CE36-45100F5D2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A60E52-4A48-8A44-9D10-73F89E54D7B5}"/>
              </a:ext>
            </a:extLst>
          </p:cNvPr>
          <p:cNvSpPr txBox="1">
            <a:spLocks/>
          </p:cNvSpPr>
          <p:nvPr/>
        </p:nvSpPr>
        <p:spPr>
          <a:xfrm>
            <a:off x="762000" y="1203306"/>
            <a:ext cx="7396729" cy="55759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ja-JP" altLang="en-US" b="1" kern="0" dirty="0"/>
              <a:t>正解率を出す</a:t>
            </a:r>
            <a:endParaRPr lang="en-US" altLang="ja-JP" sz="2000" kern="0" dirty="0">
              <a:solidFill>
                <a:schemeClr val="accent6"/>
              </a:solidFill>
            </a:endParaRP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C5352A9B-147A-270B-B02A-4A45E1AABB12}"/>
              </a:ext>
            </a:extLst>
          </p:cNvPr>
          <p:cNvSpPr txBox="1">
            <a:spLocks/>
          </p:cNvSpPr>
          <p:nvPr/>
        </p:nvSpPr>
        <p:spPr>
          <a:xfrm>
            <a:off x="762000" y="2143598"/>
            <a:ext cx="4680604" cy="4090947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ja-JP" sz="2400" kern="0" dirty="0"/>
              <a:t>train</a:t>
            </a:r>
            <a:r>
              <a:rPr lang="ja-JP" altLang="en-US" sz="2400" kern="0" dirty="0"/>
              <a:t>を正規化する</a:t>
            </a:r>
            <a:endParaRPr lang="en-US" altLang="ja-JP" sz="2400" kern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   </a:t>
            </a: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x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：</a:t>
            </a:r>
            <a:r>
              <a:rPr lang="en-US" altLang="ja-JP" sz="1800" kern="0" dirty="0" err="1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x_train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の正規化</a:t>
            </a:r>
            <a:endParaRPr lang="en-US" altLang="ja-JP" sz="1800" kern="0" dirty="0">
              <a:solidFill>
                <a:srgbClr val="FFFFFF">
                  <a:lumMod val="50000"/>
                </a:srgbClr>
              </a:solidFill>
              <a:latin typeface="Arial"/>
              <a:ea typeface="ＭＳ Ｐゴシック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   y:y_train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そのまま</a:t>
            </a:r>
            <a:endParaRPr lang="en-US" altLang="ja-JP" sz="2400" kern="0" dirty="0"/>
          </a:p>
          <a:p>
            <a:r>
              <a:rPr lang="en-US" altLang="ja-JP" sz="2400" kern="0" dirty="0"/>
              <a:t>SVM</a:t>
            </a:r>
            <a:r>
              <a:rPr lang="ja-JP" altLang="en-US" sz="2400" kern="0" dirty="0"/>
              <a:t>で学習させる</a:t>
            </a:r>
            <a:endParaRPr lang="en-US" altLang="ja-JP" sz="2400" kern="0" dirty="0"/>
          </a:p>
          <a:p>
            <a:pPr marL="0" indent="0">
              <a:buNone/>
            </a:pP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   </a:t>
            </a:r>
            <a:r>
              <a:rPr lang="en-US" altLang="ja-JP" sz="1800" kern="0" dirty="0" err="1">
                <a:solidFill>
                  <a:schemeClr val="accent3">
                    <a:lumMod val="50000"/>
                  </a:schemeClr>
                </a:solidFill>
              </a:rPr>
              <a:t>model:x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と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y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の関係を学習</a:t>
            </a: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ja-JP" altLang="en-US" sz="2400" kern="0" dirty="0"/>
              <a:t>学習データを予測する</a:t>
            </a:r>
            <a:endParaRPr lang="en-US" altLang="ja-JP" sz="2400" kern="0" dirty="0"/>
          </a:p>
          <a:p>
            <a:pPr marL="0" indent="0">
              <a:buNone/>
            </a:pP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   </a:t>
            </a:r>
            <a:r>
              <a:rPr lang="en-US" altLang="ja-JP" sz="1800" kern="0" dirty="0" err="1">
                <a:solidFill>
                  <a:schemeClr val="accent3">
                    <a:lumMod val="50000"/>
                  </a:schemeClr>
                </a:solidFill>
              </a:rPr>
              <a:t>y_pred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: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ｘのときのｙを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model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で予測</a:t>
            </a: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ja-JP" altLang="en-US" sz="2400" kern="0" dirty="0"/>
              <a:t>正解率を出す</a:t>
            </a:r>
            <a:r>
              <a:rPr lang="en-US" altLang="ja-JP" sz="2400" kern="0" dirty="0"/>
              <a:t>   </a:t>
            </a:r>
          </a:p>
          <a:p>
            <a:pPr marL="0" indent="0">
              <a:buNone/>
            </a:pP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   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予測の正答率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(y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と</a:t>
            </a:r>
            <a:r>
              <a:rPr lang="en-US" altLang="ja-JP" sz="1800" kern="0" dirty="0" err="1">
                <a:solidFill>
                  <a:schemeClr val="accent3">
                    <a:lumMod val="50000"/>
                  </a:schemeClr>
                </a:solidFill>
              </a:rPr>
              <a:t>y_pred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の一致率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)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を計算</a:t>
            </a: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4908C1C-E1BE-7B66-9AE3-98D91F13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elephant.ipynb</a:t>
            </a:r>
            <a:endParaRPr kumimoji="1" lang="ja-JP" altLang="en-US" dirty="0"/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2BB8C37D-34E4-940C-5C11-2E0CC3E595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749910"/>
              </p:ext>
            </p:extLst>
          </p:nvPr>
        </p:nvGraphicFramePr>
        <p:xfrm>
          <a:off x="6145186" y="4648286"/>
          <a:ext cx="5079036" cy="1016243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326567">
                  <a:extLst>
                    <a:ext uri="{9D8B030D-6E8A-4147-A177-3AD203B41FA5}">
                      <a16:colId xmlns:a16="http://schemas.microsoft.com/office/drawing/2014/main" val="165235932"/>
                    </a:ext>
                  </a:extLst>
                </a:gridCol>
                <a:gridCol w="2083862">
                  <a:extLst>
                    <a:ext uri="{9D8B030D-6E8A-4147-A177-3AD203B41FA5}">
                      <a16:colId xmlns:a16="http://schemas.microsoft.com/office/drawing/2014/main" val="1387312990"/>
                    </a:ext>
                  </a:extLst>
                </a:gridCol>
                <a:gridCol w="1668607">
                  <a:extLst>
                    <a:ext uri="{9D8B030D-6E8A-4147-A177-3AD203B41FA5}">
                      <a16:colId xmlns:a16="http://schemas.microsoft.com/office/drawing/2014/main" val="2241803932"/>
                    </a:ext>
                  </a:extLst>
                </a:gridCol>
              </a:tblGrid>
              <a:tr h="376163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Python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R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4329"/>
                  </a:ext>
                </a:extLst>
              </a:tr>
              <a:tr h="280807">
                <a:tc>
                  <a:txBody>
                    <a:bodyPr/>
                    <a:lstStyle/>
                    <a:p>
                      <a:r>
                        <a:rPr kumimoji="1" lang="en-US" altLang="ja-JP" sz="1500" b="0" dirty="0">
                          <a:solidFill>
                            <a:schemeClr val="tx1"/>
                          </a:solidFill>
                        </a:rPr>
                        <a:t>SVM</a:t>
                      </a:r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予測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clf.predict</a:t>
                      </a:r>
                      <a:r>
                        <a:rPr kumimoji="1" lang="en-US" altLang="ja-JP" sz="1500" dirty="0"/>
                        <a:t>()</a:t>
                      </a:r>
                      <a:endParaRPr kumimoji="1" lang="ja-JP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predict()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802238"/>
                  </a:ext>
                </a:extLst>
              </a:tr>
              <a:tr h="280807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正答率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accuracy_score</a:t>
                      </a:r>
                      <a:r>
                        <a:rPr kumimoji="1" lang="en-US" altLang="ja-JP" sz="1500" dirty="0"/>
                        <a:t>(</a:t>
                      </a:r>
                      <a:r>
                        <a:rPr kumimoji="1" lang="en-US" altLang="ja-JP" sz="1500" dirty="0" err="1"/>
                        <a:t>a,b</a:t>
                      </a:r>
                      <a:r>
                        <a:rPr kumimoji="1" lang="en-US" altLang="ja-JP" sz="1500" dirty="0"/>
                        <a:t>)</a:t>
                      </a:r>
                      <a:endParaRPr kumimoji="1" lang="ja-JP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mean(a == 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439253"/>
                  </a:ext>
                </a:extLst>
              </a:tr>
            </a:tbl>
          </a:graphicData>
        </a:graphic>
      </p:graphicFrame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082B75C-8B32-C889-B5AA-7E197128E2D2}"/>
              </a:ext>
            </a:extLst>
          </p:cNvPr>
          <p:cNvSpPr/>
          <p:nvPr/>
        </p:nvSpPr>
        <p:spPr bwMode="auto">
          <a:xfrm>
            <a:off x="5648698" y="1754035"/>
            <a:ext cx="2157454" cy="225888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5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Python</a:t>
            </a:r>
            <a:endParaRPr kumimoji="1" lang="ja-JP" altLang="en-US" sz="15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1056466-E41D-8B4C-8C91-CDACA1D6D7B1}"/>
              </a:ext>
            </a:extLst>
          </p:cNvPr>
          <p:cNvSpPr/>
          <p:nvPr/>
        </p:nvSpPr>
        <p:spPr bwMode="auto">
          <a:xfrm>
            <a:off x="8070905" y="1754035"/>
            <a:ext cx="3300438" cy="2258886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500" dirty="0">
                <a:solidFill>
                  <a:schemeClr val="accent4">
                    <a:lumMod val="65000"/>
                    <a:lumOff val="35000"/>
                  </a:schemeClr>
                </a:solidFill>
                <a:latin typeface="Arial" charset="0"/>
                <a:ea typeface="ＭＳ Ｐゴシック" pitchFamily="50" charset="-128"/>
              </a:rPr>
              <a:t>R</a:t>
            </a:r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F7FE8AE3-BC53-EB08-8F92-20D493168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823" y="2088407"/>
            <a:ext cx="2800741" cy="1390844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27CC82B5-9298-BA24-8B0E-4BB5C619B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9985" y="2152545"/>
            <a:ext cx="1981477" cy="419158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2520CCB8-0D13-51BB-25A5-6EEFF23C6C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9985" y="2649846"/>
            <a:ext cx="1695687" cy="809738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A915B007-EA6E-52DF-5CDD-93E9A6647E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6801" y="3587579"/>
            <a:ext cx="562053" cy="257211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2BBBE738-7A44-402D-E210-CFD0985175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0878" y="3558999"/>
            <a:ext cx="1514686" cy="314369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C948626-1957-02AC-6344-559A0463458C}"/>
              </a:ext>
            </a:extLst>
          </p:cNvPr>
          <p:cNvSpPr/>
          <p:nvPr/>
        </p:nvSpPr>
        <p:spPr bwMode="auto">
          <a:xfrm>
            <a:off x="411753" y="1336110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b="1" dirty="0">
                <a:solidFill>
                  <a:schemeClr val="accent3"/>
                </a:solidFill>
                <a:latin typeface="Arial" charset="0"/>
                <a:ea typeface="ＭＳ Ｐゴシック" pitchFamily="50" charset="-128"/>
              </a:rPr>
              <a:t>５</a:t>
            </a:r>
            <a:endParaRPr kumimoji="1" lang="ja-JP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70037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77460-602D-11DB-9939-EFFB0B238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EAC601-6525-1D1F-6EDF-E418C9D870C3}"/>
              </a:ext>
            </a:extLst>
          </p:cNvPr>
          <p:cNvSpPr txBox="1">
            <a:spLocks/>
          </p:cNvSpPr>
          <p:nvPr/>
        </p:nvSpPr>
        <p:spPr>
          <a:xfrm>
            <a:off x="762000" y="1203306"/>
            <a:ext cx="7396729" cy="55759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ja-JP" altLang="en-US" b="1" kern="0" dirty="0"/>
              <a:t>関数 </a:t>
            </a:r>
            <a:r>
              <a:rPr lang="en-US" altLang="ja-JP" b="1" kern="0" dirty="0"/>
              <a:t>draw_graph2</a:t>
            </a:r>
            <a:r>
              <a:rPr lang="ja-JP" altLang="en-US" b="1" kern="0" dirty="0"/>
              <a:t>　</a:t>
            </a:r>
            <a:r>
              <a:rPr lang="ja-JP" altLang="en-US" sz="2400" b="1" kern="0" dirty="0"/>
              <a:t>境界線</a:t>
            </a:r>
            <a:r>
              <a:rPr lang="ja-JP" altLang="en-US" sz="2400" kern="0" dirty="0"/>
              <a:t>をかく</a:t>
            </a:r>
            <a:endParaRPr lang="en-US" altLang="ja-JP" sz="2400" kern="0" dirty="0"/>
          </a:p>
          <a:p>
            <a:pPr marL="0" indent="0">
              <a:buNone/>
            </a:pP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ja-JP" sz="2000" kern="0" dirty="0">
              <a:solidFill>
                <a:schemeClr val="accent6"/>
              </a:solidFill>
            </a:endParaRP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B1505EBD-5BB3-9BB0-A8D8-750082522D2A}"/>
              </a:ext>
            </a:extLst>
          </p:cNvPr>
          <p:cNvSpPr txBox="1">
            <a:spLocks/>
          </p:cNvSpPr>
          <p:nvPr/>
        </p:nvSpPr>
        <p:spPr>
          <a:xfrm>
            <a:off x="762000" y="2143598"/>
            <a:ext cx="4680604" cy="4343341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2400" kern="0" dirty="0"/>
              <a:t>マーカーを用意する</a:t>
            </a:r>
            <a:endParaRPr lang="en-US" altLang="ja-JP" sz="2400" kern="0" dirty="0"/>
          </a:p>
          <a:p>
            <a:r>
              <a:rPr lang="ja-JP" altLang="en-US" sz="2400" kern="0" dirty="0">
                <a:solidFill>
                  <a:schemeClr val="accent4"/>
                </a:solidFill>
              </a:rPr>
              <a:t>図を用意する</a:t>
            </a:r>
            <a:endParaRPr lang="en-US" altLang="ja-JP" sz="2400" kern="0" dirty="0">
              <a:solidFill>
                <a:schemeClr val="accent4"/>
              </a:solidFill>
            </a:endParaRPr>
          </a:p>
          <a:p>
            <a:r>
              <a:rPr lang="ja-JP" altLang="en-US" sz="2400" kern="0" dirty="0">
                <a:solidFill>
                  <a:schemeClr val="accent4"/>
                </a:solidFill>
              </a:rPr>
              <a:t>打点する</a:t>
            </a:r>
            <a:endParaRPr lang="en-US" altLang="ja-JP" sz="2400" kern="0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    draw_graph1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のときと同じ</a:t>
            </a: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B31667A-D314-284E-C92F-E1BBBCC78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elephant.ipynb</a:t>
            </a:r>
            <a:endParaRPr kumimoji="1" lang="ja-JP" alt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F6EE943-8AD3-E112-D2A6-034902452A6F}"/>
              </a:ext>
            </a:extLst>
          </p:cNvPr>
          <p:cNvSpPr/>
          <p:nvPr/>
        </p:nvSpPr>
        <p:spPr bwMode="auto">
          <a:xfrm>
            <a:off x="5060700" y="1815314"/>
            <a:ext cx="7031550" cy="22775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5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Python</a:t>
            </a:r>
            <a:endParaRPr kumimoji="1" lang="ja-JP" altLang="en-US" sz="15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859BD46-0327-5F01-00A5-072F1C1F51FD}"/>
              </a:ext>
            </a:extLst>
          </p:cNvPr>
          <p:cNvSpPr/>
          <p:nvPr/>
        </p:nvSpPr>
        <p:spPr bwMode="auto">
          <a:xfrm>
            <a:off x="5060700" y="4132573"/>
            <a:ext cx="7131300" cy="2354366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500" dirty="0">
                <a:solidFill>
                  <a:schemeClr val="accent4">
                    <a:lumMod val="65000"/>
                    <a:lumOff val="35000"/>
                  </a:schemeClr>
                </a:solidFill>
                <a:latin typeface="Arial" charset="0"/>
                <a:ea typeface="ＭＳ Ｐゴシック" pitchFamily="50" charset="-128"/>
              </a:rPr>
              <a:t>R</a:t>
            </a:r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53373858-6418-5FE8-30DD-B05EA6AD9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898" y="2154795"/>
            <a:ext cx="6230219" cy="189574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ED23475D-952A-5A76-443F-ABABD9019B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1365" y="4384097"/>
            <a:ext cx="6182588" cy="514422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C8935BAC-C400-C223-AFD6-715D5439DA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1365" y="5035482"/>
            <a:ext cx="4601217" cy="1238423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EE29EF3-6CD0-E291-4C4D-DE17F6DF7124}"/>
              </a:ext>
            </a:extLst>
          </p:cNvPr>
          <p:cNvSpPr/>
          <p:nvPr/>
        </p:nvSpPr>
        <p:spPr bwMode="auto">
          <a:xfrm>
            <a:off x="425681" y="1336110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6</a:t>
            </a:r>
            <a:endParaRPr kumimoji="1" lang="ja-JP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5292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77460-602D-11DB-9939-EFFB0B238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B1505EBD-5BB3-9BB0-A8D8-750082522D2A}"/>
              </a:ext>
            </a:extLst>
          </p:cNvPr>
          <p:cNvSpPr txBox="1">
            <a:spLocks/>
          </p:cNvSpPr>
          <p:nvPr/>
        </p:nvSpPr>
        <p:spPr>
          <a:xfrm>
            <a:off x="762000" y="2143598"/>
            <a:ext cx="4680604" cy="4343341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2400" kern="0" dirty="0"/>
              <a:t>グラフ範囲を指定</a:t>
            </a:r>
            <a:endParaRPr lang="en-US" altLang="ja-JP" sz="2400" kern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   データの存在する範囲に限定する</a:t>
            </a: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ja-JP" altLang="en-US" sz="2400" kern="0" dirty="0">
                <a:solidFill>
                  <a:schemeClr val="accent4"/>
                </a:solidFill>
              </a:rPr>
              <a:t>格子状にする</a:t>
            </a:r>
            <a:endParaRPr lang="en-US" altLang="ja-JP" sz="2400" kern="0" dirty="0">
              <a:solidFill>
                <a:schemeClr val="accent4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   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予測する点をすべて表せるように分ける</a:t>
            </a:r>
            <a:endParaRPr lang="en-US" altLang="ja-JP" sz="2400" kern="0" dirty="0">
              <a:solidFill>
                <a:schemeClr val="accent4"/>
              </a:solidFill>
            </a:endParaRPr>
          </a:p>
          <a:p>
            <a:r>
              <a:rPr lang="ja-JP" altLang="en-US" sz="2400" kern="0" dirty="0">
                <a:solidFill>
                  <a:schemeClr val="accent4"/>
                </a:solidFill>
              </a:rPr>
              <a:t>予測する</a:t>
            </a:r>
            <a:endParaRPr lang="en-US" altLang="ja-JP" sz="2400" kern="0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   格子点ごとに</a:t>
            </a:r>
            <a:r>
              <a:rPr lang="en-US" altLang="ja-JP" sz="1800" kern="0" dirty="0" err="1">
                <a:solidFill>
                  <a:schemeClr val="accent3">
                    <a:lumMod val="50000"/>
                  </a:schemeClr>
                </a:solidFill>
              </a:rPr>
              <a:t>svm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で予測する</a:t>
            </a: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   →１列で返ってくるので、行列に戻す</a:t>
            </a:r>
            <a:endParaRPr lang="en-US" altLang="ja-JP" sz="2400" kern="0" dirty="0"/>
          </a:p>
          <a:p>
            <a:pPr marL="0" indent="0">
              <a:buNone/>
            </a:pPr>
            <a:endParaRPr lang="en-US" altLang="ja-JP" sz="2400" kern="0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B31667A-D314-284E-C92F-E1BBBCC78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elephant.ipynb</a:t>
            </a:r>
            <a:endParaRPr kumimoji="1" lang="ja-JP" altLang="en-US" dirty="0"/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5ECE7812-4C24-8C76-FFDC-36614A2FFA0A}"/>
              </a:ext>
            </a:extLst>
          </p:cNvPr>
          <p:cNvGraphicFramePr>
            <a:graphicFrameLocks noGrp="1"/>
          </p:cNvGraphicFramePr>
          <p:nvPr/>
        </p:nvGraphicFramePr>
        <p:xfrm>
          <a:off x="2795394" y="5014588"/>
          <a:ext cx="6601211" cy="132588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439931">
                  <a:extLst>
                    <a:ext uri="{9D8B030D-6E8A-4147-A177-3AD203B41FA5}">
                      <a16:colId xmlns:a16="http://schemas.microsoft.com/office/drawing/2014/main" val="165235932"/>
                    </a:ext>
                  </a:extLst>
                </a:gridCol>
                <a:gridCol w="2695787">
                  <a:extLst>
                    <a:ext uri="{9D8B030D-6E8A-4147-A177-3AD203B41FA5}">
                      <a16:colId xmlns:a16="http://schemas.microsoft.com/office/drawing/2014/main" val="1387312990"/>
                    </a:ext>
                  </a:extLst>
                </a:gridCol>
                <a:gridCol w="2465493">
                  <a:extLst>
                    <a:ext uri="{9D8B030D-6E8A-4147-A177-3AD203B41FA5}">
                      <a16:colId xmlns:a16="http://schemas.microsoft.com/office/drawing/2014/main" val="2241803932"/>
                    </a:ext>
                  </a:extLst>
                </a:gridCol>
              </a:tblGrid>
              <a:tr h="320922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Python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R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4329"/>
                  </a:ext>
                </a:extLst>
              </a:tr>
              <a:tr h="280807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数列作成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np.mgrid</a:t>
                      </a:r>
                      <a:endParaRPr kumimoji="1" lang="ja-JP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seq()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238374"/>
                  </a:ext>
                </a:extLst>
              </a:tr>
              <a:tr h="280807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格子作成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np.mgrid</a:t>
                      </a:r>
                      <a:endParaRPr kumimoji="1" lang="ja-JP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expand.grid</a:t>
                      </a:r>
                      <a:r>
                        <a:rPr kumimoji="1" lang="en-US" altLang="ja-JP" sz="1500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439253"/>
                  </a:ext>
                </a:extLst>
              </a:tr>
              <a:tr h="280807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行列に変形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reshape()</a:t>
                      </a:r>
                      <a:endParaRPr kumimoji="1" lang="ja-JP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matrix()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07290"/>
                  </a:ext>
                </a:extLst>
              </a:tr>
            </a:tbl>
          </a:graphicData>
        </a:graphic>
      </p:graphicFrame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F6EE943-8AD3-E112-D2A6-034902452A6F}"/>
              </a:ext>
            </a:extLst>
          </p:cNvPr>
          <p:cNvSpPr/>
          <p:nvPr/>
        </p:nvSpPr>
        <p:spPr bwMode="auto">
          <a:xfrm>
            <a:off x="4969656" y="1760904"/>
            <a:ext cx="7031550" cy="150018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5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Python</a:t>
            </a:r>
            <a:endParaRPr kumimoji="1" lang="ja-JP" altLang="en-US" sz="15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859BD46-0327-5F01-00A5-072F1C1F51FD}"/>
              </a:ext>
            </a:extLst>
          </p:cNvPr>
          <p:cNvSpPr/>
          <p:nvPr/>
        </p:nvSpPr>
        <p:spPr bwMode="auto">
          <a:xfrm>
            <a:off x="4969656" y="3336886"/>
            <a:ext cx="7131300" cy="1591374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500" dirty="0">
                <a:solidFill>
                  <a:schemeClr val="accent4">
                    <a:lumMod val="65000"/>
                    <a:lumOff val="35000"/>
                  </a:schemeClr>
                </a:solidFill>
                <a:latin typeface="Arial" charset="0"/>
                <a:ea typeface="ＭＳ Ｐゴシック" pitchFamily="50" charset="-128"/>
              </a:rPr>
              <a:t>R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02F4896-25FF-AAEC-9516-4FEE99740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9875" y="2124060"/>
            <a:ext cx="1352739" cy="924054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0BCE7AD2-1F20-B36E-12F5-1C38A5E70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5862" y="3723126"/>
            <a:ext cx="1619476" cy="828791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392943BC-56C8-0755-311E-DA9017D910A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6865" b="83603"/>
          <a:stretch/>
        </p:blipFill>
        <p:spPr>
          <a:xfrm>
            <a:off x="6601794" y="2029402"/>
            <a:ext cx="3593294" cy="184323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F07D0E4B-512E-634A-F3FC-79D628581B9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35400" b="62205"/>
          <a:stretch/>
        </p:blipFill>
        <p:spPr>
          <a:xfrm>
            <a:off x="6701544" y="3423214"/>
            <a:ext cx="3464742" cy="712900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8EFA23E5-CF2A-41F1-4BA4-FDF8938DEA1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6770"/>
          <a:stretch/>
        </p:blipFill>
        <p:spPr>
          <a:xfrm>
            <a:off x="6587788" y="2272195"/>
            <a:ext cx="3886742" cy="897018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086DAEEC-11A9-F0B5-E4E1-D564B5DF6D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1544" y="4170895"/>
            <a:ext cx="5315692" cy="695422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A6AFB36B-9BEA-8ADA-73CA-79A30DAEA32F}"/>
              </a:ext>
            </a:extLst>
          </p:cNvPr>
          <p:cNvSpPr txBox="1">
            <a:spLocks/>
          </p:cNvSpPr>
          <p:nvPr/>
        </p:nvSpPr>
        <p:spPr>
          <a:xfrm>
            <a:off x="762000" y="1203306"/>
            <a:ext cx="7396729" cy="55759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ja-JP" altLang="en-US" b="1" kern="0" dirty="0"/>
              <a:t>関数 </a:t>
            </a:r>
            <a:r>
              <a:rPr lang="en-US" altLang="ja-JP" b="1" kern="0" dirty="0"/>
              <a:t>draw_graph2</a:t>
            </a:r>
            <a:r>
              <a:rPr lang="ja-JP" altLang="en-US" b="1" kern="0" dirty="0"/>
              <a:t>　</a:t>
            </a:r>
            <a:r>
              <a:rPr lang="ja-JP" altLang="en-US" sz="2400" b="1" kern="0" dirty="0"/>
              <a:t>境界線</a:t>
            </a:r>
            <a:r>
              <a:rPr lang="ja-JP" altLang="en-US" sz="2400" kern="0" dirty="0"/>
              <a:t>をかく</a:t>
            </a:r>
            <a:endParaRPr lang="en-US" altLang="ja-JP" sz="2400" kern="0" dirty="0"/>
          </a:p>
          <a:p>
            <a:pPr marL="0" indent="0">
              <a:buNone/>
            </a:pP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ja-JP" sz="2000" kern="0" dirty="0">
              <a:solidFill>
                <a:schemeClr val="accent6"/>
              </a:solidFill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60DF10C-157D-D1C9-B90A-8FEE6575F008}"/>
              </a:ext>
            </a:extLst>
          </p:cNvPr>
          <p:cNvSpPr/>
          <p:nvPr/>
        </p:nvSpPr>
        <p:spPr bwMode="auto">
          <a:xfrm>
            <a:off x="434476" y="1309982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6</a:t>
            </a:r>
            <a:endParaRPr kumimoji="1" lang="ja-JP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58452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77460-602D-11DB-9939-EFFB0B238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859BD46-0327-5F01-00A5-072F1C1F51FD}"/>
              </a:ext>
            </a:extLst>
          </p:cNvPr>
          <p:cNvSpPr/>
          <p:nvPr/>
        </p:nvSpPr>
        <p:spPr bwMode="auto">
          <a:xfrm>
            <a:off x="4969656" y="3578683"/>
            <a:ext cx="7131300" cy="166234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500" dirty="0">
                <a:solidFill>
                  <a:schemeClr val="accent4">
                    <a:lumMod val="65000"/>
                    <a:lumOff val="35000"/>
                  </a:schemeClr>
                </a:solidFill>
                <a:latin typeface="Arial" charset="0"/>
                <a:ea typeface="ＭＳ Ｐゴシック" pitchFamily="50" charset="-128"/>
              </a:rPr>
              <a:t>R</a:t>
            </a: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B1505EBD-5BB3-9BB0-A8D8-750082522D2A}"/>
              </a:ext>
            </a:extLst>
          </p:cNvPr>
          <p:cNvSpPr txBox="1">
            <a:spLocks/>
          </p:cNvSpPr>
          <p:nvPr/>
        </p:nvSpPr>
        <p:spPr>
          <a:xfrm>
            <a:off x="762000" y="2143598"/>
            <a:ext cx="4680604" cy="4343341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2400" kern="0" dirty="0"/>
              <a:t>背景色</a:t>
            </a:r>
            <a:endParaRPr lang="en-US" altLang="ja-JP" sz="2400" kern="0" dirty="0"/>
          </a:p>
          <a:p>
            <a:pPr marL="0" indent="0">
              <a:buNone/>
            </a:pP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   データの存在する範囲に限定する</a:t>
            </a: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ja-JP" altLang="en-US" sz="2400" kern="0" dirty="0">
                <a:solidFill>
                  <a:schemeClr val="accent4"/>
                </a:solidFill>
              </a:rPr>
              <a:t>境界線</a:t>
            </a:r>
            <a:endParaRPr lang="en-US" altLang="ja-JP" sz="2400" kern="0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   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予測する点をすべて表せるように分ける</a:t>
            </a: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ja-JP" altLang="en-US" sz="2400" kern="0" dirty="0">
                <a:solidFill>
                  <a:schemeClr val="accent4"/>
                </a:solidFill>
              </a:rPr>
              <a:t>図の表示・保存</a:t>
            </a:r>
            <a:endParaRPr lang="en-US" altLang="ja-JP" sz="2400" kern="0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en-US" altLang="ja-JP" sz="2400" kern="0" dirty="0">
                <a:solidFill>
                  <a:schemeClr val="accent4"/>
                </a:solidFill>
              </a:rPr>
              <a:t>   </a:t>
            </a:r>
            <a:endParaRPr lang="en-US" altLang="ja-JP" sz="2400" kern="0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B31667A-D314-284E-C92F-E1BBBCC78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elephant.ipynb</a:t>
            </a:r>
            <a:endParaRPr kumimoji="1" lang="ja-JP" alt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F6EE943-8AD3-E112-D2A6-034902452A6F}"/>
              </a:ext>
            </a:extLst>
          </p:cNvPr>
          <p:cNvSpPr/>
          <p:nvPr/>
        </p:nvSpPr>
        <p:spPr bwMode="auto">
          <a:xfrm>
            <a:off x="4969656" y="1793537"/>
            <a:ext cx="7031550" cy="166233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5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Python</a:t>
            </a:r>
            <a:endParaRPr kumimoji="1" lang="ja-JP" altLang="en-US" sz="15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2A2CEB70-B136-5C09-AFDF-C20FE95C45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5881"/>
          <a:stretch/>
        </p:blipFill>
        <p:spPr>
          <a:xfrm>
            <a:off x="5391617" y="2193012"/>
            <a:ext cx="3143689" cy="407684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8A17DB9A-100A-50D7-42B0-7DC7043966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1617" y="3683724"/>
            <a:ext cx="4963218" cy="847843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0262575E-AEFA-37C5-F45A-13A7E5866D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7267" y="1152380"/>
            <a:ext cx="2306590" cy="2175074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A1A3289B-4AB0-BB8E-14F9-05655F908C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1617" y="2697600"/>
            <a:ext cx="1657581" cy="57158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A25A6EC-36DE-6D16-F73D-DE310C0FF6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80728" y="3683724"/>
            <a:ext cx="1257475" cy="1419423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5ECE7812-4C24-8C76-FFDC-36614A2FFA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533803"/>
              </p:ext>
            </p:extLst>
          </p:nvPr>
        </p:nvGraphicFramePr>
        <p:xfrm>
          <a:off x="1029336" y="4985733"/>
          <a:ext cx="3530789" cy="100584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835090">
                  <a:extLst>
                    <a:ext uri="{9D8B030D-6E8A-4147-A177-3AD203B41FA5}">
                      <a16:colId xmlns:a16="http://schemas.microsoft.com/office/drawing/2014/main" val="165235932"/>
                    </a:ext>
                  </a:extLst>
                </a:gridCol>
                <a:gridCol w="1603169">
                  <a:extLst>
                    <a:ext uri="{9D8B030D-6E8A-4147-A177-3AD203B41FA5}">
                      <a16:colId xmlns:a16="http://schemas.microsoft.com/office/drawing/2014/main" val="1387312990"/>
                    </a:ext>
                  </a:extLst>
                </a:gridCol>
                <a:gridCol w="1092530">
                  <a:extLst>
                    <a:ext uri="{9D8B030D-6E8A-4147-A177-3AD203B41FA5}">
                      <a16:colId xmlns:a16="http://schemas.microsoft.com/office/drawing/2014/main" val="2241803932"/>
                    </a:ext>
                  </a:extLst>
                </a:gridCol>
              </a:tblGrid>
              <a:tr h="337783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Python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R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4329"/>
                  </a:ext>
                </a:extLst>
              </a:tr>
              <a:tr h="280807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背景色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plt.pcolormesh</a:t>
                      </a:r>
                      <a:r>
                        <a:rPr kumimoji="1" lang="en-US" altLang="ja-JP" sz="1500" dirty="0"/>
                        <a:t>()</a:t>
                      </a:r>
                      <a:endParaRPr kumimoji="1" lang="ja-JP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image()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238374"/>
                  </a:ext>
                </a:extLst>
              </a:tr>
              <a:tr h="280807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境界線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plt.contour</a:t>
                      </a:r>
                      <a:r>
                        <a:rPr kumimoji="1" lang="en-US" altLang="ja-JP" sz="1500" dirty="0"/>
                        <a:t>()</a:t>
                      </a:r>
                      <a:endParaRPr kumimoji="1" lang="ja-JP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contour()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439253"/>
                  </a:ext>
                </a:extLst>
              </a:tr>
            </a:tbl>
          </a:graphicData>
        </a:graphic>
      </p:graphicFrame>
      <p:sp>
        <p:nvSpPr>
          <p:cNvPr id="27" name="コンテンツ プレースホルダー 2">
            <a:extLst>
              <a:ext uri="{FF2B5EF4-FFF2-40B4-BE49-F238E27FC236}">
                <a16:creationId xmlns:a16="http://schemas.microsoft.com/office/drawing/2014/main" id="{1DE5CB1C-B112-9574-8702-0790C04D1F88}"/>
              </a:ext>
            </a:extLst>
          </p:cNvPr>
          <p:cNvSpPr txBox="1">
            <a:spLocks/>
          </p:cNvSpPr>
          <p:nvPr/>
        </p:nvSpPr>
        <p:spPr>
          <a:xfrm>
            <a:off x="762000" y="1203306"/>
            <a:ext cx="7396729" cy="55759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ja-JP" altLang="en-US" b="1" kern="0" dirty="0"/>
              <a:t>関数 </a:t>
            </a:r>
            <a:r>
              <a:rPr lang="en-US" altLang="ja-JP" b="1" kern="0" dirty="0"/>
              <a:t>draw_graph2</a:t>
            </a:r>
            <a:r>
              <a:rPr lang="ja-JP" altLang="en-US" b="1" kern="0" dirty="0"/>
              <a:t>　</a:t>
            </a:r>
            <a:r>
              <a:rPr lang="ja-JP" altLang="en-US" sz="2400" b="1" kern="0" dirty="0"/>
              <a:t>境界線</a:t>
            </a:r>
            <a:r>
              <a:rPr lang="ja-JP" altLang="en-US" sz="2400" kern="0" dirty="0"/>
              <a:t>をかく</a:t>
            </a:r>
            <a:endParaRPr lang="en-US" altLang="ja-JP" sz="2400" kern="0" dirty="0"/>
          </a:p>
          <a:p>
            <a:pPr marL="0" indent="0">
              <a:buNone/>
            </a:pP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ja-JP" sz="2000" kern="0" dirty="0">
              <a:solidFill>
                <a:schemeClr val="accent6"/>
              </a:solidFill>
            </a:endParaRPr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0EA7A420-6A13-042E-490F-63B299624A7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9083" y="4586480"/>
            <a:ext cx="2054565" cy="2054565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B0804F9-7773-FD88-2350-63F8E79DB066}"/>
              </a:ext>
            </a:extLst>
          </p:cNvPr>
          <p:cNvSpPr/>
          <p:nvPr/>
        </p:nvSpPr>
        <p:spPr bwMode="auto">
          <a:xfrm>
            <a:off x="411753" y="1309982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6</a:t>
            </a:r>
            <a:endParaRPr kumimoji="1" lang="ja-JP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23018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77460-602D-11DB-9939-EFFB0B238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859BD46-0327-5F01-00A5-072F1C1F51FD}"/>
              </a:ext>
            </a:extLst>
          </p:cNvPr>
          <p:cNvSpPr/>
          <p:nvPr/>
        </p:nvSpPr>
        <p:spPr bwMode="auto">
          <a:xfrm>
            <a:off x="8541269" y="1760904"/>
            <a:ext cx="2903195" cy="166234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500" dirty="0">
                <a:solidFill>
                  <a:schemeClr val="accent4">
                    <a:lumMod val="65000"/>
                    <a:lumOff val="35000"/>
                  </a:schemeClr>
                </a:solidFill>
                <a:latin typeface="Arial" charset="0"/>
                <a:ea typeface="ＭＳ Ｐゴシック" pitchFamily="50" charset="-128"/>
              </a:rPr>
              <a:t>R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EAC601-6525-1D1F-6EDF-E418C9D870C3}"/>
              </a:ext>
            </a:extLst>
          </p:cNvPr>
          <p:cNvSpPr txBox="1">
            <a:spLocks/>
          </p:cNvSpPr>
          <p:nvPr/>
        </p:nvSpPr>
        <p:spPr>
          <a:xfrm>
            <a:off x="762000" y="1203306"/>
            <a:ext cx="7396729" cy="55759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ja-JP" altLang="en-US" b="1" kern="0" dirty="0"/>
              <a:t>正解率を出す </a:t>
            </a:r>
            <a:r>
              <a:rPr lang="ja-JP" altLang="en-US" sz="2400" kern="0" dirty="0"/>
              <a:t>テスト用データ</a:t>
            </a:r>
            <a:endParaRPr lang="en-US" altLang="ja-JP" sz="2400" kern="0" dirty="0"/>
          </a:p>
          <a:p>
            <a:pPr marL="0" indent="0">
              <a:buNone/>
            </a:pP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ja-JP" sz="2000" kern="0" dirty="0">
              <a:solidFill>
                <a:schemeClr val="accent6"/>
              </a:solidFill>
            </a:endParaRP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B1505EBD-5BB3-9BB0-A8D8-750082522D2A}"/>
              </a:ext>
            </a:extLst>
          </p:cNvPr>
          <p:cNvSpPr txBox="1">
            <a:spLocks/>
          </p:cNvSpPr>
          <p:nvPr/>
        </p:nvSpPr>
        <p:spPr>
          <a:xfrm>
            <a:off x="762000" y="2143598"/>
            <a:ext cx="4680604" cy="4343341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ja-JP" sz="2400" kern="0" dirty="0"/>
              <a:t>train</a:t>
            </a:r>
            <a:r>
              <a:rPr lang="ja-JP" altLang="en-US" sz="2400" kern="0" dirty="0"/>
              <a:t>を正規化する</a:t>
            </a:r>
            <a:endParaRPr lang="en-US" altLang="ja-JP" sz="2400" kern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4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   </a:t>
            </a: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x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：</a:t>
            </a:r>
            <a:r>
              <a:rPr lang="en-US" altLang="ja-JP" sz="1800" kern="0" dirty="0" err="1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x_test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の正規化</a:t>
            </a:r>
            <a:endParaRPr lang="en-US" altLang="ja-JP" sz="1800" kern="0" dirty="0">
              <a:solidFill>
                <a:srgbClr val="FFFFFF">
                  <a:lumMod val="50000"/>
                </a:srgbClr>
              </a:solidFill>
              <a:latin typeface="Arial"/>
              <a:ea typeface="ＭＳ Ｐゴシック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   y:y_test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そのまま</a:t>
            </a:r>
            <a:endParaRPr lang="en-US" altLang="ja-JP" sz="1800" kern="0" dirty="0"/>
          </a:p>
          <a:p>
            <a:r>
              <a:rPr lang="ja-JP" altLang="en-US" sz="2400" kern="0" dirty="0"/>
              <a:t>正解率を出す</a:t>
            </a:r>
            <a:r>
              <a:rPr lang="en-US" altLang="ja-JP" sz="2400" kern="0" dirty="0"/>
              <a:t>   </a:t>
            </a:r>
          </a:p>
          <a:p>
            <a:pPr marL="0" indent="0">
              <a:buNone/>
            </a:pP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   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予測の正答率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(y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と</a:t>
            </a:r>
            <a:r>
              <a:rPr lang="en-US" altLang="ja-JP" sz="1800" kern="0" dirty="0" err="1">
                <a:solidFill>
                  <a:schemeClr val="accent3">
                    <a:lumMod val="50000"/>
                  </a:schemeClr>
                </a:solidFill>
              </a:rPr>
              <a:t>y_pred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の一致率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)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を計算</a:t>
            </a: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ja-JP" sz="2400" kern="0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B31667A-D314-284E-C92F-E1BBBCC78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elephant.ipynb</a:t>
            </a:r>
            <a:endParaRPr kumimoji="1" lang="ja-JP" alt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F6EE943-8AD3-E112-D2A6-034902452A6F}"/>
              </a:ext>
            </a:extLst>
          </p:cNvPr>
          <p:cNvSpPr/>
          <p:nvPr/>
        </p:nvSpPr>
        <p:spPr bwMode="auto">
          <a:xfrm>
            <a:off x="5434942" y="1766740"/>
            <a:ext cx="2814941" cy="166233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5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Python</a:t>
            </a:r>
            <a:endParaRPr kumimoji="1" lang="ja-JP" altLang="en-US" sz="15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F418076-BACE-B5FC-DE9E-5B2B529C0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8774" y="2084168"/>
            <a:ext cx="2391109" cy="1162212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3E58D379-4A55-9484-D43C-3402FCFD8B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679" y="3090044"/>
            <a:ext cx="390580" cy="247685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68F93536-E35A-AA33-9BEA-2B20A1FF97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8443" y="2063272"/>
            <a:ext cx="2324424" cy="1133633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D6C6150F-8B06-067D-1E0F-BE461F207A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9434" y="3085991"/>
            <a:ext cx="1514686" cy="295316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E6F8411-0FC2-5624-4DB7-273CBA28A962}"/>
              </a:ext>
            </a:extLst>
          </p:cNvPr>
          <p:cNvSpPr/>
          <p:nvPr/>
        </p:nvSpPr>
        <p:spPr bwMode="auto">
          <a:xfrm>
            <a:off x="434476" y="1309982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b="1" dirty="0">
                <a:solidFill>
                  <a:schemeClr val="accent3"/>
                </a:solidFill>
                <a:latin typeface="Arial" charset="0"/>
                <a:ea typeface="ＭＳ Ｐゴシック" pitchFamily="50" charset="-128"/>
              </a:rPr>
              <a:t>7</a:t>
            </a:r>
            <a:endParaRPr kumimoji="1" lang="ja-JP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16444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77460-602D-11DB-9939-EFFB0B238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EAC601-6525-1D1F-6EDF-E418C9D870C3}"/>
              </a:ext>
            </a:extLst>
          </p:cNvPr>
          <p:cNvSpPr txBox="1">
            <a:spLocks/>
          </p:cNvSpPr>
          <p:nvPr/>
        </p:nvSpPr>
        <p:spPr>
          <a:xfrm>
            <a:off x="762000" y="1203306"/>
            <a:ext cx="7396729" cy="55759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ja-JP" altLang="en-US" b="1" kern="0" dirty="0"/>
              <a:t>関数 </a:t>
            </a:r>
            <a:r>
              <a:rPr lang="en-US" altLang="ja-JP" b="1" kern="0" dirty="0"/>
              <a:t>draw_graph3</a:t>
            </a:r>
            <a:r>
              <a:rPr lang="ja-JP" altLang="en-US" b="1" kern="0" dirty="0"/>
              <a:t>　</a:t>
            </a:r>
            <a:r>
              <a:rPr lang="en-US" altLang="ja-JP" sz="2400" kern="0" dirty="0"/>
              <a:t>test</a:t>
            </a:r>
            <a:r>
              <a:rPr lang="ja-JP" altLang="en-US" sz="2400" kern="0" dirty="0"/>
              <a:t>の散布図をかく</a:t>
            </a:r>
            <a:endParaRPr lang="en-US" altLang="ja-JP" sz="2400" kern="0" dirty="0"/>
          </a:p>
          <a:p>
            <a:pPr marL="0" indent="0">
              <a:buNone/>
            </a:pP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ja-JP" sz="2000" kern="0" dirty="0">
              <a:solidFill>
                <a:schemeClr val="accent6"/>
              </a:solidFill>
            </a:endParaRP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B1505EBD-5BB3-9BB0-A8D8-750082522D2A}"/>
              </a:ext>
            </a:extLst>
          </p:cNvPr>
          <p:cNvSpPr txBox="1">
            <a:spLocks/>
          </p:cNvSpPr>
          <p:nvPr/>
        </p:nvSpPr>
        <p:spPr>
          <a:xfrm>
            <a:off x="762000" y="2143598"/>
            <a:ext cx="4680604" cy="4343341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2400" kern="0" dirty="0"/>
              <a:t>図、マーカーを用意</a:t>
            </a:r>
            <a:endParaRPr lang="en-US" altLang="ja-JP" sz="2400" kern="0" dirty="0"/>
          </a:p>
          <a:p>
            <a:r>
              <a:rPr lang="ja-JP" altLang="en-US" sz="2400" kern="0" dirty="0">
                <a:solidFill>
                  <a:schemeClr val="accent4"/>
                </a:solidFill>
              </a:rPr>
              <a:t>データを正規化</a:t>
            </a:r>
            <a:endParaRPr lang="en-US" altLang="ja-JP" sz="2400" kern="0" dirty="0">
              <a:solidFill>
                <a:schemeClr val="accent4"/>
              </a:solidFill>
            </a:endParaRPr>
          </a:p>
          <a:p>
            <a:r>
              <a:rPr lang="ja-JP" altLang="en-US" sz="2400" kern="0" dirty="0">
                <a:solidFill>
                  <a:schemeClr val="accent4"/>
                </a:solidFill>
              </a:rPr>
              <a:t>データ範囲の設定</a:t>
            </a:r>
            <a:endParaRPr lang="en-US" altLang="ja-JP" sz="2400" kern="0" dirty="0">
              <a:solidFill>
                <a:schemeClr val="accent4"/>
              </a:solidFill>
            </a:endParaRPr>
          </a:p>
          <a:p>
            <a:r>
              <a:rPr lang="ja-JP" altLang="en-US" sz="2400" kern="0" dirty="0">
                <a:solidFill>
                  <a:schemeClr val="accent4"/>
                </a:solidFill>
              </a:rPr>
              <a:t>格子状のデータ作成</a:t>
            </a:r>
            <a:endParaRPr lang="en-US" altLang="ja-JP" sz="2400" kern="0" dirty="0">
              <a:solidFill>
                <a:schemeClr val="accent4"/>
              </a:solidFill>
            </a:endParaRPr>
          </a:p>
          <a:p>
            <a:r>
              <a:rPr lang="en-US" altLang="ja-JP" sz="2400" kern="0" dirty="0">
                <a:solidFill>
                  <a:schemeClr val="accent4"/>
                </a:solidFill>
              </a:rPr>
              <a:t>SVM</a:t>
            </a:r>
            <a:r>
              <a:rPr lang="ja-JP" altLang="en-US" sz="2400" kern="0" dirty="0">
                <a:solidFill>
                  <a:schemeClr val="accent4"/>
                </a:solidFill>
              </a:rPr>
              <a:t>で格子点を予測</a:t>
            </a:r>
            <a:endParaRPr lang="en-US" altLang="ja-JP" sz="2400" kern="0" dirty="0">
              <a:solidFill>
                <a:schemeClr val="accent4"/>
              </a:solidFill>
            </a:endParaRPr>
          </a:p>
          <a:p>
            <a:r>
              <a:rPr lang="ja-JP" altLang="en-US" sz="2400" kern="0" dirty="0">
                <a:solidFill>
                  <a:schemeClr val="accent4"/>
                </a:solidFill>
              </a:rPr>
              <a:t>背景色を塗る</a:t>
            </a:r>
            <a:endParaRPr lang="en-US" altLang="ja-JP" sz="2400" kern="0" dirty="0">
              <a:solidFill>
                <a:schemeClr val="accent4"/>
              </a:solidFill>
            </a:endParaRPr>
          </a:p>
          <a:p>
            <a:r>
              <a:rPr lang="ja-JP" altLang="en-US" sz="2400" kern="0" dirty="0">
                <a:solidFill>
                  <a:schemeClr val="accent4"/>
                </a:solidFill>
              </a:rPr>
              <a:t>境界線を引く</a:t>
            </a:r>
            <a:endParaRPr lang="en-US" altLang="ja-JP" sz="2400" kern="0" dirty="0">
              <a:solidFill>
                <a:schemeClr val="accent4"/>
              </a:solidFill>
            </a:endParaRPr>
          </a:p>
          <a:p>
            <a:r>
              <a:rPr lang="ja-JP" altLang="en-US" sz="2400" kern="0" dirty="0">
                <a:solidFill>
                  <a:schemeClr val="accent4"/>
                </a:solidFill>
              </a:rPr>
              <a:t>打点する</a:t>
            </a:r>
            <a:endParaRPr lang="en-US" altLang="ja-JP" sz="2400" kern="0" dirty="0">
              <a:solidFill>
                <a:schemeClr val="accent4"/>
              </a:solidFill>
            </a:endParaRPr>
          </a:p>
          <a:p>
            <a:r>
              <a:rPr lang="ja-JP" altLang="en-US" sz="2400" kern="0" dirty="0">
                <a:solidFill>
                  <a:schemeClr val="accent4"/>
                </a:solidFill>
              </a:rPr>
              <a:t>図を保存する</a:t>
            </a:r>
            <a:endParaRPr lang="en-US" altLang="ja-JP" sz="2400" kern="0" dirty="0">
              <a:solidFill>
                <a:schemeClr val="accent4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B31667A-D314-284E-C92F-E1BBBCC78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elephant.ipynb</a:t>
            </a:r>
            <a:endParaRPr kumimoji="1" lang="ja-JP" alt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F6EE943-8AD3-E112-D2A6-034902452A6F}"/>
              </a:ext>
            </a:extLst>
          </p:cNvPr>
          <p:cNvSpPr/>
          <p:nvPr/>
        </p:nvSpPr>
        <p:spPr bwMode="auto">
          <a:xfrm>
            <a:off x="4969656" y="1838671"/>
            <a:ext cx="3544952" cy="43433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5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Python</a:t>
            </a:r>
            <a:endParaRPr kumimoji="1" lang="ja-JP" altLang="en-US" sz="15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859BD46-0327-5F01-00A5-072F1C1F51FD}"/>
              </a:ext>
            </a:extLst>
          </p:cNvPr>
          <p:cNvSpPr/>
          <p:nvPr/>
        </p:nvSpPr>
        <p:spPr bwMode="auto">
          <a:xfrm>
            <a:off x="8647048" y="1838671"/>
            <a:ext cx="3442033" cy="4343341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500" dirty="0">
                <a:solidFill>
                  <a:schemeClr val="accent4">
                    <a:lumMod val="65000"/>
                    <a:lumOff val="35000"/>
                  </a:schemeClr>
                </a:solidFill>
                <a:latin typeface="Arial" charset="0"/>
                <a:ea typeface="ＭＳ Ｐゴシック" pitchFamily="50" charset="-128"/>
              </a:rPr>
              <a:t>R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17B55A6-B224-208A-7AA8-92D4BE7D5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8381" y="2256265"/>
            <a:ext cx="3442033" cy="3625399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0AACBCE5-B058-2E60-93E2-07D7BCFC8F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9824" y="4609656"/>
            <a:ext cx="1584363" cy="1512672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556F233E-5350-D11A-BB59-51F4F518AA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4332" y="2236844"/>
            <a:ext cx="2984141" cy="3644820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53D18264-2C92-F5FF-5381-A7A7325FF6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4799" y="4589097"/>
            <a:ext cx="1627093" cy="1627093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D5F3CA7-CE4B-3529-A7C6-A9E01ADA3CC0}"/>
              </a:ext>
            </a:extLst>
          </p:cNvPr>
          <p:cNvSpPr/>
          <p:nvPr/>
        </p:nvSpPr>
        <p:spPr bwMode="auto">
          <a:xfrm>
            <a:off x="392703" y="1309982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8</a:t>
            </a:r>
            <a:endParaRPr kumimoji="1" lang="ja-JP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01786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9853D-251E-4DB5-F020-5540CC854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B490DC50-BA89-8D31-ACCA-FAD7861A9F8B}"/>
              </a:ext>
            </a:extLst>
          </p:cNvPr>
          <p:cNvSpPr/>
          <p:nvPr/>
        </p:nvSpPr>
        <p:spPr bwMode="auto">
          <a:xfrm>
            <a:off x="1453383" y="1801854"/>
            <a:ext cx="10314055" cy="29999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5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elephant_data_3k</a:t>
            </a:r>
            <a:endParaRPr kumimoji="1" lang="ja-JP" altLang="en-US" sz="15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AA4EC4D-FD15-98F7-EE8F-0CD5C1431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elephant.ipynb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E7DD6F-3335-A3AD-3746-0910D617EDDD}"/>
              </a:ext>
            </a:extLst>
          </p:cNvPr>
          <p:cNvSpPr txBox="1">
            <a:spLocks/>
          </p:cNvSpPr>
          <p:nvPr/>
        </p:nvSpPr>
        <p:spPr>
          <a:xfrm>
            <a:off x="609600" y="1268414"/>
            <a:ext cx="10972800" cy="5113337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ja-JP" altLang="en-US" kern="0" dirty="0"/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75B395A4-D7A6-8C40-0611-ADA0F3A972D1}"/>
              </a:ext>
            </a:extLst>
          </p:cNvPr>
          <p:cNvSpPr txBox="1">
            <a:spLocks/>
          </p:cNvSpPr>
          <p:nvPr/>
        </p:nvSpPr>
        <p:spPr>
          <a:xfrm>
            <a:off x="762000" y="1420814"/>
            <a:ext cx="10972800" cy="5113337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endParaRPr lang="ja-JP" altLang="en-US" sz="2400" kern="0" dirty="0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89E2ED13-3AC7-91E6-121D-8B910FC5A80C}"/>
              </a:ext>
            </a:extLst>
          </p:cNvPr>
          <p:cNvSpPr txBox="1">
            <a:spLocks/>
          </p:cNvSpPr>
          <p:nvPr/>
        </p:nvSpPr>
        <p:spPr>
          <a:xfrm>
            <a:off x="762000" y="2143598"/>
            <a:ext cx="4680604" cy="4343341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altLang="ja-JP" sz="2400" kern="0" dirty="0"/>
          </a:p>
          <a:p>
            <a:pPr marL="0" indent="0">
              <a:buNone/>
            </a:pPr>
            <a:endParaRPr lang="en-US" altLang="ja-JP" sz="2400" kern="0" dirty="0"/>
          </a:p>
        </p:txBody>
      </p:sp>
      <p:sp>
        <p:nvSpPr>
          <p:cNvPr id="17" name="コンテンツ プレースホルダー 2">
            <a:extLst>
              <a:ext uri="{FF2B5EF4-FFF2-40B4-BE49-F238E27FC236}">
                <a16:creationId xmlns:a16="http://schemas.microsoft.com/office/drawing/2014/main" id="{0DB7595B-6D5A-FBA9-80C1-174A56A68749}"/>
              </a:ext>
            </a:extLst>
          </p:cNvPr>
          <p:cNvSpPr txBox="1">
            <a:spLocks/>
          </p:cNvSpPr>
          <p:nvPr/>
        </p:nvSpPr>
        <p:spPr>
          <a:xfrm>
            <a:off x="762000" y="1203306"/>
            <a:ext cx="7396729" cy="55759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ja-JP" altLang="en-US" b="1" kern="0" dirty="0"/>
              <a:t>データを増やす</a:t>
            </a:r>
            <a:endParaRPr lang="en-US" altLang="ja-JP" sz="2400" kern="0" dirty="0"/>
          </a:p>
          <a:p>
            <a:pPr marL="0" indent="0">
              <a:buNone/>
            </a:pP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ja-JP" sz="2000" kern="0" dirty="0">
              <a:solidFill>
                <a:schemeClr val="accent6"/>
              </a:solidFill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BA0C342F-17F8-0D52-4A5A-1CF261C1A625}"/>
              </a:ext>
            </a:extLst>
          </p:cNvPr>
          <p:cNvSpPr/>
          <p:nvPr/>
        </p:nvSpPr>
        <p:spPr bwMode="auto">
          <a:xfrm>
            <a:off x="1453382" y="5437185"/>
            <a:ext cx="10314055" cy="80446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5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elephant_data_4d</a:t>
            </a:r>
            <a:endParaRPr kumimoji="1" lang="ja-JP" altLang="en-US" sz="15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pic>
        <p:nvPicPr>
          <p:cNvPr id="39" name="図 38">
            <a:extLst>
              <a:ext uri="{FF2B5EF4-FFF2-40B4-BE49-F238E27FC236}">
                <a16:creationId xmlns:a16="http://schemas.microsoft.com/office/drawing/2014/main" id="{FADBD051-32BE-787F-73BC-BF9B2C554E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959"/>
          <a:stretch/>
        </p:blipFill>
        <p:spPr>
          <a:xfrm>
            <a:off x="5821390" y="4210116"/>
            <a:ext cx="1552792" cy="296223"/>
          </a:xfrm>
          <a:prstGeom prst="rect">
            <a:avLst/>
          </a:prstGeom>
        </p:spPr>
      </p:pic>
      <p:pic>
        <p:nvPicPr>
          <p:cNvPr id="41" name="図 40">
            <a:extLst>
              <a:ext uri="{FF2B5EF4-FFF2-40B4-BE49-F238E27FC236}">
                <a16:creationId xmlns:a16="http://schemas.microsoft.com/office/drawing/2014/main" id="{DF341C4B-A636-C4AF-0B69-92A3519B1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7106" y="4157176"/>
            <a:ext cx="1486107" cy="314369"/>
          </a:xfrm>
          <a:prstGeom prst="rect">
            <a:avLst/>
          </a:prstGeom>
        </p:spPr>
      </p:pic>
      <p:pic>
        <p:nvPicPr>
          <p:cNvPr id="43" name="図 42">
            <a:extLst>
              <a:ext uri="{FF2B5EF4-FFF2-40B4-BE49-F238E27FC236}">
                <a16:creationId xmlns:a16="http://schemas.microsoft.com/office/drawing/2014/main" id="{FE930961-AEA0-49A5-4DF1-525AB8F294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075" y="5607502"/>
            <a:ext cx="1486107" cy="295316"/>
          </a:xfrm>
          <a:prstGeom prst="rect">
            <a:avLst/>
          </a:prstGeom>
        </p:spPr>
      </p:pic>
      <p:pic>
        <p:nvPicPr>
          <p:cNvPr id="45" name="図 44">
            <a:extLst>
              <a:ext uri="{FF2B5EF4-FFF2-40B4-BE49-F238E27FC236}">
                <a16:creationId xmlns:a16="http://schemas.microsoft.com/office/drawing/2014/main" id="{76F4A999-4A57-D190-9E33-785161A7C0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1457" y="5597975"/>
            <a:ext cx="1486107" cy="304843"/>
          </a:xfrm>
          <a:prstGeom prst="rect">
            <a:avLst/>
          </a:prstGeom>
        </p:spPr>
      </p:pic>
      <p:pic>
        <p:nvPicPr>
          <p:cNvPr id="47" name="図 46">
            <a:extLst>
              <a:ext uri="{FF2B5EF4-FFF2-40B4-BE49-F238E27FC236}">
                <a16:creationId xmlns:a16="http://schemas.microsoft.com/office/drawing/2014/main" id="{C48E42C1-721B-0EC2-E20E-BAC7373990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9467" y="2218566"/>
            <a:ext cx="1758622" cy="1758622"/>
          </a:xfrm>
          <a:prstGeom prst="rect">
            <a:avLst/>
          </a:prstGeom>
        </p:spPr>
      </p:pic>
      <p:pic>
        <p:nvPicPr>
          <p:cNvPr id="49" name="図 48">
            <a:extLst>
              <a:ext uri="{FF2B5EF4-FFF2-40B4-BE49-F238E27FC236}">
                <a16:creationId xmlns:a16="http://schemas.microsoft.com/office/drawing/2014/main" id="{AA2BE8DF-3402-69BE-0CDF-4CCE96BCC03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0849" y="2215919"/>
            <a:ext cx="1758622" cy="1758622"/>
          </a:xfrm>
          <a:prstGeom prst="rect">
            <a:avLst/>
          </a:prstGeom>
        </p:spPr>
      </p:pic>
      <p:pic>
        <p:nvPicPr>
          <p:cNvPr id="51" name="図 50">
            <a:extLst>
              <a:ext uri="{FF2B5EF4-FFF2-40B4-BE49-F238E27FC236}">
                <a16:creationId xmlns:a16="http://schemas.microsoft.com/office/drawing/2014/main" id="{556A3117-59A3-B69C-9C74-CDF2709C0D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868" y="2221557"/>
            <a:ext cx="1755925" cy="175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56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C8073-E444-51DF-CE36-45100F5D2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矢印: 右 34">
            <a:extLst>
              <a:ext uri="{FF2B5EF4-FFF2-40B4-BE49-F238E27FC236}">
                <a16:creationId xmlns:a16="http://schemas.microsoft.com/office/drawing/2014/main" id="{4A2E716F-490D-3197-53FC-72347913B4AB}"/>
              </a:ext>
            </a:extLst>
          </p:cNvPr>
          <p:cNvSpPr/>
          <p:nvPr/>
        </p:nvSpPr>
        <p:spPr bwMode="auto">
          <a:xfrm rot="5400000">
            <a:off x="6665036" y="3316683"/>
            <a:ext cx="3996709" cy="461545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A60E52-4A48-8A44-9D10-73F89E54D7B5}"/>
              </a:ext>
            </a:extLst>
          </p:cNvPr>
          <p:cNvSpPr txBox="1">
            <a:spLocks/>
          </p:cNvSpPr>
          <p:nvPr/>
        </p:nvSpPr>
        <p:spPr>
          <a:xfrm>
            <a:off x="762000" y="1203306"/>
            <a:ext cx="7396729" cy="55759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ja-JP" altLang="en-US" b="1" kern="0" dirty="0"/>
              <a:t>フローチャート</a:t>
            </a: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ja-JP" sz="2000" kern="0" dirty="0">
              <a:solidFill>
                <a:schemeClr val="accent6"/>
              </a:solidFill>
            </a:endParaRP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C5352A9B-147A-270B-B02A-4A45E1AABB12}"/>
              </a:ext>
            </a:extLst>
          </p:cNvPr>
          <p:cNvSpPr txBox="1">
            <a:spLocks/>
          </p:cNvSpPr>
          <p:nvPr/>
        </p:nvSpPr>
        <p:spPr>
          <a:xfrm>
            <a:off x="762000" y="2143599"/>
            <a:ext cx="4680604" cy="1361602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endParaRPr lang="en-US" altLang="ja-JP" sz="2400" kern="0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4908C1C-E1BE-7B66-9AE3-98D91F13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random_plot.ipynb</a:t>
            </a:r>
            <a:endParaRPr kumimoji="1" lang="ja-JP" altLang="en-US" dirty="0"/>
          </a:p>
        </p:txBody>
      </p:sp>
      <p:sp>
        <p:nvSpPr>
          <p:cNvPr id="26" name="コンテンツ プレースホルダー 2">
            <a:extLst>
              <a:ext uri="{FF2B5EF4-FFF2-40B4-BE49-F238E27FC236}">
                <a16:creationId xmlns:a16="http://schemas.microsoft.com/office/drawing/2014/main" id="{370BF49C-D44D-D60C-D015-371902841854}"/>
              </a:ext>
            </a:extLst>
          </p:cNvPr>
          <p:cNvSpPr txBox="1">
            <a:spLocks/>
          </p:cNvSpPr>
          <p:nvPr/>
        </p:nvSpPr>
        <p:spPr>
          <a:xfrm>
            <a:off x="954946" y="2143599"/>
            <a:ext cx="1255127" cy="55759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ja-JP" altLang="en-US" sz="2400" kern="0" dirty="0"/>
              <a:t>１回目</a:t>
            </a:r>
            <a:endParaRPr lang="en-US" altLang="ja-JP" sz="2400" kern="0" dirty="0"/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32084FFF-A803-F73F-3FB5-AF7707D76D07}"/>
              </a:ext>
            </a:extLst>
          </p:cNvPr>
          <p:cNvSpPr/>
          <p:nvPr/>
        </p:nvSpPr>
        <p:spPr bwMode="auto">
          <a:xfrm rot="5400000">
            <a:off x="2159240" y="3841039"/>
            <a:ext cx="2992109" cy="461545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42D1905-809C-1885-4695-D50CA19D1F51}"/>
              </a:ext>
            </a:extLst>
          </p:cNvPr>
          <p:cNvSpPr/>
          <p:nvPr/>
        </p:nvSpPr>
        <p:spPr bwMode="auto">
          <a:xfrm>
            <a:off x="2296215" y="2896309"/>
            <a:ext cx="2718162" cy="5575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5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SVM</a:t>
            </a:r>
            <a:r>
              <a:rPr kumimoji="1" lang="ja-JP" altLang="en-US" sz="15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を学習</a:t>
            </a:r>
            <a:endParaRPr kumimoji="1" lang="en-US" altLang="ja-JP" sz="1500" b="1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500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全データ</a:t>
            </a:r>
            <a:r>
              <a:rPr lang="en-US" altLang="ja-JP" sz="1500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100</a:t>
            </a:r>
            <a:r>
              <a:rPr lang="ja-JP" altLang="en-US" sz="1500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個からモデルを学習</a:t>
            </a:r>
            <a:endParaRPr kumimoji="1" lang="ja-JP" altLang="en-US" sz="15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7AB73AD-9B88-D12A-94C2-155876B5A738}"/>
              </a:ext>
            </a:extLst>
          </p:cNvPr>
          <p:cNvSpPr/>
          <p:nvPr/>
        </p:nvSpPr>
        <p:spPr bwMode="auto">
          <a:xfrm>
            <a:off x="2296215" y="3761240"/>
            <a:ext cx="2718162" cy="56476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5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予測</a:t>
            </a:r>
            <a:endParaRPr kumimoji="1" lang="en-US" altLang="ja-JP" sz="1500" b="1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500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全データ</a:t>
            </a:r>
            <a:r>
              <a:rPr lang="en-US" altLang="ja-JP" sz="1500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100</a:t>
            </a:r>
            <a:r>
              <a:rPr lang="ja-JP" altLang="en-US" sz="1500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個のラベルを予測</a:t>
            </a:r>
            <a:endParaRPr kumimoji="1" lang="ja-JP" altLang="en-US" sz="15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97F21F5-4CC9-9548-86AE-548429432F43}"/>
              </a:ext>
            </a:extLst>
          </p:cNvPr>
          <p:cNvSpPr/>
          <p:nvPr/>
        </p:nvSpPr>
        <p:spPr bwMode="auto">
          <a:xfrm>
            <a:off x="2296215" y="4659696"/>
            <a:ext cx="2718162" cy="53022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5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正解率</a:t>
            </a:r>
            <a:endParaRPr kumimoji="1" lang="en-US" altLang="ja-JP" sz="1500" b="1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500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予測結果の正解率を出す</a:t>
            </a:r>
            <a:endParaRPr kumimoji="1" lang="ja-JP" altLang="en-US" sz="150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954D9A2-54B7-CC2D-6400-0AF4A552DDE1}"/>
              </a:ext>
            </a:extLst>
          </p:cNvPr>
          <p:cNvSpPr/>
          <p:nvPr/>
        </p:nvSpPr>
        <p:spPr bwMode="auto">
          <a:xfrm>
            <a:off x="2296215" y="2082415"/>
            <a:ext cx="2718162" cy="5575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5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データを生成</a:t>
            </a:r>
            <a:endParaRPr kumimoji="1" lang="en-US" altLang="ja-JP" sz="1500" b="1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500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データ：ｘｄ　　ラベル：ｙｄ</a:t>
            </a:r>
            <a:endParaRPr kumimoji="1" lang="ja-JP" altLang="en-US" sz="15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6FD8A19-2EC6-291B-73A7-939629806119}"/>
              </a:ext>
            </a:extLst>
          </p:cNvPr>
          <p:cNvSpPr/>
          <p:nvPr/>
        </p:nvSpPr>
        <p:spPr bwMode="auto">
          <a:xfrm>
            <a:off x="2296215" y="5574002"/>
            <a:ext cx="2718162" cy="56476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5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散布図１</a:t>
            </a:r>
            <a:endParaRPr kumimoji="1" lang="en-US" altLang="ja-JP" sz="1500" b="1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500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予測（背景色）と正解（打点）を図示</a:t>
            </a:r>
            <a:endParaRPr kumimoji="1" lang="ja-JP" altLang="en-US" sz="150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6DAFCBFF-EB38-C69E-E59D-432CAF8F3F62}"/>
              </a:ext>
            </a:extLst>
          </p:cNvPr>
          <p:cNvSpPr/>
          <p:nvPr/>
        </p:nvSpPr>
        <p:spPr bwMode="auto">
          <a:xfrm>
            <a:off x="7304311" y="1258851"/>
            <a:ext cx="2718162" cy="5575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5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データを生成</a:t>
            </a:r>
            <a:endParaRPr kumimoji="1" lang="en-US" altLang="ja-JP" sz="1500" b="1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500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データ：ｘｄ　　ラベル：ｙｄ</a:t>
            </a:r>
            <a:endParaRPr kumimoji="1" lang="ja-JP" altLang="en-US" sz="15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A8CC62C6-A232-80DD-51C5-A1B4F7EAEFE9}"/>
              </a:ext>
            </a:extLst>
          </p:cNvPr>
          <p:cNvSpPr/>
          <p:nvPr/>
        </p:nvSpPr>
        <p:spPr bwMode="auto">
          <a:xfrm>
            <a:off x="7304311" y="2895117"/>
            <a:ext cx="2718162" cy="5575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5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SVM</a:t>
            </a:r>
            <a:r>
              <a:rPr kumimoji="1" lang="ja-JP" altLang="en-US" sz="15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を学習</a:t>
            </a:r>
            <a:endParaRPr kumimoji="1" lang="en-US" altLang="ja-JP" sz="1500" b="1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500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学習用</a:t>
            </a:r>
            <a:r>
              <a:rPr lang="en-US" altLang="ja-JP" sz="1500" b="1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80</a:t>
            </a:r>
            <a:r>
              <a:rPr lang="ja-JP" altLang="en-US" sz="1500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個からモデルを学習</a:t>
            </a:r>
            <a:endParaRPr kumimoji="1" lang="ja-JP" altLang="en-US" sz="15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E1381E0-2076-16FB-B747-2907BAAD60FA}"/>
              </a:ext>
            </a:extLst>
          </p:cNvPr>
          <p:cNvSpPr/>
          <p:nvPr/>
        </p:nvSpPr>
        <p:spPr bwMode="auto">
          <a:xfrm>
            <a:off x="7304311" y="3767376"/>
            <a:ext cx="2718162" cy="56476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5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予測</a:t>
            </a:r>
            <a:endParaRPr kumimoji="1" lang="en-US" altLang="ja-JP" sz="1500" b="1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500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テスト用</a:t>
            </a:r>
            <a:r>
              <a:rPr lang="en-US" altLang="ja-JP" sz="1500" b="1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20</a:t>
            </a:r>
            <a:r>
              <a:rPr lang="ja-JP" altLang="en-US" sz="1500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個のラベルを予測</a:t>
            </a:r>
            <a:endParaRPr kumimoji="1" lang="ja-JP" altLang="en-US" sz="15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CCCB12F-29CC-5DC2-5AFF-EA617F8AF75A}"/>
              </a:ext>
            </a:extLst>
          </p:cNvPr>
          <p:cNvSpPr/>
          <p:nvPr/>
        </p:nvSpPr>
        <p:spPr bwMode="auto">
          <a:xfrm>
            <a:off x="7304311" y="2076139"/>
            <a:ext cx="2718162" cy="5647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5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データを分割</a:t>
            </a:r>
            <a:endParaRPr kumimoji="1" lang="en-US" altLang="ja-JP" sz="1500" b="1" i="0" u="none" strike="noStrike" cap="none" normalizeH="0" baseline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500" dirty="0">
                <a:solidFill>
                  <a:schemeClr val="accent6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学習用・テスト用に分割</a:t>
            </a:r>
            <a:endParaRPr kumimoji="1" lang="ja-JP" altLang="en-US" sz="1500" b="0" i="0" u="none" strike="noStrike" cap="none" normalizeH="0" baseline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6D6A9BC5-7EBC-9AA2-9139-8271484822AA}"/>
              </a:ext>
            </a:extLst>
          </p:cNvPr>
          <p:cNvSpPr/>
          <p:nvPr/>
        </p:nvSpPr>
        <p:spPr bwMode="auto">
          <a:xfrm>
            <a:off x="7304311" y="4665832"/>
            <a:ext cx="2718162" cy="53022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5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正解率</a:t>
            </a:r>
            <a:endParaRPr kumimoji="1" lang="en-US" altLang="ja-JP" sz="1500" b="1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500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予測結果の正解率を出す</a:t>
            </a:r>
            <a:endParaRPr kumimoji="1" lang="ja-JP" altLang="en-US" sz="150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88F2C877-00FE-A58A-F398-E1DF0D668B2F}"/>
              </a:ext>
            </a:extLst>
          </p:cNvPr>
          <p:cNvSpPr/>
          <p:nvPr/>
        </p:nvSpPr>
        <p:spPr bwMode="auto">
          <a:xfrm>
            <a:off x="7304311" y="5574002"/>
            <a:ext cx="2718162" cy="56476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5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散布図２</a:t>
            </a:r>
            <a:endParaRPr kumimoji="1" lang="en-US" altLang="ja-JP" sz="1500" b="1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500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予測（背景色）と正解（打点）を図示</a:t>
            </a:r>
            <a:endParaRPr kumimoji="1" lang="ja-JP" altLang="en-US" sz="150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37" name="コンテンツ プレースホルダー 2">
            <a:extLst>
              <a:ext uri="{FF2B5EF4-FFF2-40B4-BE49-F238E27FC236}">
                <a16:creationId xmlns:a16="http://schemas.microsoft.com/office/drawing/2014/main" id="{D222601F-E1D9-1597-A86C-70F0D070DA85}"/>
              </a:ext>
            </a:extLst>
          </p:cNvPr>
          <p:cNvSpPr txBox="1">
            <a:spLocks/>
          </p:cNvSpPr>
          <p:nvPr/>
        </p:nvSpPr>
        <p:spPr>
          <a:xfrm>
            <a:off x="6142684" y="1266466"/>
            <a:ext cx="1021909" cy="49443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ja-JP" altLang="en-US" sz="2400" kern="0" dirty="0"/>
              <a:t>２回目</a:t>
            </a:r>
            <a:endParaRPr lang="en-US" altLang="ja-JP" sz="2400" kern="0" dirty="0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56BECF0C-2916-E970-4678-034BC913FA37}"/>
              </a:ext>
            </a:extLst>
          </p:cNvPr>
          <p:cNvSpPr/>
          <p:nvPr/>
        </p:nvSpPr>
        <p:spPr bwMode="auto">
          <a:xfrm>
            <a:off x="2169527" y="1979407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１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E96E28F8-301B-4F98-CA11-E784BC5B3028}"/>
              </a:ext>
            </a:extLst>
          </p:cNvPr>
          <p:cNvSpPr/>
          <p:nvPr/>
        </p:nvSpPr>
        <p:spPr bwMode="auto">
          <a:xfrm>
            <a:off x="2169527" y="2817058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２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8E50A280-A582-55C9-86A6-AD572BD121FE}"/>
              </a:ext>
            </a:extLst>
          </p:cNvPr>
          <p:cNvSpPr/>
          <p:nvPr/>
        </p:nvSpPr>
        <p:spPr bwMode="auto">
          <a:xfrm>
            <a:off x="2171798" y="3627684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３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93CF50D9-5094-B8A3-3576-6C3E8714F98B}"/>
              </a:ext>
            </a:extLst>
          </p:cNvPr>
          <p:cNvSpPr/>
          <p:nvPr/>
        </p:nvSpPr>
        <p:spPr bwMode="auto">
          <a:xfrm>
            <a:off x="2169527" y="4537958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４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4EB1ED0C-93A3-DFF7-F2B5-62292848D524}"/>
              </a:ext>
            </a:extLst>
          </p:cNvPr>
          <p:cNvSpPr/>
          <p:nvPr/>
        </p:nvSpPr>
        <p:spPr bwMode="auto">
          <a:xfrm>
            <a:off x="2166525" y="5448118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b="1" dirty="0">
                <a:solidFill>
                  <a:schemeClr val="accent3"/>
                </a:solidFill>
                <a:latin typeface="Arial" charset="0"/>
                <a:ea typeface="ＭＳ Ｐゴシック" pitchFamily="50" charset="-128"/>
              </a:rPr>
              <a:t>５</a:t>
            </a:r>
            <a:endParaRPr kumimoji="1" lang="ja-JP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AFC1C13B-E697-54F0-C798-67230C46DF45}"/>
              </a:ext>
            </a:extLst>
          </p:cNvPr>
          <p:cNvSpPr/>
          <p:nvPr/>
        </p:nvSpPr>
        <p:spPr bwMode="auto">
          <a:xfrm>
            <a:off x="7185601" y="1131510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1</a:t>
            </a:r>
            <a:endParaRPr kumimoji="1" lang="ja-JP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C5E45D1C-0C15-7E60-A75D-05CD3D5B562E}"/>
              </a:ext>
            </a:extLst>
          </p:cNvPr>
          <p:cNvSpPr/>
          <p:nvPr/>
        </p:nvSpPr>
        <p:spPr bwMode="auto">
          <a:xfrm>
            <a:off x="7185601" y="1969161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6</a:t>
            </a:r>
            <a:endParaRPr kumimoji="1" lang="ja-JP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73543085-4DBA-BB8C-F38E-1B96462CF8F3}"/>
              </a:ext>
            </a:extLst>
          </p:cNvPr>
          <p:cNvSpPr/>
          <p:nvPr/>
        </p:nvSpPr>
        <p:spPr bwMode="auto">
          <a:xfrm>
            <a:off x="7187872" y="2779787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b="1" dirty="0">
                <a:solidFill>
                  <a:schemeClr val="accent3"/>
                </a:solidFill>
                <a:latin typeface="Arial" charset="0"/>
                <a:ea typeface="ＭＳ Ｐゴシック" pitchFamily="50" charset="-128"/>
              </a:rPr>
              <a:t>7</a:t>
            </a:r>
            <a:endParaRPr kumimoji="1" lang="ja-JP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D910260E-C39C-864C-A927-D977B6E4D322}"/>
              </a:ext>
            </a:extLst>
          </p:cNvPr>
          <p:cNvSpPr/>
          <p:nvPr/>
        </p:nvSpPr>
        <p:spPr bwMode="auto">
          <a:xfrm>
            <a:off x="7185601" y="3690061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8</a:t>
            </a:r>
            <a:endParaRPr kumimoji="1" lang="ja-JP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F40FB9E1-6064-50F8-3F98-D1A9140374FB}"/>
              </a:ext>
            </a:extLst>
          </p:cNvPr>
          <p:cNvSpPr/>
          <p:nvPr/>
        </p:nvSpPr>
        <p:spPr bwMode="auto">
          <a:xfrm>
            <a:off x="7182599" y="4600221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b="1" dirty="0">
                <a:solidFill>
                  <a:schemeClr val="accent3"/>
                </a:solidFill>
                <a:latin typeface="Arial" charset="0"/>
                <a:ea typeface="ＭＳ Ｐゴシック" pitchFamily="50" charset="-128"/>
              </a:rPr>
              <a:t>9</a:t>
            </a:r>
            <a:endParaRPr kumimoji="1" lang="ja-JP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23EDCC76-05BB-5FA4-CCC9-177EB6D4C7C2}"/>
              </a:ext>
            </a:extLst>
          </p:cNvPr>
          <p:cNvSpPr/>
          <p:nvPr/>
        </p:nvSpPr>
        <p:spPr bwMode="auto">
          <a:xfrm>
            <a:off x="7185601" y="5437807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b="1" dirty="0">
                <a:solidFill>
                  <a:schemeClr val="accent3"/>
                </a:solidFill>
                <a:latin typeface="Arial" charset="0"/>
                <a:ea typeface="ＭＳ Ｐゴシック" pitchFamily="50" charset="-128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364922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C8073-E444-51DF-CE36-45100F5D2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A60E52-4A48-8A44-9D10-73F89E54D7B5}"/>
              </a:ext>
            </a:extLst>
          </p:cNvPr>
          <p:cNvSpPr txBox="1">
            <a:spLocks/>
          </p:cNvSpPr>
          <p:nvPr/>
        </p:nvSpPr>
        <p:spPr>
          <a:xfrm>
            <a:off x="762000" y="1203306"/>
            <a:ext cx="7396729" cy="55759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ja-JP" altLang="en-US" b="1" kern="0" dirty="0"/>
              <a:t>データ準備</a:t>
            </a: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ja-JP" sz="2000" kern="0" dirty="0">
              <a:solidFill>
                <a:schemeClr val="accent6"/>
              </a:solidFill>
            </a:endParaRP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C5352A9B-147A-270B-B02A-4A45E1AABB12}"/>
              </a:ext>
            </a:extLst>
          </p:cNvPr>
          <p:cNvSpPr txBox="1">
            <a:spLocks/>
          </p:cNvSpPr>
          <p:nvPr/>
        </p:nvSpPr>
        <p:spPr>
          <a:xfrm>
            <a:off x="773722" y="2143598"/>
            <a:ext cx="5433439" cy="2642416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2400" kern="0" dirty="0"/>
              <a:t>乱数を固定</a:t>
            </a:r>
            <a:endParaRPr lang="en-US" altLang="ja-JP" sz="2400" kern="0" dirty="0"/>
          </a:p>
          <a:p>
            <a:r>
              <a:rPr lang="ja-JP" altLang="en-US" sz="2400" kern="0" dirty="0"/>
              <a:t>データを用意</a:t>
            </a:r>
            <a:endParaRPr lang="en-US" altLang="ja-JP" sz="2400" kern="0" dirty="0"/>
          </a:p>
          <a:p>
            <a:pPr marL="0" indent="0">
              <a:buNone/>
            </a:pP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   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x1, x2 : 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データ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(-1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以上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1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未満の乱数、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50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行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×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２列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   y1 : 0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のラベル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(50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個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)</a:t>
            </a:r>
          </a:p>
          <a:p>
            <a:pPr marL="0" indent="0">
              <a:buNone/>
            </a:pP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   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y2 : 1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のラベル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(50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個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   x1 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と 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x2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 を行方向に結合 → </a:t>
            </a:r>
            <a:r>
              <a:rPr lang="en-US" altLang="ja-JP" sz="1800" kern="0" dirty="0" err="1">
                <a:solidFill>
                  <a:schemeClr val="accent3">
                    <a:lumMod val="50000"/>
                  </a:schemeClr>
                </a:solidFill>
              </a:rPr>
              <a:t>xd</a:t>
            </a: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   y1 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と 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y2 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を結合 → 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yd</a:t>
            </a:r>
          </a:p>
          <a:p>
            <a:pPr marL="0" indent="0">
              <a:buNone/>
            </a:pPr>
            <a:endParaRPr lang="en-US" altLang="ja-JP" sz="2400" kern="0" dirty="0"/>
          </a:p>
          <a:p>
            <a:pPr marL="0" indent="0">
              <a:buNone/>
            </a:pPr>
            <a:r>
              <a:rPr lang="ja-JP" altLang="en-US" sz="2400" kern="0" dirty="0"/>
              <a:t>　</a:t>
            </a:r>
            <a:endParaRPr lang="en-US" altLang="ja-JP" sz="2400" kern="0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4908C1C-E1BE-7B66-9AE3-98D91F13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random_plot.ipynb</a:t>
            </a:r>
            <a:endParaRPr kumimoji="1" lang="ja-JP" altLang="en-US" dirty="0"/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2BB8C37D-34E4-940C-5C11-2E0CC3E595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400920"/>
              </p:ext>
            </p:extLst>
          </p:nvPr>
        </p:nvGraphicFramePr>
        <p:xfrm>
          <a:off x="4982002" y="4569718"/>
          <a:ext cx="6636942" cy="132588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483271">
                  <a:extLst>
                    <a:ext uri="{9D8B030D-6E8A-4147-A177-3AD203B41FA5}">
                      <a16:colId xmlns:a16="http://schemas.microsoft.com/office/drawing/2014/main" val="165235932"/>
                    </a:ext>
                  </a:extLst>
                </a:gridCol>
                <a:gridCol w="3174264">
                  <a:extLst>
                    <a:ext uri="{9D8B030D-6E8A-4147-A177-3AD203B41FA5}">
                      <a16:colId xmlns:a16="http://schemas.microsoft.com/office/drawing/2014/main" val="1387312990"/>
                    </a:ext>
                  </a:extLst>
                </a:gridCol>
                <a:gridCol w="1979407">
                  <a:extLst>
                    <a:ext uri="{9D8B030D-6E8A-4147-A177-3AD203B41FA5}">
                      <a16:colId xmlns:a16="http://schemas.microsoft.com/office/drawing/2014/main" val="2241803932"/>
                    </a:ext>
                  </a:extLst>
                </a:gridCol>
              </a:tblGrid>
              <a:tr h="121111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Python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R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4329"/>
                  </a:ext>
                </a:extLst>
              </a:tr>
              <a:tr h="280807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乱数生成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np.random.uniform</a:t>
                      </a:r>
                      <a:r>
                        <a:rPr kumimoji="1" lang="en-US" altLang="ja-JP" sz="1500" dirty="0"/>
                        <a:t>(low, high, size)</a:t>
                      </a:r>
                      <a:endParaRPr kumimoji="1" lang="ja-JP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runif</a:t>
                      </a:r>
                      <a:r>
                        <a:rPr kumimoji="1" lang="en-US" altLang="ja-JP" sz="1500" dirty="0"/>
                        <a:t>(</a:t>
                      </a:r>
                      <a:r>
                        <a:rPr kumimoji="1" lang="en-US" altLang="ja-JP" sz="1500" dirty="0" err="1"/>
                        <a:t>n,min</a:t>
                      </a:r>
                      <a:r>
                        <a:rPr kumimoji="1" lang="en-US" altLang="ja-JP" sz="1500" dirty="0"/>
                        <a:t>, max, 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238374"/>
                  </a:ext>
                </a:extLst>
              </a:tr>
              <a:tr h="280807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行方向に結合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np.append</a:t>
                      </a:r>
                      <a:r>
                        <a:rPr kumimoji="1" lang="en-US" altLang="ja-JP" sz="1500" dirty="0"/>
                        <a:t>(… , axis = 0)</a:t>
                      </a:r>
                      <a:endParaRPr kumimoji="1" lang="ja-JP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rbind</a:t>
                      </a:r>
                      <a:r>
                        <a:rPr kumimoji="1" lang="en-US" altLang="ja-JP" sz="1500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439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ベクトルの結合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np.append</a:t>
                      </a:r>
                      <a:r>
                        <a:rPr kumimoji="1" lang="en-US" altLang="ja-JP" sz="1500" dirty="0"/>
                        <a:t>()</a:t>
                      </a:r>
                      <a:endParaRPr kumimoji="1" lang="ja-JP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c()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462625"/>
                  </a:ext>
                </a:extLst>
              </a:tr>
            </a:tbl>
          </a:graphicData>
        </a:graphic>
      </p:graphicFrame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082B75C-8B32-C889-B5AA-7E197128E2D2}"/>
              </a:ext>
            </a:extLst>
          </p:cNvPr>
          <p:cNvSpPr/>
          <p:nvPr/>
        </p:nvSpPr>
        <p:spPr bwMode="auto">
          <a:xfrm>
            <a:off x="3063380" y="1004700"/>
            <a:ext cx="3752451" cy="197651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5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Python</a:t>
            </a:r>
            <a:endParaRPr kumimoji="1" lang="ja-JP" altLang="en-US" sz="15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1056466-E41D-8B4C-8C91-CDACA1D6D7B1}"/>
              </a:ext>
            </a:extLst>
          </p:cNvPr>
          <p:cNvSpPr/>
          <p:nvPr/>
        </p:nvSpPr>
        <p:spPr bwMode="auto">
          <a:xfrm>
            <a:off x="6887228" y="1000912"/>
            <a:ext cx="5215125" cy="2584304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500" dirty="0">
                <a:solidFill>
                  <a:schemeClr val="accent4">
                    <a:lumMod val="65000"/>
                    <a:lumOff val="35000"/>
                  </a:schemeClr>
                </a:solidFill>
                <a:latin typeface="Arial" charset="0"/>
                <a:ea typeface="ＭＳ Ｐゴシック" pitchFamily="50" charset="-128"/>
              </a:rPr>
              <a:t>R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41B0197-329A-EA69-ABB6-C099EEFCE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2933" y="1349059"/>
            <a:ext cx="3524742" cy="1495634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006CBFF3-11C6-A214-9E29-84C46F6D53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8760" y="1404722"/>
            <a:ext cx="5048955" cy="2019582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4B036FB-11D4-7E47-37A4-F4D4FB3EE24E}"/>
              </a:ext>
            </a:extLst>
          </p:cNvPr>
          <p:cNvSpPr/>
          <p:nvPr/>
        </p:nvSpPr>
        <p:spPr bwMode="auto">
          <a:xfrm>
            <a:off x="1835536" y="5382647"/>
            <a:ext cx="2754794" cy="5129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accent4"/>
                </a:solidFill>
                <a:effectLst/>
                <a:latin typeface="Arial" charset="0"/>
                <a:ea typeface="ＭＳ Ｐゴシック" pitchFamily="50" charset="-128"/>
              </a:rPr>
              <a:t>runif</a:t>
            </a:r>
            <a:r>
              <a:rPr kumimoji="1" lang="en-US" altLang="ja-JP" sz="12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charset="0"/>
                <a:ea typeface="ＭＳ Ｐゴシック" pitchFamily="50" charset="-128"/>
              </a:rPr>
              <a:t>()</a:t>
            </a:r>
          </a:p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200" dirty="0">
                <a:solidFill>
                  <a:schemeClr val="accent4"/>
                </a:solidFill>
                <a:latin typeface="Arial" charset="0"/>
                <a:ea typeface="ＭＳ Ｐゴシック" pitchFamily="50" charset="-128"/>
              </a:rPr>
              <a:t>新しいデータから乱数を生成</a:t>
            </a:r>
            <a:r>
              <a:rPr lang="en-US" altLang="ja-JP" sz="1200" dirty="0">
                <a:solidFill>
                  <a:schemeClr val="accent4"/>
                </a:solidFill>
                <a:latin typeface="Arial" charset="0"/>
                <a:ea typeface="ＭＳ Ｐゴシック" pitchFamily="50" charset="-128"/>
              </a:rPr>
              <a:t>(</a:t>
            </a:r>
            <a:r>
              <a:rPr lang="ja-JP" altLang="en-US" sz="1200" dirty="0">
                <a:solidFill>
                  <a:schemeClr val="accent4"/>
                </a:solidFill>
                <a:latin typeface="Arial" charset="0"/>
                <a:ea typeface="ＭＳ Ｐゴシック" pitchFamily="50" charset="-128"/>
              </a:rPr>
              <a:t>一様分布</a:t>
            </a:r>
            <a:r>
              <a:rPr lang="en-US" altLang="ja-JP" sz="1200" dirty="0">
                <a:solidFill>
                  <a:schemeClr val="accent4"/>
                </a:solidFill>
                <a:latin typeface="Arial" charset="0"/>
                <a:ea typeface="ＭＳ Ｐゴシック" pitchFamily="50" charset="-128"/>
              </a:rPr>
              <a:t>)</a:t>
            </a:r>
            <a:endParaRPr kumimoji="1" lang="ja-JP" altLang="en-US" sz="1200" b="0" i="0" u="none" strike="noStrike" cap="none" normalizeH="0" baseline="0" dirty="0">
              <a:ln>
                <a:noFill/>
              </a:ln>
              <a:solidFill>
                <a:schemeClr val="accent4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EA911A9-EFF5-0255-7554-81FE83D995D2}"/>
              </a:ext>
            </a:extLst>
          </p:cNvPr>
          <p:cNvSpPr/>
          <p:nvPr/>
        </p:nvSpPr>
        <p:spPr bwMode="auto">
          <a:xfrm>
            <a:off x="434476" y="1309982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１</a:t>
            </a:r>
          </a:p>
        </p:txBody>
      </p:sp>
    </p:spTree>
    <p:extLst>
      <p:ext uri="{BB962C8B-B14F-4D97-AF65-F5344CB8AC3E}">
        <p14:creationId xmlns:p14="http://schemas.microsoft.com/office/powerpoint/2010/main" val="716933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C8073-E444-51DF-CE36-45100F5D2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A60E52-4A48-8A44-9D10-73F89E54D7B5}"/>
              </a:ext>
            </a:extLst>
          </p:cNvPr>
          <p:cNvSpPr txBox="1">
            <a:spLocks/>
          </p:cNvSpPr>
          <p:nvPr/>
        </p:nvSpPr>
        <p:spPr>
          <a:xfrm>
            <a:off x="762000" y="1203306"/>
            <a:ext cx="7396729" cy="55759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ja-JP" altLang="en-US" b="1" kern="0" dirty="0"/>
              <a:t>学習・予測・正解率（１回目）</a:t>
            </a:r>
            <a:endParaRPr lang="en-US" altLang="ja-JP" sz="2000" kern="0" dirty="0">
              <a:solidFill>
                <a:schemeClr val="accent6"/>
              </a:solidFill>
            </a:endParaRP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C5352A9B-147A-270B-B02A-4A45E1AABB12}"/>
              </a:ext>
            </a:extLst>
          </p:cNvPr>
          <p:cNvSpPr txBox="1">
            <a:spLocks/>
          </p:cNvSpPr>
          <p:nvPr/>
        </p:nvSpPr>
        <p:spPr>
          <a:xfrm>
            <a:off x="773722" y="2143598"/>
            <a:ext cx="5433439" cy="2642416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ja-JP" sz="2400" kern="0" dirty="0" err="1"/>
              <a:t>x,y</a:t>
            </a:r>
            <a:r>
              <a:rPr lang="ja-JP" altLang="en-US" sz="2400" kern="0" dirty="0"/>
              <a:t> に代入</a:t>
            </a:r>
            <a:endParaRPr lang="en-US" altLang="ja-JP" sz="2400" kern="0" dirty="0"/>
          </a:p>
          <a:p>
            <a:r>
              <a:rPr lang="en-US" altLang="ja-JP" sz="2400" kern="0" dirty="0"/>
              <a:t>SVM</a:t>
            </a:r>
          </a:p>
          <a:p>
            <a:pPr marL="0" indent="0">
              <a:buNone/>
            </a:pP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   </a:t>
            </a:r>
            <a:r>
              <a:rPr lang="en-US" altLang="ja-JP" sz="1800" kern="0" dirty="0" err="1">
                <a:solidFill>
                  <a:schemeClr val="accent3">
                    <a:lumMod val="50000"/>
                  </a:schemeClr>
                </a:solidFill>
              </a:rPr>
              <a:t>svm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() : 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モデルの作成・学習</a:t>
            </a:r>
            <a:endParaRPr lang="en-US" altLang="ja-JP" sz="1800" kern="0" dirty="0"/>
          </a:p>
          <a:p>
            <a:r>
              <a:rPr lang="ja-JP" altLang="en-US" sz="2400" kern="0" dirty="0"/>
              <a:t>予測</a:t>
            </a:r>
            <a:endParaRPr lang="en-US" altLang="ja-JP" sz="2400" kern="0" dirty="0"/>
          </a:p>
          <a:p>
            <a:pPr marL="0" indent="0">
              <a:buNone/>
            </a:pPr>
            <a:r>
              <a:rPr kumimoji="1" lang="en-US" altLang="ja-JP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  </a:t>
            </a:r>
            <a:r>
              <a:rPr kumimoji="1" lang="en-US" altLang="ja-JP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predicr</a:t>
            </a:r>
            <a:r>
              <a:rPr kumimoji="1" lang="en-US" altLang="ja-JP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() : </a:t>
            </a:r>
            <a:r>
              <a:rPr kumimoji="1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学習したモデルでラベルを予測</a:t>
            </a:r>
            <a:endParaRPr lang="en-US" altLang="ja-JP" sz="1800" kern="0" dirty="0"/>
          </a:p>
          <a:p>
            <a:r>
              <a:rPr lang="ja-JP" altLang="en-US" sz="2400" kern="0" dirty="0"/>
              <a:t>正解率</a:t>
            </a:r>
            <a:endParaRPr lang="en-US" altLang="ja-JP" sz="2400" kern="0" dirty="0"/>
          </a:p>
          <a:p>
            <a:pPr marL="0" indent="0">
              <a:buNone/>
            </a:pPr>
            <a:r>
              <a:rPr kumimoji="1" lang="en-US" altLang="ja-JP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   mean(</a:t>
            </a:r>
            <a:r>
              <a:rPr kumimoji="1" lang="en-US" altLang="ja-JP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y_pred</a:t>
            </a:r>
            <a:r>
              <a:rPr kumimoji="1" lang="en-US" altLang="ja-JP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== y) : </a:t>
            </a:r>
            <a:r>
              <a:rPr kumimoji="1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予測と正解が一致した割合</a:t>
            </a:r>
            <a:endParaRPr lang="en-US" altLang="ja-JP" sz="2400" kern="0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4908C1C-E1BE-7B66-9AE3-98D91F13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random_plot.ipynb</a:t>
            </a:r>
            <a:endParaRPr kumimoji="1" lang="ja-JP" altLang="en-US" dirty="0"/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2BB8C37D-34E4-940C-5C11-2E0CC3E595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085339"/>
              </p:ext>
            </p:extLst>
          </p:nvPr>
        </p:nvGraphicFramePr>
        <p:xfrm>
          <a:off x="7599255" y="5220130"/>
          <a:ext cx="3298851" cy="100584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473725">
                  <a:extLst>
                    <a:ext uri="{9D8B030D-6E8A-4147-A177-3AD203B41FA5}">
                      <a16:colId xmlns:a16="http://schemas.microsoft.com/office/drawing/2014/main" val="165235932"/>
                    </a:ext>
                  </a:extLst>
                </a:gridCol>
                <a:gridCol w="1090176">
                  <a:extLst>
                    <a:ext uri="{9D8B030D-6E8A-4147-A177-3AD203B41FA5}">
                      <a16:colId xmlns:a16="http://schemas.microsoft.com/office/drawing/2014/main" val="1387312990"/>
                    </a:ext>
                  </a:extLst>
                </a:gridCol>
                <a:gridCol w="734950">
                  <a:extLst>
                    <a:ext uri="{9D8B030D-6E8A-4147-A177-3AD203B41FA5}">
                      <a16:colId xmlns:a16="http://schemas.microsoft.com/office/drawing/2014/main" val="2241803932"/>
                    </a:ext>
                  </a:extLst>
                </a:gridCol>
              </a:tblGrid>
              <a:tr h="121111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Python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R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4329"/>
                  </a:ext>
                </a:extLst>
              </a:tr>
              <a:tr h="280807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モデルを作成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svm</a:t>
                      </a:r>
                      <a:r>
                        <a:rPr kumimoji="1" lang="en-US" altLang="ja-JP" sz="1500" dirty="0"/>
                        <a:t>()</a:t>
                      </a:r>
                      <a:endParaRPr kumimoji="1" lang="ja-JP" altLang="en-US" sz="15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svm</a:t>
                      </a:r>
                      <a:r>
                        <a:rPr kumimoji="1" lang="en-US" altLang="ja-JP" sz="1500" dirty="0"/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1238374"/>
                  </a:ext>
                </a:extLst>
              </a:tr>
              <a:tr h="280807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モデルを学習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fit()</a:t>
                      </a:r>
                      <a:endParaRPr kumimoji="1" lang="ja-JP" altLang="en-US" sz="15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rbind</a:t>
                      </a:r>
                      <a:r>
                        <a:rPr kumimoji="1" lang="en-US" altLang="ja-JP" sz="1500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439253"/>
                  </a:ext>
                </a:extLst>
              </a:tr>
            </a:tbl>
          </a:graphicData>
        </a:graphic>
      </p:graphicFrame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082B75C-8B32-C889-B5AA-7E197128E2D2}"/>
              </a:ext>
            </a:extLst>
          </p:cNvPr>
          <p:cNvSpPr/>
          <p:nvPr/>
        </p:nvSpPr>
        <p:spPr bwMode="auto">
          <a:xfrm>
            <a:off x="8982635" y="1066146"/>
            <a:ext cx="2847682" cy="15962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5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Python</a:t>
            </a:r>
            <a:endParaRPr kumimoji="1" lang="ja-JP" altLang="en-US" sz="15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1056466-E41D-8B4C-8C91-CDACA1D6D7B1}"/>
              </a:ext>
            </a:extLst>
          </p:cNvPr>
          <p:cNvSpPr/>
          <p:nvPr/>
        </p:nvSpPr>
        <p:spPr bwMode="auto">
          <a:xfrm>
            <a:off x="5103462" y="2755090"/>
            <a:ext cx="6726855" cy="1766237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500" dirty="0">
                <a:solidFill>
                  <a:schemeClr val="accent4">
                    <a:lumMod val="65000"/>
                    <a:lumOff val="35000"/>
                  </a:schemeClr>
                </a:solidFill>
                <a:latin typeface="Arial" charset="0"/>
                <a:ea typeface="ＭＳ Ｐゴシック" pitchFamily="50" charset="-128"/>
              </a:rPr>
              <a:t>R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0EFBDBEB-1208-60AD-96EE-0B9B93824A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5856"/>
          <a:stretch/>
        </p:blipFill>
        <p:spPr>
          <a:xfrm>
            <a:off x="5252663" y="3113592"/>
            <a:ext cx="6329737" cy="1289852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6EBA4022-CAC0-3F32-3E5C-DC2B07D866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8681" y="1357686"/>
            <a:ext cx="2362530" cy="1181265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6CE36CC1-E2E6-091B-8AEC-38E229D078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3000" y="2433746"/>
            <a:ext cx="438211" cy="228632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60C50EA6-8EA8-262C-2A0C-23C52AB2E9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6998" y="4245063"/>
            <a:ext cx="1524213" cy="276264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CEC8F55-B8CA-D3FC-8EC6-A462C8142DF1}"/>
              </a:ext>
            </a:extLst>
          </p:cNvPr>
          <p:cNvSpPr/>
          <p:nvPr/>
        </p:nvSpPr>
        <p:spPr bwMode="auto">
          <a:xfrm>
            <a:off x="1975470" y="2618374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２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A732A78-0EF5-91B7-F33D-98F2ED32E7B6}"/>
              </a:ext>
            </a:extLst>
          </p:cNvPr>
          <p:cNvSpPr/>
          <p:nvPr/>
        </p:nvSpPr>
        <p:spPr bwMode="auto">
          <a:xfrm>
            <a:off x="1977741" y="3429000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３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8F05296-64BC-CF56-430A-487913657F12}"/>
              </a:ext>
            </a:extLst>
          </p:cNvPr>
          <p:cNvSpPr/>
          <p:nvPr/>
        </p:nvSpPr>
        <p:spPr bwMode="auto">
          <a:xfrm>
            <a:off x="2302065" y="4192877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４</a:t>
            </a:r>
          </a:p>
        </p:txBody>
      </p:sp>
    </p:spTree>
    <p:extLst>
      <p:ext uri="{BB962C8B-B14F-4D97-AF65-F5344CB8AC3E}">
        <p14:creationId xmlns:p14="http://schemas.microsoft.com/office/powerpoint/2010/main" val="18714082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C8073-E444-51DF-CE36-45100F5D2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A60E52-4A48-8A44-9D10-73F89E54D7B5}"/>
              </a:ext>
            </a:extLst>
          </p:cNvPr>
          <p:cNvSpPr txBox="1">
            <a:spLocks/>
          </p:cNvSpPr>
          <p:nvPr/>
        </p:nvSpPr>
        <p:spPr>
          <a:xfrm>
            <a:off x="762000" y="1203306"/>
            <a:ext cx="7396729" cy="55759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ja-JP" altLang="en-US" b="1" kern="0" dirty="0"/>
              <a:t>データを分割</a:t>
            </a: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ja-JP" sz="2000" kern="0" dirty="0">
              <a:solidFill>
                <a:schemeClr val="accent6"/>
              </a:solidFill>
            </a:endParaRP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C5352A9B-147A-270B-B02A-4A45E1AABB12}"/>
              </a:ext>
            </a:extLst>
          </p:cNvPr>
          <p:cNvSpPr txBox="1">
            <a:spLocks/>
          </p:cNvSpPr>
          <p:nvPr/>
        </p:nvSpPr>
        <p:spPr>
          <a:xfrm>
            <a:off x="773722" y="2143598"/>
            <a:ext cx="5433439" cy="2642416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ja-JP" sz="2400" kern="0" dirty="0"/>
              <a:t>train</a:t>
            </a:r>
          </a:p>
          <a:p>
            <a:pPr marL="0" indent="0">
              <a:buNone/>
            </a:pP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   SVM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の学習に使用</a:t>
            </a: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   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全体の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80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％</a:t>
            </a: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altLang="ja-JP" sz="2400" kern="0" dirty="0"/>
              <a:t>test</a:t>
            </a:r>
          </a:p>
          <a:p>
            <a:pPr marL="0" indent="0">
              <a:buNone/>
            </a:pP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   学習には使用せず、学習後のモデルの性能を確認するために使用</a:t>
            </a: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   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全体の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20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％</a:t>
            </a:r>
            <a:endParaRPr lang="en-US" altLang="ja-JP" sz="2400" kern="0" dirty="0"/>
          </a:p>
          <a:p>
            <a:pPr marL="0" indent="0">
              <a:buNone/>
            </a:pPr>
            <a:r>
              <a:rPr lang="ja-JP" altLang="en-US" sz="2400" kern="0" dirty="0"/>
              <a:t>　</a:t>
            </a:r>
            <a:endParaRPr lang="en-US" altLang="ja-JP" sz="2400" kern="0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4908C1C-E1BE-7B66-9AE3-98D91F13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random_plot.ipynb</a:t>
            </a:r>
            <a:endParaRPr kumimoji="1" lang="ja-JP" altLang="en-US" dirty="0"/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2BB8C37D-34E4-940C-5C11-2E0CC3E595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128434"/>
              </p:ext>
            </p:extLst>
          </p:nvPr>
        </p:nvGraphicFramePr>
        <p:xfrm>
          <a:off x="7691504" y="5437796"/>
          <a:ext cx="3516712" cy="68580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483271">
                  <a:extLst>
                    <a:ext uri="{9D8B030D-6E8A-4147-A177-3AD203B41FA5}">
                      <a16:colId xmlns:a16="http://schemas.microsoft.com/office/drawing/2014/main" val="165235932"/>
                    </a:ext>
                  </a:extLst>
                </a:gridCol>
                <a:gridCol w="1089338">
                  <a:extLst>
                    <a:ext uri="{9D8B030D-6E8A-4147-A177-3AD203B41FA5}">
                      <a16:colId xmlns:a16="http://schemas.microsoft.com/office/drawing/2014/main" val="1387312990"/>
                    </a:ext>
                  </a:extLst>
                </a:gridCol>
                <a:gridCol w="944103">
                  <a:extLst>
                    <a:ext uri="{9D8B030D-6E8A-4147-A177-3AD203B41FA5}">
                      <a16:colId xmlns:a16="http://schemas.microsoft.com/office/drawing/2014/main" val="2241803932"/>
                    </a:ext>
                  </a:extLst>
                </a:gridCol>
              </a:tblGrid>
              <a:tr h="121111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Python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R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4329"/>
                  </a:ext>
                </a:extLst>
              </a:tr>
              <a:tr h="280807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データを分割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split()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sample()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238374"/>
                  </a:ext>
                </a:extLst>
              </a:tr>
            </a:tbl>
          </a:graphicData>
        </a:graphic>
      </p:graphicFrame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082B75C-8B32-C889-B5AA-7E197128E2D2}"/>
              </a:ext>
            </a:extLst>
          </p:cNvPr>
          <p:cNvSpPr/>
          <p:nvPr/>
        </p:nvSpPr>
        <p:spPr bwMode="auto">
          <a:xfrm>
            <a:off x="4876091" y="2234886"/>
            <a:ext cx="6388344" cy="71747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5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Python</a:t>
            </a:r>
            <a:endParaRPr kumimoji="1" lang="ja-JP" altLang="en-US" sz="15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1056466-E41D-8B4C-8C91-CDACA1D6D7B1}"/>
              </a:ext>
            </a:extLst>
          </p:cNvPr>
          <p:cNvSpPr/>
          <p:nvPr/>
        </p:nvSpPr>
        <p:spPr bwMode="auto">
          <a:xfrm>
            <a:off x="6690844" y="3080267"/>
            <a:ext cx="4517372" cy="1757550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500" dirty="0">
                <a:solidFill>
                  <a:schemeClr val="accent4">
                    <a:lumMod val="65000"/>
                    <a:lumOff val="35000"/>
                  </a:schemeClr>
                </a:solidFill>
                <a:latin typeface="Arial" charset="0"/>
                <a:ea typeface="ＭＳ Ｐゴシック" pitchFamily="50" charset="-128"/>
              </a:rPr>
              <a:t>R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EA911A9-EFF5-0255-7554-81FE83D995D2}"/>
              </a:ext>
            </a:extLst>
          </p:cNvPr>
          <p:cNvSpPr/>
          <p:nvPr/>
        </p:nvSpPr>
        <p:spPr bwMode="auto">
          <a:xfrm>
            <a:off x="434476" y="1309982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６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49E0B352-FF82-BF4A-FA60-46F02123D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685" y="3380028"/>
            <a:ext cx="4182059" cy="1295581"/>
          </a:xfrm>
          <a:prstGeom prst="rect">
            <a:avLst/>
          </a:prstGeom>
          <a:ln>
            <a:solidFill>
              <a:schemeClr val="accent3">
                <a:lumMod val="50000"/>
              </a:schemeClr>
            </a:solidFill>
          </a:ln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66CD6804-D4A8-B637-CE27-B42E134F25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7541" y="2593622"/>
            <a:ext cx="6154009" cy="247685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052970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C8073-E444-51DF-CE36-45100F5D2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A60E52-4A48-8A44-9D10-73F89E54D7B5}"/>
              </a:ext>
            </a:extLst>
          </p:cNvPr>
          <p:cNvSpPr txBox="1">
            <a:spLocks/>
          </p:cNvSpPr>
          <p:nvPr/>
        </p:nvSpPr>
        <p:spPr>
          <a:xfrm>
            <a:off x="762000" y="1203306"/>
            <a:ext cx="7396729" cy="55759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ja-JP" altLang="en-US" b="1" kern="0" dirty="0"/>
              <a:t>学習・予測・正解率（</a:t>
            </a:r>
            <a:r>
              <a:rPr lang="en-US" altLang="ja-JP" b="1" kern="0" dirty="0"/>
              <a:t>2</a:t>
            </a:r>
            <a:r>
              <a:rPr lang="ja-JP" altLang="en-US" b="1" kern="0" dirty="0"/>
              <a:t>回目）</a:t>
            </a:r>
            <a:endParaRPr lang="en-US" altLang="ja-JP" sz="2000" kern="0" dirty="0">
              <a:solidFill>
                <a:schemeClr val="accent6"/>
              </a:solidFill>
            </a:endParaRP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C5352A9B-147A-270B-B02A-4A45E1AABB12}"/>
              </a:ext>
            </a:extLst>
          </p:cNvPr>
          <p:cNvSpPr txBox="1">
            <a:spLocks/>
          </p:cNvSpPr>
          <p:nvPr/>
        </p:nvSpPr>
        <p:spPr>
          <a:xfrm>
            <a:off x="773722" y="2143598"/>
            <a:ext cx="5843400" cy="2642416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ja-JP" sz="2400" kern="0" dirty="0" err="1"/>
              <a:t>x,y</a:t>
            </a:r>
            <a:r>
              <a:rPr lang="ja-JP" altLang="en-US" sz="2400" kern="0" dirty="0"/>
              <a:t> に代入</a:t>
            </a:r>
            <a:endParaRPr lang="en-US" altLang="ja-JP" sz="2400" kern="0" dirty="0"/>
          </a:p>
          <a:p>
            <a:r>
              <a:rPr lang="en-US" altLang="ja-JP" sz="2400" kern="0" dirty="0"/>
              <a:t>SVM</a:t>
            </a:r>
          </a:p>
          <a:p>
            <a:pPr marL="0" indent="0">
              <a:buNone/>
            </a:pP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   </a:t>
            </a:r>
            <a:r>
              <a:rPr lang="en-US" altLang="ja-JP" sz="1800" kern="0" dirty="0" err="1">
                <a:solidFill>
                  <a:schemeClr val="accent3">
                    <a:lumMod val="50000"/>
                  </a:schemeClr>
                </a:solidFill>
              </a:rPr>
              <a:t>svm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() : 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モデルの作成・学習</a:t>
            </a:r>
            <a:endParaRPr lang="en-US" altLang="ja-JP" sz="1800" kern="0" dirty="0"/>
          </a:p>
          <a:p>
            <a:r>
              <a:rPr lang="ja-JP" altLang="en-US" sz="2400" kern="0" dirty="0"/>
              <a:t>予測</a:t>
            </a:r>
            <a:endParaRPr lang="en-US" altLang="ja-JP" sz="2400" kern="0" dirty="0"/>
          </a:p>
          <a:p>
            <a:pPr marL="0" indent="0">
              <a:buNone/>
            </a:pPr>
            <a:r>
              <a:rPr kumimoji="1" lang="en-US" altLang="ja-JP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  </a:t>
            </a:r>
            <a:r>
              <a:rPr kumimoji="1" lang="en-US" altLang="ja-JP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predic</a:t>
            </a:r>
            <a:r>
              <a:rPr kumimoji="1" lang="en-US" altLang="ja-JP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() : </a:t>
            </a:r>
            <a:r>
              <a:rPr kumimoji="1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学習したモデルでラベルを予測</a:t>
            </a:r>
            <a:endParaRPr kumimoji="1" lang="en-US" altLang="ja-JP" sz="1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  <a:p>
            <a:pPr marL="0" indent="0">
              <a:buNone/>
            </a:pP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   </a:t>
            </a: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1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回目：学習した</a:t>
            </a: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train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データで予測</a:t>
            </a:r>
            <a:endParaRPr lang="en-US" altLang="ja-JP" sz="1800" kern="0" dirty="0">
              <a:solidFill>
                <a:srgbClr val="FFFFFF">
                  <a:lumMod val="50000"/>
                </a:srgbClr>
              </a:solidFill>
              <a:latin typeface="Arial"/>
              <a:ea typeface="ＭＳ Ｐゴシック"/>
            </a:endParaRPr>
          </a:p>
          <a:p>
            <a:pPr marL="0" indent="0">
              <a:buNone/>
            </a:pP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   2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回目：テスト用の</a:t>
            </a: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test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データで予測</a:t>
            </a:r>
            <a:endParaRPr lang="en-US" altLang="ja-JP" sz="1800" kern="0" dirty="0"/>
          </a:p>
          <a:p>
            <a:r>
              <a:rPr lang="ja-JP" altLang="en-US" sz="2400" kern="0" dirty="0"/>
              <a:t>正解率</a:t>
            </a:r>
            <a:endParaRPr lang="en-US" altLang="ja-JP" sz="2400" kern="0" dirty="0"/>
          </a:p>
          <a:p>
            <a:pPr marL="0" indent="0">
              <a:buNone/>
            </a:pPr>
            <a:r>
              <a:rPr kumimoji="1" lang="en-US" altLang="ja-JP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   mean(</a:t>
            </a:r>
            <a:r>
              <a:rPr kumimoji="1" lang="en-US" altLang="ja-JP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y_pred</a:t>
            </a:r>
            <a:r>
              <a:rPr kumimoji="1" lang="en-US" altLang="ja-JP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== y) : </a:t>
            </a:r>
            <a:r>
              <a:rPr kumimoji="1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予測と正解が一致した割合</a:t>
            </a:r>
            <a:endParaRPr kumimoji="1" lang="en-US" altLang="ja-JP" sz="1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  <a:p>
            <a:pPr marL="0" indent="0">
              <a:buNone/>
            </a:pP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    1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回目：学習した</a:t>
            </a: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train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データで予測したときの正解率</a:t>
            </a:r>
            <a:endParaRPr lang="en-US" altLang="ja-JP" sz="1800" kern="0" dirty="0">
              <a:solidFill>
                <a:srgbClr val="FFFFFF">
                  <a:lumMod val="50000"/>
                </a:srgbClr>
              </a:solidFill>
              <a:latin typeface="Arial"/>
              <a:ea typeface="ＭＳ Ｐゴシック"/>
            </a:endParaRPr>
          </a:p>
          <a:p>
            <a:pPr marL="0" indent="0">
              <a:buNone/>
            </a:pP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    2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回目：テスト用の</a:t>
            </a: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test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データで予測したときの正解率</a:t>
            </a:r>
            <a:endParaRPr lang="en-US" altLang="ja-JP" sz="2400" kern="0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4908C1C-E1BE-7B66-9AE3-98D91F13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random_plot.ipynb</a:t>
            </a:r>
            <a:endParaRPr kumimoji="1" lang="ja-JP" altLang="en-US" dirty="0"/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2BB8C37D-34E4-940C-5C11-2E0CC3E595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86646"/>
              </p:ext>
            </p:extLst>
          </p:nvPr>
        </p:nvGraphicFramePr>
        <p:xfrm>
          <a:off x="8373615" y="5310587"/>
          <a:ext cx="3298851" cy="100584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473725">
                  <a:extLst>
                    <a:ext uri="{9D8B030D-6E8A-4147-A177-3AD203B41FA5}">
                      <a16:colId xmlns:a16="http://schemas.microsoft.com/office/drawing/2014/main" val="165235932"/>
                    </a:ext>
                  </a:extLst>
                </a:gridCol>
                <a:gridCol w="1090176">
                  <a:extLst>
                    <a:ext uri="{9D8B030D-6E8A-4147-A177-3AD203B41FA5}">
                      <a16:colId xmlns:a16="http://schemas.microsoft.com/office/drawing/2014/main" val="1387312990"/>
                    </a:ext>
                  </a:extLst>
                </a:gridCol>
                <a:gridCol w="734950">
                  <a:extLst>
                    <a:ext uri="{9D8B030D-6E8A-4147-A177-3AD203B41FA5}">
                      <a16:colId xmlns:a16="http://schemas.microsoft.com/office/drawing/2014/main" val="2241803932"/>
                    </a:ext>
                  </a:extLst>
                </a:gridCol>
              </a:tblGrid>
              <a:tr h="121111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Python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R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4329"/>
                  </a:ext>
                </a:extLst>
              </a:tr>
              <a:tr h="280807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モデルを作成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svm</a:t>
                      </a:r>
                      <a:r>
                        <a:rPr kumimoji="1" lang="en-US" altLang="ja-JP" sz="1500" dirty="0"/>
                        <a:t>()</a:t>
                      </a:r>
                      <a:endParaRPr kumimoji="1" lang="ja-JP" altLang="en-US" sz="15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svm</a:t>
                      </a:r>
                      <a:r>
                        <a:rPr kumimoji="1" lang="en-US" altLang="ja-JP" sz="1500" dirty="0"/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1238374"/>
                  </a:ext>
                </a:extLst>
              </a:tr>
              <a:tr h="280807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モデルを学習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fit()</a:t>
                      </a:r>
                      <a:endParaRPr kumimoji="1" lang="ja-JP" altLang="en-US" sz="15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rbind</a:t>
                      </a:r>
                      <a:r>
                        <a:rPr kumimoji="1" lang="en-US" altLang="ja-JP" sz="1500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439253"/>
                  </a:ext>
                </a:extLst>
              </a:tr>
            </a:tbl>
          </a:graphicData>
        </a:graphic>
      </p:graphicFrame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082B75C-8B32-C889-B5AA-7E197128E2D2}"/>
              </a:ext>
            </a:extLst>
          </p:cNvPr>
          <p:cNvSpPr/>
          <p:nvPr/>
        </p:nvSpPr>
        <p:spPr bwMode="auto">
          <a:xfrm>
            <a:off x="6810375" y="1066146"/>
            <a:ext cx="5019942" cy="15962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5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Python</a:t>
            </a:r>
            <a:endParaRPr kumimoji="1" lang="ja-JP" altLang="en-US" sz="15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1056466-E41D-8B4C-8C91-CDACA1D6D7B1}"/>
              </a:ext>
            </a:extLst>
          </p:cNvPr>
          <p:cNvSpPr/>
          <p:nvPr/>
        </p:nvSpPr>
        <p:spPr bwMode="auto">
          <a:xfrm>
            <a:off x="6810375" y="2740146"/>
            <a:ext cx="5019942" cy="2260479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500" dirty="0">
                <a:solidFill>
                  <a:schemeClr val="accent4">
                    <a:lumMod val="65000"/>
                    <a:lumOff val="35000"/>
                  </a:schemeClr>
                </a:solidFill>
                <a:latin typeface="Arial" charset="0"/>
                <a:ea typeface="ＭＳ Ｐゴシック" pitchFamily="50" charset="-128"/>
              </a:rPr>
              <a:t>R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CEC8F55-B8CA-D3FC-8EC6-A462C8142DF1}"/>
              </a:ext>
            </a:extLst>
          </p:cNvPr>
          <p:cNvSpPr/>
          <p:nvPr/>
        </p:nvSpPr>
        <p:spPr bwMode="auto">
          <a:xfrm>
            <a:off x="1975470" y="2618374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7</a:t>
            </a:r>
            <a:endParaRPr kumimoji="1" lang="ja-JP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A732A78-0EF5-91B7-F33D-98F2ED32E7B6}"/>
              </a:ext>
            </a:extLst>
          </p:cNvPr>
          <p:cNvSpPr/>
          <p:nvPr/>
        </p:nvSpPr>
        <p:spPr bwMode="auto">
          <a:xfrm>
            <a:off x="1977741" y="3429000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8</a:t>
            </a:r>
            <a:endParaRPr kumimoji="1" lang="ja-JP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8F05296-64BC-CF56-430A-487913657F12}"/>
              </a:ext>
            </a:extLst>
          </p:cNvPr>
          <p:cNvSpPr/>
          <p:nvPr/>
        </p:nvSpPr>
        <p:spPr bwMode="auto">
          <a:xfrm>
            <a:off x="2244915" y="4863564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9</a:t>
            </a:r>
            <a:endParaRPr kumimoji="1" lang="ja-JP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68EE6705-76C6-3EFD-29B2-B4B5AA7D4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815" y="2834181"/>
            <a:ext cx="4372585" cy="2019582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D2F3EE07-20A0-182E-6EBD-9E04198AA1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5368" y="1104333"/>
            <a:ext cx="2591162" cy="1543265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8D759FF7-BCA9-113A-00AD-5236F53131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9744" y="2064981"/>
            <a:ext cx="485843" cy="190527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13E27705-16D1-F864-10BB-163F10C391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4208" y="2453561"/>
            <a:ext cx="247685" cy="161948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B0CBC8A3-B55E-39DB-8CB5-5087323DEF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3041" y="3921013"/>
            <a:ext cx="2000529" cy="342948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B72BB27F-416F-784C-8C2D-B940676A00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23041" y="4573923"/>
            <a:ext cx="1914792" cy="333422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F502C701-52A8-6B32-5D15-5B3DFE2A08C5}"/>
              </a:ext>
            </a:extLst>
          </p:cNvPr>
          <p:cNvCxnSpPr>
            <a:cxnSpLocks/>
          </p:cNvCxnSpPr>
          <p:nvPr/>
        </p:nvCxnSpPr>
        <p:spPr bwMode="auto">
          <a:xfrm>
            <a:off x="10147005" y="2143598"/>
            <a:ext cx="628616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22349EBC-1E2E-826C-8CFE-006B25B90846}"/>
              </a:ext>
            </a:extLst>
          </p:cNvPr>
          <p:cNvCxnSpPr>
            <a:cxnSpLocks/>
          </p:cNvCxnSpPr>
          <p:nvPr/>
        </p:nvCxnSpPr>
        <p:spPr bwMode="auto">
          <a:xfrm>
            <a:off x="10091787" y="2529366"/>
            <a:ext cx="645728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5A2F8B54-31A3-8DFC-5A92-319AF68F992D}"/>
              </a:ext>
            </a:extLst>
          </p:cNvPr>
          <p:cNvCxnSpPr>
            <a:cxnSpLocks/>
          </p:cNvCxnSpPr>
          <p:nvPr/>
        </p:nvCxnSpPr>
        <p:spPr bwMode="auto">
          <a:xfrm>
            <a:off x="9073243" y="4121918"/>
            <a:ext cx="870857" cy="0"/>
          </a:xfrm>
          <a:prstGeom prst="straightConnector1">
            <a:avLst/>
          </a:prstGeom>
          <a:ln>
            <a:solidFill>
              <a:schemeClr val="accent4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572CA477-5817-3C6E-6435-F33930BF8950}"/>
              </a:ext>
            </a:extLst>
          </p:cNvPr>
          <p:cNvCxnSpPr>
            <a:cxnSpLocks/>
          </p:cNvCxnSpPr>
          <p:nvPr/>
        </p:nvCxnSpPr>
        <p:spPr bwMode="auto">
          <a:xfrm>
            <a:off x="9073242" y="4740634"/>
            <a:ext cx="870857" cy="0"/>
          </a:xfrm>
          <a:prstGeom prst="straightConnector1">
            <a:avLst/>
          </a:prstGeom>
          <a:ln>
            <a:solidFill>
              <a:schemeClr val="accent4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5808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C8073-E444-51DF-CE36-45100F5D2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A60E52-4A48-8A44-9D10-73F89E54D7B5}"/>
              </a:ext>
            </a:extLst>
          </p:cNvPr>
          <p:cNvSpPr txBox="1">
            <a:spLocks/>
          </p:cNvSpPr>
          <p:nvPr/>
        </p:nvSpPr>
        <p:spPr>
          <a:xfrm>
            <a:off x="762000" y="1203306"/>
            <a:ext cx="7396729" cy="55759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ja-JP" altLang="en-US" b="1" kern="0" dirty="0"/>
              <a:t>関数</a:t>
            </a:r>
            <a:r>
              <a:rPr lang="en-US" altLang="ja-JP" b="1" kern="0" dirty="0" err="1"/>
              <a:t>draw_graph</a:t>
            </a:r>
            <a:r>
              <a:rPr lang="ja-JP" altLang="en-US" b="1" kern="0" dirty="0"/>
              <a:t>　</a:t>
            </a:r>
            <a:r>
              <a:rPr lang="ja-JP" altLang="en-US" kern="0" dirty="0"/>
              <a:t>散布図をかく</a:t>
            </a: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ja-JP" sz="2000" kern="0" dirty="0">
              <a:solidFill>
                <a:schemeClr val="accent6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4908C1C-E1BE-7B66-9AE3-98D91F13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random_plot.ipynb</a:t>
            </a:r>
            <a:endParaRPr kumimoji="1" lang="ja-JP" alt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082B75C-8B32-C889-B5AA-7E197128E2D2}"/>
              </a:ext>
            </a:extLst>
          </p:cNvPr>
          <p:cNvSpPr/>
          <p:nvPr/>
        </p:nvSpPr>
        <p:spPr bwMode="auto">
          <a:xfrm>
            <a:off x="4157474" y="2008932"/>
            <a:ext cx="3628163" cy="411699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5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Python</a:t>
            </a:r>
            <a:endParaRPr kumimoji="1" lang="ja-JP" altLang="en-US" sz="15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1056466-E41D-8B4C-8C91-CDACA1D6D7B1}"/>
              </a:ext>
            </a:extLst>
          </p:cNvPr>
          <p:cNvSpPr/>
          <p:nvPr/>
        </p:nvSpPr>
        <p:spPr bwMode="auto">
          <a:xfrm>
            <a:off x="7825008" y="2008932"/>
            <a:ext cx="3604992" cy="4116991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500" dirty="0">
                <a:solidFill>
                  <a:schemeClr val="accent4">
                    <a:lumMod val="65000"/>
                    <a:lumOff val="35000"/>
                  </a:schemeClr>
                </a:solidFill>
                <a:latin typeface="Arial" charset="0"/>
                <a:ea typeface="ＭＳ Ｐゴシック" pitchFamily="50" charset="-128"/>
              </a:rPr>
              <a:t>R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C0448A38-6FDB-A61B-489F-1545A6BB6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507" y="2767284"/>
            <a:ext cx="3317467" cy="3095967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76F449F8-C625-4704-1BE0-091927FDADF8}"/>
              </a:ext>
            </a:extLst>
          </p:cNvPr>
          <p:cNvSpPr txBox="1">
            <a:spLocks/>
          </p:cNvSpPr>
          <p:nvPr/>
        </p:nvSpPr>
        <p:spPr>
          <a:xfrm>
            <a:off x="762000" y="2143598"/>
            <a:ext cx="4680604" cy="4343341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2400" kern="0" dirty="0"/>
              <a:t>図、マーカーを用意</a:t>
            </a:r>
            <a:endParaRPr lang="en-US" altLang="ja-JP" sz="2400" kern="0" dirty="0"/>
          </a:p>
          <a:p>
            <a:r>
              <a:rPr lang="ja-JP" altLang="en-US" sz="2400" kern="0" dirty="0">
                <a:solidFill>
                  <a:schemeClr val="accent4"/>
                </a:solidFill>
              </a:rPr>
              <a:t>データを正規化</a:t>
            </a:r>
            <a:endParaRPr lang="en-US" altLang="ja-JP" sz="2400" kern="0" dirty="0">
              <a:solidFill>
                <a:schemeClr val="accent4"/>
              </a:solidFill>
            </a:endParaRPr>
          </a:p>
          <a:p>
            <a:r>
              <a:rPr lang="ja-JP" altLang="en-US" sz="2400" kern="0" dirty="0">
                <a:solidFill>
                  <a:schemeClr val="accent4"/>
                </a:solidFill>
              </a:rPr>
              <a:t>データ範囲の設定</a:t>
            </a:r>
            <a:endParaRPr lang="en-US" altLang="ja-JP" sz="2400" kern="0" dirty="0">
              <a:solidFill>
                <a:schemeClr val="accent4"/>
              </a:solidFill>
            </a:endParaRPr>
          </a:p>
          <a:p>
            <a:r>
              <a:rPr lang="ja-JP" altLang="en-US" sz="2400" kern="0" dirty="0">
                <a:solidFill>
                  <a:schemeClr val="accent4"/>
                </a:solidFill>
              </a:rPr>
              <a:t>格子状のデータ作成</a:t>
            </a:r>
            <a:endParaRPr lang="en-US" altLang="ja-JP" sz="2400" kern="0" dirty="0">
              <a:solidFill>
                <a:schemeClr val="accent4"/>
              </a:solidFill>
            </a:endParaRPr>
          </a:p>
          <a:p>
            <a:r>
              <a:rPr lang="en-US" altLang="ja-JP" sz="2400" kern="0" dirty="0">
                <a:solidFill>
                  <a:schemeClr val="accent4"/>
                </a:solidFill>
              </a:rPr>
              <a:t>SVM</a:t>
            </a:r>
            <a:r>
              <a:rPr lang="ja-JP" altLang="en-US" sz="2400" kern="0" dirty="0">
                <a:solidFill>
                  <a:schemeClr val="accent4"/>
                </a:solidFill>
              </a:rPr>
              <a:t>で格子点を予測</a:t>
            </a:r>
            <a:endParaRPr lang="en-US" altLang="ja-JP" sz="2400" kern="0" dirty="0">
              <a:solidFill>
                <a:schemeClr val="accent4"/>
              </a:solidFill>
            </a:endParaRPr>
          </a:p>
          <a:p>
            <a:r>
              <a:rPr lang="ja-JP" altLang="en-US" sz="2400" kern="0" dirty="0">
                <a:solidFill>
                  <a:schemeClr val="accent4"/>
                </a:solidFill>
              </a:rPr>
              <a:t>背景色を塗る</a:t>
            </a:r>
            <a:endParaRPr lang="en-US" altLang="ja-JP" sz="2400" kern="0" dirty="0">
              <a:solidFill>
                <a:schemeClr val="accent4"/>
              </a:solidFill>
            </a:endParaRPr>
          </a:p>
          <a:p>
            <a:r>
              <a:rPr lang="ja-JP" altLang="en-US" sz="2400" kern="0" dirty="0">
                <a:solidFill>
                  <a:schemeClr val="accent4"/>
                </a:solidFill>
              </a:rPr>
              <a:t>境界線を引く</a:t>
            </a:r>
            <a:endParaRPr lang="en-US" altLang="ja-JP" sz="2400" kern="0" dirty="0">
              <a:solidFill>
                <a:schemeClr val="accent4"/>
              </a:solidFill>
            </a:endParaRPr>
          </a:p>
          <a:p>
            <a:r>
              <a:rPr lang="ja-JP" altLang="en-US" sz="2400" kern="0" dirty="0">
                <a:solidFill>
                  <a:schemeClr val="accent4"/>
                </a:solidFill>
              </a:rPr>
              <a:t>打点する</a:t>
            </a:r>
            <a:endParaRPr lang="en-US" altLang="ja-JP" sz="2400" kern="0" dirty="0">
              <a:solidFill>
                <a:schemeClr val="accent4"/>
              </a:solidFill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15AAD541-DA70-399A-A6DE-7D9C6B404B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5120" y="2419904"/>
            <a:ext cx="3260293" cy="3525897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05482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C8073-E444-51DF-CE36-45100F5D2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A60E52-4A48-8A44-9D10-73F89E54D7B5}"/>
              </a:ext>
            </a:extLst>
          </p:cNvPr>
          <p:cNvSpPr txBox="1">
            <a:spLocks/>
          </p:cNvSpPr>
          <p:nvPr/>
        </p:nvSpPr>
        <p:spPr>
          <a:xfrm>
            <a:off x="762000" y="1203306"/>
            <a:ext cx="7396729" cy="55759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ja-JP" altLang="en-US" b="1" kern="0" dirty="0"/>
              <a:t>散布図１</a:t>
            </a:r>
            <a:endParaRPr lang="en-US" altLang="ja-JP" b="1" kern="0" dirty="0"/>
          </a:p>
          <a:p>
            <a:pPr marL="0" indent="0">
              <a:buNone/>
            </a:pPr>
            <a:endParaRPr lang="en-US" altLang="ja-JP" sz="1800" b="1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ja-JP" sz="1800" b="1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ja-JP" sz="1800" b="1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ja-JP" sz="1800" b="1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ja-JP" sz="1800" b="1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ja-JP" sz="1800" b="1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ja-JP" sz="1800" b="1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ja-JP" altLang="en-US" b="1" kern="0" dirty="0">
                <a:solidFill>
                  <a:schemeClr val="accent4"/>
                </a:solidFill>
              </a:rPr>
              <a:t>散布図２</a:t>
            </a:r>
            <a:endParaRPr lang="en-US" altLang="ja-JP" kern="0" dirty="0">
              <a:solidFill>
                <a:schemeClr val="accent4"/>
              </a:solidFill>
            </a:endParaRPr>
          </a:p>
          <a:p>
            <a:pPr marL="0" indent="0">
              <a:buNone/>
            </a:pPr>
            <a:endParaRPr lang="en-US" altLang="ja-JP" sz="2000" kern="0" dirty="0">
              <a:solidFill>
                <a:schemeClr val="accent6"/>
              </a:solidFill>
            </a:endParaRP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C5352A9B-147A-270B-B02A-4A45E1AABB12}"/>
              </a:ext>
            </a:extLst>
          </p:cNvPr>
          <p:cNvSpPr txBox="1">
            <a:spLocks/>
          </p:cNvSpPr>
          <p:nvPr/>
        </p:nvSpPr>
        <p:spPr>
          <a:xfrm>
            <a:off x="773722" y="2143598"/>
            <a:ext cx="5433439" cy="2642416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endParaRPr lang="en-US" altLang="ja-JP" sz="2400" kern="0" dirty="0"/>
          </a:p>
          <a:p>
            <a:pPr marL="0" indent="0">
              <a:buNone/>
            </a:pPr>
            <a:r>
              <a:rPr lang="ja-JP" altLang="en-US" sz="2400" kern="0" dirty="0"/>
              <a:t>　</a:t>
            </a:r>
            <a:endParaRPr lang="en-US" altLang="ja-JP" sz="2400" kern="0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4908C1C-E1BE-7B66-9AE3-98D91F13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random_plot.ipynb</a:t>
            </a:r>
            <a:endParaRPr kumimoji="1" lang="ja-JP" alt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082B75C-8B32-C889-B5AA-7E197128E2D2}"/>
              </a:ext>
            </a:extLst>
          </p:cNvPr>
          <p:cNvSpPr/>
          <p:nvPr/>
        </p:nvSpPr>
        <p:spPr bwMode="auto">
          <a:xfrm>
            <a:off x="888786" y="1838671"/>
            <a:ext cx="2241393" cy="1138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5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Python</a:t>
            </a:r>
            <a:endParaRPr kumimoji="1" lang="ja-JP" altLang="en-US" sz="15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1056466-E41D-8B4C-8C91-CDACA1D6D7B1}"/>
              </a:ext>
            </a:extLst>
          </p:cNvPr>
          <p:cNvSpPr/>
          <p:nvPr/>
        </p:nvSpPr>
        <p:spPr bwMode="auto">
          <a:xfrm>
            <a:off x="6363759" y="1536704"/>
            <a:ext cx="2296274" cy="1892296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500" dirty="0">
                <a:solidFill>
                  <a:schemeClr val="accent4">
                    <a:lumMod val="65000"/>
                    <a:lumOff val="35000"/>
                  </a:schemeClr>
                </a:solidFill>
                <a:latin typeface="Arial" charset="0"/>
                <a:ea typeface="ＭＳ Ｐゴシック" pitchFamily="50" charset="-128"/>
              </a:rPr>
              <a:t>R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7FC7348-642E-9162-D92F-DE24D8ABC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370" y="2155377"/>
            <a:ext cx="1533739" cy="600159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9408E7AD-DDE6-4DC8-CACE-682416B451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317" y="1814064"/>
            <a:ext cx="1733792" cy="1428949"/>
          </a:xfrm>
          <a:prstGeom prst="rect">
            <a:avLst/>
          </a:prstGeom>
          <a:ln>
            <a:solidFill>
              <a:schemeClr val="accent3">
                <a:lumMod val="50000"/>
              </a:schemeClr>
            </a:solidFill>
          </a:ln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814939DE-D5F9-5DA9-170A-58945994F4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1270" y="1209823"/>
            <a:ext cx="2800741" cy="272453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6BE69A3F-5BB9-CDBB-0240-5D9B7C1D95E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1" t="9151" r="4884" b="11376"/>
          <a:stretch/>
        </p:blipFill>
        <p:spPr>
          <a:xfrm>
            <a:off x="8845550" y="1163542"/>
            <a:ext cx="2878279" cy="2683081"/>
          </a:xfrm>
          <a:prstGeom prst="rect">
            <a:avLst/>
          </a:prstGeom>
        </p:spPr>
      </p:pic>
      <p:sp>
        <p:nvSpPr>
          <p:cNvPr id="15" name="コンテンツ プレースホルダー 2">
            <a:extLst>
              <a:ext uri="{FF2B5EF4-FFF2-40B4-BE49-F238E27FC236}">
                <a16:creationId xmlns:a16="http://schemas.microsoft.com/office/drawing/2014/main" id="{3F050121-5963-BCF4-3229-1A2EC84BAC53}"/>
              </a:ext>
            </a:extLst>
          </p:cNvPr>
          <p:cNvSpPr txBox="1">
            <a:spLocks/>
          </p:cNvSpPr>
          <p:nvPr/>
        </p:nvSpPr>
        <p:spPr>
          <a:xfrm>
            <a:off x="926122" y="2295998"/>
            <a:ext cx="5433439" cy="2642416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endParaRPr lang="en-US" altLang="ja-JP" sz="2400" kern="0" dirty="0"/>
          </a:p>
          <a:p>
            <a:pPr marL="0" indent="0">
              <a:buNone/>
            </a:pPr>
            <a:r>
              <a:rPr lang="ja-JP" altLang="en-US" sz="2400" kern="0" dirty="0"/>
              <a:t>　</a:t>
            </a:r>
            <a:endParaRPr lang="en-US" altLang="ja-JP" sz="2400" kern="0" dirty="0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092ACE1A-6D6A-8073-1AA4-D8F546D1CE94}"/>
              </a:ext>
            </a:extLst>
          </p:cNvPr>
          <p:cNvSpPr/>
          <p:nvPr/>
        </p:nvSpPr>
        <p:spPr bwMode="auto">
          <a:xfrm>
            <a:off x="888785" y="4938414"/>
            <a:ext cx="2241393" cy="11388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5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Python</a:t>
            </a:r>
            <a:endParaRPr kumimoji="1" lang="ja-JP" altLang="en-US" sz="15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8CDB98DF-0B9B-45B3-19FC-AFA81307FC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6401" y="5364141"/>
            <a:ext cx="1686160" cy="581106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1B73A5AA-AF3E-E043-7289-4EAA87DEB0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17453" y="3992349"/>
            <a:ext cx="2848373" cy="2743583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90E6E92C-EDE8-C758-A94C-239473569F48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8" t="6728" r="-1125" b="7546"/>
          <a:stretch/>
        </p:blipFill>
        <p:spPr>
          <a:xfrm>
            <a:off x="8702968" y="3992349"/>
            <a:ext cx="3163441" cy="2867408"/>
          </a:xfrm>
          <a:prstGeom prst="rect">
            <a:avLst/>
          </a:prstGeom>
        </p:spPr>
      </p:pic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0F69A8A-01CC-9A4B-C6FF-DF5334C93539}"/>
              </a:ext>
            </a:extLst>
          </p:cNvPr>
          <p:cNvSpPr/>
          <p:nvPr/>
        </p:nvSpPr>
        <p:spPr bwMode="auto">
          <a:xfrm>
            <a:off x="6363759" y="4375148"/>
            <a:ext cx="2296274" cy="1892296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500" dirty="0">
                <a:solidFill>
                  <a:schemeClr val="accent4">
                    <a:lumMod val="65000"/>
                    <a:lumOff val="35000"/>
                  </a:schemeClr>
                </a:solidFill>
                <a:latin typeface="Arial" charset="0"/>
                <a:ea typeface="ＭＳ Ｐゴシック" pitchFamily="50" charset="-128"/>
              </a:rPr>
              <a:t>R</a:t>
            </a:r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84EA16EF-9117-B36D-B15D-7AA034199BBE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11283"/>
          <a:stretch/>
        </p:blipFill>
        <p:spPr>
          <a:xfrm>
            <a:off x="6642959" y="4705350"/>
            <a:ext cx="1743318" cy="1411394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286CDF0F-15AD-E1E5-8712-4056563C13F9}"/>
              </a:ext>
            </a:extLst>
          </p:cNvPr>
          <p:cNvSpPr/>
          <p:nvPr/>
        </p:nvSpPr>
        <p:spPr bwMode="auto">
          <a:xfrm>
            <a:off x="468171" y="1309982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b="1" dirty="0">
                <a:solidFill>
                  <a:schemeClr val="accent3"/>
                </a:solidFill>
                <a:latin typeface="Arial" charset="0"/>
                <a:ea typeface="ＭＳ Ｐゴシック" pitchFamily="50" charset="-128"/>
              </a:rPr>
              <a:t>５</a:t>
            </a:r>
            <a:endParaRPr kumimoji="1" lang="ja-JP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B8A4C847-EA6C-0570-034F-FD18194D48AB}"/>
              </a:ext>
            </a:extLst>
          </p:cNvPr>
          <p:cNvSpPr/>
          <p:nvPr/>
        </p:nvSpPr>
        <p:spPr bwMode="auto">
          <a:xfrm>
            <a:off x="453065" y="4203025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b="1" dirty="0">
                <a:solidFill>
                  <a:schemeClr val="accent3"/>
                </a:solidFill>
                <a:latin typeface="Arial" charset="0"/>
                <a:ea typeface="ＭＳ Ｐゴシック" pitchFamily="50" charset="-128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327706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C8073-E444-51DF-CE36-45100F5D2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矢印: 右 55">
            <a:extLst>
              <a:ext uri="{FF2B5EF4-FFF2-40B4-BE49-F238E27FC236}">
                <a16:creationId xmlns:a16="http://schemas.microsoft.com/office/drawing/2014/main" id="{FED3EBC9-8E92-9198-E5FF-AFBFA808EAEE}"/>
              </a:ext>
            </a:extLst>
          </p:cNvPr>
          <p:cNvSpPr/>
          <p:nvPr/>
        </p:nvSpPr>
        <p:spPr bwMode="auto">
          <a:xfrm rot="5400000">
            <a:off x="5319006" y="3438041"/>
            <a:ext cx="3869960" cy="461545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35" name="矢印: 右 34">
            <a:extLst>
              <a:ext uri="{FF2B5EF4-FFF2-40B4-BE49-F238E27FC236}">
                <a16:creationId xmlns:a16="http://schemas.microsoft.com/office/drawing/2014/main" id="{4A2E716F-490D-3197-53FC-72347913B4AB}"/>
              </a:ext>
            </a:extLst>
          </p:cNvPr>
          <p:cNvSpPr/>
          <p:nvPr/>
        </p:nvSpPr>
        <p:spPr bwMode="auto">
          <a:xfrm rot="5400000">
            <a:off x="1873916" y="3966376"/>
            <a:ext cx="3333065" cy="461545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A60E52-4A48-8A44-9D10-73F89E54D7B5}"/>
              </a:ext>
            </a:extLst>
          </p:cNvPr>
          <p:cNvSpPr txBox="1">
            <a:spLocks/>
          </p:cNvSpPr>
          <p:nvPr/>
        </p:nvSpPr>
        <p:spPr>
          <a:xfrm>
            <a:off x="762000" y="1203306"/>
            <a:ext cx="7396729" cy="55759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ja-JP" altLang="en-US" b="1" kern="0" dirty="0"/>
              <a:t>フローチャート</a:t>
            </a: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ja-JP" sz="2000" kern="0" dirty="0">
              <a:solidFill>
                <a:schemeClr val="accent6"/>
              </a:solidFill>
            </a:endParaRP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C5352A9B-147A-270B-B02A-4A45E1AABB12}"/>
              </a:ext>
            </a:extLst>
          </p:cNvPr>
          <p:cNvSpPr txBox="1">
            <a:spLocks/>
          </p:cNvSpPr>
          <p:nvPr/>
        </p:nvSpPr>
        <p:spPr>
          <a:xfrm>
            <a:off x="2573383" y="2462642"/>
            <a:ext cx="4680604" cy="1361602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endParaRPr lang="en-US" altLang="ja-JP" sz="2400" kern="0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4908C1C-E1BE-7B66-9AE3-98D91F13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cq05_imgc_hist_svm</a:t>
            </a:r>
            <a:r>
              <a:rPr kumimoji="1" lang="en-US" altLang="ja-JP" dirty="0"/>
              <a:t>.ipynb</a:t>
            </a:r>
            <a:endParaRPr kumimoji="1" lang="ja-JP" altLang="en-US" dirty="0"/>
          </a:p>
        </p:txBody>
      </p:sp>
      <p:sp>
        <p:nvSpPr>
          <p:cNvPr id="26" name="コンテンツ プレースホルダー 2">
            <a:extLst>
              <a:ext uri="{FF2B5EF4-FFF2-40B4-BE49-F238E27FC236}">
                <a16:creationId xmlns:a16="http://schemas.microsoft.com/office/drawing/2014/main" id="{370BF49C-D44D-D60C-D015-371902841854}"/>
              </a:ext>
            </a:extLst>
          </p:cNvPr>
          <p:cNvSpPr txBox="1">
            <a:spLocks/>
          </p:cNvSpPr>
          <p:nvPr/>
        </p:nvSpPr>
        <p:spPr>
          <a:xfrm>
            <a:off x="2661959" y="2462642"/>
            <a:ext cx="1255127" cy="55759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endParaRPr lang="en-US" altLang="ja-JP" sz="2400" kern="0" dirty="0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56BECF0C-2916-E970-4678-034BC913FA37}"/>
              </a:ext>
            </a:extLst>
          </p:cNvPr>
          <p:cNvSpPr/>
          <p:nvPr/>
        </p:nvSpPr>
        <p:spPr bwMode="auto">
          <a:xfrm>
            <a:off x="2151143" y="2270391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１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E96E28F8-301B-4F98-CA11-E784BC5B3028}"/>
              </a:ext>
            </a:extLst>
          </p:cNvPr>
          <p:cNvSpPr/>
          <p:nvPr/>
        </p:nvSpPr>
        <p:spPr bwMode="auto">
          <a:xfrm>
            <a:off x="2151143" y="2855626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２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8E50A280-A582-55C9-86A6-AD572BD121FE}"/>
              </a:ext>
            </a:extLst>
          </p:cNvPr>
          <p:cNvSpPr/>
          <p:nvPr/>
        </p:nvSpPr>
        <p:spPr bwMode="auto">
          <a:xfrm>
            <a:off x="2151143" y="3370895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３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93CF50D9-5094-B8A3-3576-6C3E8714F98B}"/>
              </a:ext>
            </a:extLst>
          </p:cNvPr>
          <p:cNvSpPr/>
          <p:nvPr/>
        </p:nvSpPr>
        <p:spPr bwMode="auto">
          <a:xfrm>
            <a:off x="2151143" y="3972484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４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4EB1ED0C-93A3-DFF7-F2B5-62292848D524}"/>
              </a:ext>
            </a:extLst>
          </p:cNvPr>
          <p:cNvSpPr/>
          <p:nvPr/>
        </p:nvSpPr>
        <p:spPr bwMode="auto">
          <a:xfrm>
            <a:off x="2151143" y="4574073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b="1" dirty="0">
                <a:solidFill>
                  <a:schemeClr val="accent3"/>
                </a:solidFill>
                <a:latin typeface="Arial" charset="0"/>
                <a:ea typeface="ＭＳ Ｐゴシック" pitchFamily="50" charset="-128"/>
              </a:rPr>
              <a:t>５</a:t>
            </a:r>
            <a:endParaRPr kumimoji="1" lang="ja-JP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35D6533-0C99-4B7F-761A-CBB03977B1B5}"/>
              </a:ext>
            </a:extLst>
          </p:cNvPr>
          <p:cNvSpPr/>
          <p:nvPr/>
        </p:nvSpPr>
        <p:spPr bwMode="auto">
          <a:xfrm>
            <a:off x="2661959" y="2290579"/>
            <a:ext cx="1590819" cy="33623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500" b="1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画像の読み込み</a:t>
            </a:r>
            <a:endParaRPr kumimoji="1" lang="en-US" altLang="ja-JP" sz="1500" b="1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82FEA01-D29D-BE63-1B4B-E361C94F41C9}"/>
              </a:ext>
            </a:extLst>
          </p:cNvPr>
          <p:cNvSpPr/>
          <p:nvPr/>
        </p:nvSpPr>
        <p:spPr bwMode="auto">
          <a:xfrm>
            <a:off x="2661959" y="2837446"/>
            <a:ext cx="1590819" cy="33623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500" b="1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画像のリサイズ</a:t>
            </a:r>
            <a:endParaRPr kumimoji="1" lang="en-US" altLang="ja-JP" sz="1500" b="1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B30E1F5-87B2-6B64-1522-7B0101453C17}"/>
              </a:ext>
            </a:extLst>
          </p:cNvPr>
          <p:cNvSpPr/>
          <p:nvPr/>
        </p:nvSpPr>
        <p:spPr bwMode="auto">
          <a:xfrm>
            <a:off x="2661959" y="3384313"/>
            <a:ext cx="2178102" cy="33623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500" b="1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RGB</a:t>
            </a:r>
            <a:r>
              <a:rPr lang="ja-JP" altLang="en-US" sz="1500" b="1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ヒストグラムの作成</a:t>
            </a:r>
            <a:endParaRPr kumimoji="1" lang="en-US" altLang="ja-JP" sz="1500" b="1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D3FB098-727C-34FB-DC44-D1E73A1941C5}"/>
              </a:ext>
            </a:extLst>
          </p:cNvPr>
          <p:cNvSpPr/>
          <p:nvPr/>
        </p:nvSpPr>
        <p:spPr bwMode="auto">
          <a:xfrm>
            <a:off x="2661959" y="3931180"/>
            <a:ext cx="2853069" cy="34424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500" b="1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柴犬・サモエドの特徴量作成</a:t>
            </a:r>
            <a:endParaRPr kumimoji="1" lang="en-US" altLang="ja-JP" sz="1500" b="1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0363052-8CF0-89BC-67A9-A2ACE1EF0CEA}"/>
              </a:ext>
            </a:extLst>
          </p:cNvPr>
          <p:cNvSpPr/>
          <p:nvPr/>
        </p:nvSpPr>
        <p:spPr bwMode="auto">
          <a:xfrm>
            <a:off x="2661959" y="4478047"/>
            <a:ext cx="2934177" cy="34424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500" b="1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柴犬・サモエドのデータセットの結合</a:t>
            </a:r>
            <a:endParaRPr kumimoji="1" lang="en-US" altLang="ja-JP" sz="1500" b="1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4E7B5E5-1DDC-73AF-69BA-8AFAB236099C}"/>
              </a:ext>
            </a:extLst>
          </p:cNvPr>
          <p:cNvSpPr/>
          <p:nvPr/>
        </p:nvSpPr>
        <p:spPr bwMode="auto">
          <a:xfrm>
            <a:off x="6272375" y="2040167"/>
            <a:ext cx="2178102" cy="33623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500" b="1" dirty="0">
                <a:solidFill>
                  <a:schemeClr val="accent5">
                    <a:lumMod val="50000"/>
                  </a:schemeClr>
                </a:solidFill>
                <a:latin typeface="Arial" charset="0"/>
                <a:ea typeface="ＭＳ Ｐゴシック" pitchFamily="50" charset="-128"/>
              </a:rPr>
              <a:t>学習用・テスト用に分割</a:t>
            </a:r>
            <a:endParaRPr kumimoji="1" lang="en-US" altLang="ja-JP" sz="1500" b="1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AF238693-52C9-EFF8-705F-C83FAB45115B}"/>
              </a:ext>
            </a:extLst>
          </p:cNvPr>
          <p:cNvSpPr/>
          <p:nvPr/>
        </p:nvSpPr>
        <p:spPr bwMode="auto">
          <a:xfrm>
            <a:off x="6272375" y="2607990"/>
            <a:ext cx="2178102" cy="33623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5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標準化</a:t>
            </a:r>
            <a:endParaRPr kumimoji="1" lang="en-US" altLang="ja-JP" sz="1500" b="1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CC0420F-A1A6-59F5-844E-44DB9188D8A8}"/>
              </a:ext>
            </a:extLst>
          </p:cNvPr>
          <p:cNvSpPr/>
          <p:nvPr/>
        </p:nvSpPr>
        <p:spPr bwMode="auto">
          <a:xfrm>
            <a:off x="6272375" y="3175813"/>
            <a:ext cx="2178102" cy="33623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5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5</a:t>
            </a:r>
            <a:r>
              <a:rPr kumimoji="1" lang="ja-JP" altLang="en-US" sz="15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分割検証</a:t>
            </a:r>
            <a:endParaRPr kumimoji="1" lang="en-US" altLang="ja-JP" sz="1500" b="1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BB8CB8DF-53E7-245B-2946-89DBED2FCE9D}"/>
              </a:ext>
            </a:extLst>
          </p:cNvPr>
          <p:cNvSpPr/>
          <p:nvPr/>
        </p:nvSpPr>
        <p:spPr bwMode="auto">
          <a:xfrm>
            <a:off x="6272375" y="3777558"/>
            <a:ext cx="2178102" cy="33623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5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テストデータの標準化</a:t>
            </a:r>
            <a:endParaRPr kumimoji="1" lang="en-US" altLang="ja-JP" sz="1500" b="1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BC11DF14-5535-49C5-8287-4FF3A7FD1C15}"/>
              </a:ext>
            </a:extLst>
          </p:cNvPr>
          <p:cNvSpPr/>
          <p:nvPr/>
        </p:nvSpPr>
        <p:spPr bwMode="auto">
          <a:xfrm>
            <a:off x="6272375" y="4436936"/>
            <a:ext cx="2178102" cy="33623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5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新規画像で予測・評価</a:t>
            </a:r>
            <a:endParaRPr kumimoji="1" lang="en-US" altLang="ja-JP" sz="1500" b="1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DFCED9AD-C2F0-A07C-A245-4E9BE3C9B92A}"/>
              </a:ext>
            </a:extLst>
          </p:cNvPr>
          <p:cNvSpPr/>
          <p:nvPr/>
        </p:nvSpPr>
        <p:spPr bwMode="auto">
          <a:xfrm>
            <a:off x="6272375" y="5658700"/>
            <a:ext cx="2178102" cy="33623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5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結果の確認</a:t>
            </a:r>
            <a:endParaRPr kumimoji="1" lang="en-US" altLang="ja-JP" sz="1500" b="1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7C8C60E6-9E8F-768F-5AB1-8ABC9ED75959}"/>
              </a:ext>
            </a:extLst>
          </p:cNvPr>
          <p:cNvSpPr/>
          <p:nvPr/>
        </p:nvSpPr>
        <p:spPr bwMode="auto">
          <a:xfrm>
            <a:off x="5823362" y="2023718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6</a:t>
            </a:r>
            <a:endParaRPr kumimoji="1" lang="ja-JP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F4758211-862F-ABD2-5B82-7A4DB2B08899}"/>
              </a:ext>
            </a:extLst>
          </p:cNvPr>
          <p:cNvSpPr/>
          <p:nvPr/>
        </p:nvSpPr>
        <p:spPr bwMode="auto">
          <a:xfrm>
            <a:off x="5823362" y="2589633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b="1" dirty="0">
                <a:solidFill>
                  <a:schemeClr val="accent3"/>
                </a:solidFill>
                <a:latin typeface="Arial" charset="0"/>
                <a:ea typeface="ＭＳ Ｐゴシック" pitchFamily="50" charset="-128"/>
              </a:rPr>
              <a:t>7</a:t>
            </a:r>
            <a:endParaRPr kumimoji="1" lang="ja-JP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DF958F7B-ABD5-94F6-A524-EE36157ECB38}"/>
              </a:ext>
            </a:extLst>
          </p:cNvPr>
          <p:cNvSpPr/>
          <p:nvPr/>
        </p:nvSpPr>
        <p:spPr bwMode="auto">
          <a:xfrm>
            <a:off x="5823362" y="3157880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8</a:t>
            </a:r>
            <a:endParaRPr kumimoji="1" lang="ja-JP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E187A516-621C-6CE0-A6C2-4E8C058622BE}"/>
              </a:ext>
            </a:extLst>
          </p:cNvPr>
          <p:cNvSpPr/>
          <p:nvPr/>
        </p:nvSpPr>
        <p:spPr bwMode="auto">
          <a:xfrm>
            <a:off x="5823362" y="3784877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b="1" dirty="0">
                <a:solidFill>
                  <a:schemeClr val="accent3"/>
                </a:solidFill>
                <a:latin typeface="Arial" charset="0"/>
                <a:ea typeface="ＭＳ Ｐゴシック" pitchFamily="50" charset="-128"/>
              </a:rPr>
              <a:t>9</a:t>
            </a:r>
            <a:endParaRPr kumimoji="1" lang="ja-JP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7EEAF366-72EB-F2A2-AC51-B2E4B0701824}"/>
              </a:ext>
            </a:extLst>
          </p:cNvPr>
          <p:cNvSpPr/>
          <p:nvPr/>
        </p:nvSpPr>
        <p:spPr bwMode="auto">
          <a:xfrm>
            <a:off x="5823362" y="4401951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b="1" dirty="0">
                <a:solidFill>
                  <a:schemeClr val="accent3"/>
                </a:solidFill>
                <a:latin typeface="Arial" charset="0"/>
                <a:ea typeface="ＭＳ Ｐゴシック" pitchFamily="50" charset="-128"/>
              </a:rPr>
              <a:t>10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AA3DAECE-A561-3F68-4C84-473ACC71BFFA}"/>
              </a:ext>
            </a:extLst>
          </p:cNvPr>
          <p:cNvSpPr/>
          <p:nvPr/>
        </p:nvSpPr>
        <p:spPr bwMode="auto">
          <a:xfrm>
            <a:off x="5823361" y="5654694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b="1" dirty="0">
                <a:solidFill>
                  <a:schemeClr val="accent3"/>
                </a:solidFill>
                <a:latin typeface="Arial" charset="0"/>
                <a:ea typeface="ＭＳ Ｐゴシック" pitchFamily="50" charset="-128"/>
              </a:rPr>
              <a:t>１２</a:t>
            </a:r>
            <a:endParaRPr lang="en-US" altLang="ja-JP" b="1" dirty="0">
              <a:solidFill>
                <a:schemeClr val="accent3"/>
              </a:solidFill>
              <a:latin typeface="Arial" charset="0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721799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C8073-E444-51DF-CE36-45100F5D2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A60E52-4A48-8A44-9D10-73F89E54D7B5}"/>
              </a:ext>
            </a:extLst>
          </p:cNvPr>
          <p:cNvSpPr txBox="1">
            <a:spLocks/>
          </p:cNvSpPr>
          <p:nvPr/>
        </p:nvSpPr>
        <p:spPr>
          <a:xfrm>
            <a:off x="762000" y="1203306"/>
            <a:ext cx="7396729" cy="55759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ja-JP" altLang="en-US" b="1" kern="0" dirty="0"/>
              <a:t>画像の読み込み</a:t>
            </a:r>
            <a:endParaRPr lang="en-US" altLang="ja-JP" sz="2000" kern="0" dirty="0">
              <a:solidFill>
                <a:schemeClr val="accent6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4908C1C-E1BE-7B66-9AE3-98D91F13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cq05_imgc_hist_svm.ipynb</a:t>
            </a:r>
            <a:endParaRPr kumimoji="1" lang="ja-JP" altLang="en-US" dirty="0"/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2BB8C37D-34E4-940C-5C11-2E0CC3E595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26849"/>
              </p:ext>
            </p:extLst>
          </p:nvPr>
        </p:nvGraphicFramePr>
        <p:xfrm>
          <a:off x="3785211" y="4842617"/>
          <a:ext cx="5253798" cy="164592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532467">
                  <a:extLst>
                    <a:ext uri="{9D8B030D-6E8A-4147-A177-3AD203B41FA5}">
                      <a16:colId xmlns:a16="http://schemas.microsoft.com/office/drawing/2014/main" val="165235932"/>
                    </a:ext>
                  </a:extLst>
                </a:gridCol>
                <a:gridCol w="1854200">
                  <a:extLst>
                    <a:ext uri="{9D8B030D-6E8A-4147-A177-3AD203B41FA5}">
                      <a16:colId xmlns:a16="http://schemas.microsoft.com/office/drawing/2014/main" val="1387312990"/>
                    </a:ext>
                  </a:extLst>
                </a:gridCol>
                <a:gridCol w="1867131">
                  <a:extLst>
                    <a:ext uri="{9D8B030D-6E8A-4147-A177-3AD203B41FA5}">
                      <a16:colId xmlns:a16="http://schemas.microsoft.com/office/drawing/2014/main" val="2241803932"/>
                    </a:ext>
                  </a:extLst>
                </a:gridCol>
              </a:tblGrid>
              <a:tr h="121111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Python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R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4329"/>
                  </a:ext>
                </a:extLst>
              </a:tr>
              <a:tr h="280807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画像の読み込み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cv2.imread()</a:t>
                      </a:r>
                      <a:endParaRPr kumimoji="1" lang="ja-JP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readJPEG</a:t>
                      </a:r>
                      <a:r>
                        <a:rPr kumimoji="1" lang="en-US" altLang="ja-JP" sz="1500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238374"/>
                  </a:ext>
                </a:extLst>
              </a:tr>
              <a:tr h="280807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サイズ確認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img.shape</a:t>
                      </a:r>
                      <a:endParaRPr kumimoji="1" lang="ja-JP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dim(</a:t>
                      </a:r>
                      <a:r>
                        <a:rPr kumimoji="1" lang="en-US" altLang="ja-JP" sz="1500" dirty="0" err="1"/>
                        <a:t>img</a:t>
                      </a:r>
                      <a:r>
                        <a:rPr kumimoji="1" lang="en-US" altLang="ja-JP" sz="15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439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画像表示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plt.imshow</a:t>
                      </a:r>
                      <a:r>
                        <a:rPr kumimoji="1" lang="en-US" altLang="ja-JP" sz="1500" dirty="0"/>
                        <a:t>()</a:t>
                      </a:r>
                      <a:endParaRPr kumimoji="1" lang="ja-JP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plot(</a:t>
                      </a:r>
                      <a:r>
                        <a:rPr kumimoji="1" lang="en-US" altLang="ja-JP" sz="1500" dirty="0" err="1"/>
                        <a:t>as.raster</a:t>
                      </a:r>
                      <a:r>
                        <a:rPr kumimoji="1" lang="en-US" altLang="ja-JP" sz="15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462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ピクセル値確認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print(</a:t>
                      </a:r>
                      <a:r>
                        <a:rPr kumimoji="1" lang="en-US" altLang="ja-JP" sz="1500" dirty="0" err="1"/>
                        <a:t>img</a:t>
                      </a:r>
                      <a:r>
                        <a:rPr kumimoji="1" lang="en-US" altLang="ja-JP" sz="1500" dirty="0"/>
                        <a:t>)</a:t>
                      </a:r>
                      <a:endParaRPr kumimoji="1" lang="ja-JP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print(</a:t>
                      </a:r>
                      <a:r>
                        <a:rPr kumimoji="1" lang="en-US" altLang="ja-JP" sz="1500" dirty="0" err="1"/>
                        <a:t>img</a:t>
                      </a:r>
                      <a:r>
                        <a:rPr kumimoji="1" lang="en-US" altLang="ja-JP" sz="15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612707"/>
                  </a:ext>
                </a:extLst>
              </a:tr>
            </a:tbl>
          </a:graphicData>
        </a:graphic>
      </p:graphicFrame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082B75C-8B32-C889-B5AA-7E197128E2D2}"/>
              </a:ext>
            </a:extLst>
          </p:cNvPr>
          <p:cNvSpPr/>
          <p:nvPr/>
        </p:nvSpPr>
        <p:spPr bwMode="auto">
          <a:xfrm>
            <a:off x="4947412" y="995044"/>
            <a:ext cx="3752451" cy="374936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5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Python</a:t>
            </a:r>
            <a:endParaRPr kumimoji="1" lang="ja-JP" altLang="en-US" sz="15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1056466-E41D-8B4C-8C91-CDACA1D6D7B1}"/>
              </a:ext>
            </a:extLst>
          </p:cNvPr>
          <p:cNvSpPr/>
          <p:nvPr/>
        </p:nvSpPr>
        <p:spPr bwMode="auto">
          <a:xfrm>
            <a:off x="8699863" y="975694"/>
            <a:ext cx="3402490" cy="3720912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500" dirty="0">
                <a:solidFill>
                  <a:schemeClr val="accent4">
                    <a:lumMod val="65000"/>
                    <a:lumOff val="35000"/>
                  </a:schemeClr>
                </a:solidFill>
                <a:latin typeface="Arial" charset="0"/>
                <a:ea typeface="ＭＳ Ｐゴシック" pitchFamily="50" charset="-128"/>
              </a:rPr>
              <a:t>R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4B036FB-11D4-7E47-37A4-F4D4FB3EE24E}"/>
              </a:ext>
            </a:extLst>
          </p:cNvPr>
          <p:cNvSpPr/>
          <p:nvPr/>
        </p:nvSpPr>
        <p:spPr bwMode="auto">
          <a:xfrm>
            <a:off x="9262631" y="5316009"/>
            <a:ext cx="2575355" cy="10408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ja-JP" sz="1200" dirty="0"/>
              <a:t>as.numeric(x) # 数値に変換 </a:t>
            </a:r>
            <a:endParaRPr lang="en-US" altLang="ja-JP" sz="1200" dirty="0"/>
          </a:p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ja-JP" sz="1200" dirty="0"/>
              <a:t>as.character(x) # 文字列に変換 </a:t>
            </a:r>
            <a:endParaRPr lang="en-US" altLang="ja-JP" sz="1200" dirty="0"/>
          </a:p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ja-JP" sz="1200" dirty="0"/>
              <a:t>as.matrix(x) # 行列に変換 </a:t>
            </a:r>
            <a:endParaRPr lang="en-US" altLang="ja-JP" sz="1200" dirty="0"/>
          </a:p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ja-JP" sz="1200" dirty="0"/>
              <a:t>as.factor(x) # factorに変換 </a:t>
            </a:r>
            <a:endParaRPr lang="en-US" altLang="ja-JP" sz="1200" dirty="0"/>
          </a:p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ja-JP" sz="1200" dirty="0"/>
              <a:t>as.raster(x) # raster画像に変換</a:t>
            </a:r>
            <a:endParaRPr kumimoji="1" lang="ja-JP" altLang="en-US" sz="1200" b="0" i="0" u="none" strike="noStrike" cap="none" normalizeH="0" baseline="0" dirty="0">
              <a:ln>
                <a:noFill/>
              </a:ln>
              <a:solidFill>
                <a:schemeClr val="accent4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EA911A9-EFF5-0255-7554-81FE83D995D2}"/>
              </a:ext>
            </a:extLst>
          </p:cNvPr>
          <p:cNvSpPr/>
          <p:nvPr/>
        </p:nvSpPr>
        <p:spPr bwMode="auto">
          <a:xfrm>
            <a:off x="434476" y="1309982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１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510B96B-4849-941E-5D02-06DD378F2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599" y="1309982"/>
            <a:ext cx="3314870" cy="228611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E49DD248-1258-3C15-8167-7F1F92DAE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8452" y="3621273"/>
            <a:ext cx="2533780" cy="990651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3458996D-3FD0-DE0E-5144-E5068F822F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3016" y="3606375"/>
            <a:ext cx="1701887" cy="45722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9243ABFB-CBC9-6D96-6BAA-428624FB69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7504" y="1299099"/>
            <a:ext cx="3067208" cy="2330570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7594A8A3-4EDA-4F48-C9E4-83F8ACD1364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5812" t="29077" r="7798" b="16060"/>
          <a:stretch>
            <a:fillRect/>
          </a:stretch>
        </p:blipFill>
        <p:spPr>
          <a:xfrm>
            <a:off x="10815342" y="2852013"/>
            <a:ext cx="1376658" cy="1091967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sp>
        <p:nvSpPr>
          <p:cNvPr id="21" name="コンテンツ プレースホルダー 2">
            <a:extLst>
              <a:ext uri="{FF2B5EF4-FFF2-40B4-BE49-F238E27FC236}">
                <a16:creationId xmlns:a16="http://schemas.microsoft.com/office/drawing/2014/main" id="{4A539EDE-E629-112E-BF4D-00F0D30A30ED}"/>
              </a:ext>
            </a:extLst>
          </p:cNvPr>
          <p:cNvSpPr txBox="1">
            <a:spLocks/>
          </p:cNvSpPr>
          <p:nvPr/>
        </p:nvSpPr>
        <p:spPr>
          <a:xfrm>
            <a:off x="773722" y="2143597"/>
            <a:ext cx="4084043" cy="3198869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2400" kern="0" dirty="0"/>
              <a:t>画像を取得</a:t>
            </a:r>
            <a:endParaRPr lang="en-US" altLang="ja-JP" sz="2400" kern="0" dirty="0"/>
          </a:p>
          <a:p>
            <a:pPr marL="0" indent="0">
              <a:buNone/>
            </a:pP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   </a:t>
            </a:r>
            <a:r>
              <a:rPr lang="en-US" altLang="ja-JP" sz="1800" kern="0" dirty="0" err="1">
                <a:solidFill>
                  <a:schemeClr val="accent3">
                    <a:lumMod val="50000"/>
                  </a:schemeClr>
                </a:solidFill>
              </a:rPr>
              <a:t>readJPG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で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RGB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配列で画像を取得</a:t>
            </a: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ja-JP" altLang="en-US" sz="2400" kern="0" dirty="0"/>
              <a:t>画像サイズを確認</a:t>
            </a:r>
            <a:endParaRPr lang="en-US" altLang="ja-JP" sz="2400" kern="0" dirty="0"/>
          </a:p>
          <a:p>
            <a:pPr marL="0" indent="0">
              <a:buNone/>
            </a:pPr>
            <a:r>
              <a:rPr kumimoji="1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　</a:t>
            </a:r>
            <a:r>
              <a:rPr kumimoji="1" lang="en-US" altLang="ja-JP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dim()</a:t>
            </a:r>
            <a:endParaRPr lang="en-US" altLang="ja-JP" sz="2400" kern="0" dirty="0"/>
          </a:p>
          <a:p>
            <a:r>
              <a:rPr lang="ja-JP" altLang="en-US" sz="2400" kern="0" dirty="0"/>
              <a:t>画像を表示</a:t>
            </a:r>
            <a:endParaRPr lang="en-US" altLang="ja-JP" sz="2400" kern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　</a:t>
            </a: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plot()</a:t>
            </a:r>
            <a:endParaRPr lang="en-US" altLang="ja-JP" sz="2400" kern="0" dirty="0"/>
          </a:p>
          <a:p>
            <a:r>
              <a:rPr lang="ja-JP" altLang="en-US" sz="2400" kern="0" dirty="0"/>
              <a:t>画像のピクセル値を確認</a:t>
            </a:r>
            <a:endParaRPr lang="en-US" altLang="ja-JP" sz="2400" kern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　</a:t>
            </a:r>
            <a:r>
              <a:rPr kumimoji="1" lang="en-US" altLang="ja-JP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print()</a:t>
            </a:r>
            <a:endParaRPr kumimoji="1" lang="en-US" altLang="ja-JP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  <a:p>
            <a:endParaRPr lang="en-US" altLang="ja-JP" sz="2400" kern="0" dirty="0"/>
          </a:p>
          <a:p>
            <a:pPr marL="0" indent="0">
              <a:buNone/>
            </a:pPr>
            <a:endParaRPr lang="en-US" altLang="ja-JP" sz="2400" kern="0" dirty="0"/>
          </a:p>
          <a:p>
            <a:pPr marL="0" indent="0">
              <a:buNone/>
            </a:pPr>
            <a:r>
              <a:rPr lang="ja-JP" altLang="en-US" sz="2400" kern="0" dirty="0"/>
              <a:t>　</a:t>
            </a:r>
            <a:endParaRPr lang="en-US" altLang="ja-JP" sz="2400" kern="0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D9E7B147-48F6-2F81-D235-88B1273B2348}"/>
              </a:ext>
            </a:extLst>
          </p:cNvPr>
          <p:cNvSpPr/>
          <p:nvPr/>
        </p:nvSpPr>
        <p:spPr bwMode="auto">
          <a:xfrm>
            <a:off x="9334829" y="6121776"/>
            <a:ext cx="2159000" cy="152400"/>
          </a:xfrm>
          <a:prstGeom prst="rect">
            <a:avLst/>
          </a:prstGeom>
          <a:solidFill>
            <a:srgbClr val="3B812F">
              <a:alpha val="30196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74A5DAFA-D341-CB49-238A-E639D500D4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9332" y="3362886"/>
            <a:ext cx="1509021" cy="1159933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D41D9ABB-B78F-2468-4EC8-9660B03F90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8101" y="2632330"/>
            <a:ext cx="920797" cy="285765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sp>
        <p:nvSpPr>
          <p:cNvPr id="27" name="矢印: 右 26">
            <a:extLst>
              <a:ext uri="{FF2B5EF4-FFF2-40B4-BE49-F238E27FC236}">
                <a16:creationId xmlns:a16="http://schemas.microsoft.com/office/drawing/2014/main" id="{3E1A47E0-A6B2-3764-12E8-28CDF743735D}"/>
              </a:ext>
            </a:extLst>
          </p:cNvPr>
          <p:cNvSpPr/>
          <p:nvPr/>
        </p:nvSpPr>
        <p:spPr bwMode="auto">
          <a:xfrm>
            <a:off x="6375401" y="2709333"/>
            <a:ext cx="597844" cy="142680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163550A9-5C93-F268-FE51-F293B01D0B3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12815" b="1"/>
          <a:stretch>
            <a:fillRect/>
          </a:stretch>
        </p:blipFill>
        <p:spPr>
          <a:xfrm>
            <a:off x="10670997" y="2581024"/>
            <a:ext cx="1263715" cy="171632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sp>
        <p:nvSpPr>
          <p:cNvPr id="30" name="矢印: 右 29">
            <a:extLst>
              <a:ext uri="{FF2B5EF4-FFF2-40B4-BE49-F238E27FC236}">
                <a16:creationId xmlns:a16="http://schemas.microsoft.com/office/drawing/2014/main" id="{4CF31016-DC88-E9A1-90C0-D2071801B594}"/>
              </a:ext>
            </a:extLst>
          </p:cNvPr>
          <p:cNvSpPr/>
          <p:nvPr/>
        </p:nvSpPr>
        <p:spPr bwMode="auto">
          <a:xfrm>
            <a:off x="10102187" y="2537701"/>
            <a:ext cx="479164" cy="171632"/>
          </a:xfrm>
          <a:prstGeom prst="rightArrow">
            <a:avLst/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33" name="矢印: 右 32">
            <a:extLst>
              <a:ext uri="{FF2B5EF4-FFF2-40B4-BE49-F238E27FC236}">
                <a16:creationId xmlns:a16="http://schemas.microsoft.com/office/drawing/2014/main" id="{C67F9A50-21F3-8FBD-384D-91C34E3D64B9}"/>
              </a:ext>
            </a:extLst>
          </p:cNvPr>
          <p:cNvSpPr/>
          <p:nvPr/>
        </p:nvSpPr>
        <p:spPr bwMode="auto">
          <a:xfrm>
            <a:off x="10336178" y="3126087"/>
            <a:ext cx="479164" cy="171632"/>
          </a:xfrm>
          <a:prstGeom prst="rightArrow">
            <a:avLst/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34" name="矢印: 右 33">
            <a:extLst>
              <a:ext uri="{FF2B5EF4-FFF2-40B4-BE49-F238E27FC236}">
                <a16:creationId xmlns:a16="http://schemas.microsoft.com/office/drawing/2014/main" id="{DD5BE853-645F-8914-A0EA-E97A00072E32}"/>
              </a:ext>
            </a:extLst>
          </p:cNvPr>
          <p:cNvSpPr/>
          <p:nvPr/>
        </p:nvSpPr>
        <p:spPr bwMode="auto">
          <a:xfrm>
            <a:off x="9038303" y="3663354"/>
            <a:ext cx="479164" cy="171632"/>
          </a:xfrm>
          <a:prstGeom prst="rightArrow">
            <a:avLst/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35" name="矢印: 右 34">
            <a:extLst>
              <a:ext uri="{FF2B5EF4-FFF2-40B4-BE49-F238E27FC236}">
                <a16:creationId xmlns:a16="http://schemas.microsoft.com/office/drawing/2014/main" id="{0A47BC1F-3E9E-333B-C0A6-75EC938ABA5D}"/>
              </a:ext>
            </a:extLst>
          </p:cNvPr>
          <p:cNvSpPr/>
          <p:nvPr/>
        </p:nvSpPr>
        <p:spPr bwMode="auto">
          <a:xfrm>
            <a:off x="6238272" y="3397452"/>
            <a:ext cx="597844" cy="142680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E9B8BF4A-00C8-1316-963B-2DDEC3606EB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b="59839"/>
          <a:stretch>
            <a:fillRect/>
          </a:stretch>
        </p:blipFill>
        <p:spPr>
          <a:xfrm>
            <a:off x="5708118" y="4069227"/>
            <a:ext cx="1225613" cy="627379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sp>
        <p:nvSpPr>
          <p:cNvPr id="38" name="矢印: 右 37">
            <a:extLst>
              <a:ext uri="{FF2B5EF4-FFF2-40B4-BE49-F238E27FC236}">
                <a16:creationId xmlns:a16="http://schemas.microsoft.com/office/drawing/2014/main" id="{11610DAA-010A-708C-BF7E-8D194046E7CB}"/>
              </a:ext>
            </a:extLst>
          </p:cNvPr>
          <p:cNvSpPr/>
          <p:nvPr/>
        </p:nvSpPr>
        <p:spPr bwMode="auto">
          <a:xfrm>
            <a:off x="5338148" y="4157376"/>
            <a:ext cx="373892" cy="198474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88F1C940-08FC-FC76-78B0-46FF9A22157E}"/>
              </a:ext>
            </a:extLst>
          </p:cNvPr>
          <p:cNvCxnSpPr/>
          <p:nvPr/>
        </p:nvCxnSpPr>
        <p:spPr bwMode="auto">
          <a:xfrm>
            <a:off x="8578353" y="6053667"/>
            <a:ext cx="684278" cy="14430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1887965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CE76E-06DD-60B5-7ACF-56BD4E062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A6AC51A-4E9B-BE9D-3731-B36313AD68A1}"/>
              </a:ext>
            </a:extLst>
          </p:cNvPr>
          <p:cNvSpPr txBox="1">
            <a:spLocks/>
          </p:cNvSpPr>
          <p:nvPr/>
        </p:nvSpPr>
        <p:spPr>
          <a:xfrm>
            <a:off x="762000" y="1203306"/>
            <a:ext cx="7396729" cy="55759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ja-JP" altLang="en-US" b="1" kern="0" dirty="0"/>
              <a:t>画像のリサイズ</a:t>
            </a:r>
            <a:endParaRPr lang="en-US" altLang="ja-JP" sz="2000" kern="0" dirty="0">
              <a:solidFill>
                <a:schemeClr val="accent6"/>
              </a:solidFill>
            </a:endParaRP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3D994D6B-822D-018C-EBDB-BF38E7014BC5}"/>
              </a:ext>
            </a:extLst>
          </p:cNvPr>
          <p:cNvSpPr txBox="1">
            <a:spLocks/>
          </p:cNvSpPr>
          <p:nvPr/>
        </p:nvSpPr>
        <p:spPr>
          <a:xfrm>
            <a:off x="773722" y="2134889"/>
            <a:ext cx="5694811" cy="2642416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2400" kern="0" dirty="0"/>
              <a:t>画像を</a:t>
            </a:r>
            <a:r>
              <a:rPr lang="en-US" altLang="ja-JP" sz="2400" kern="0" dirty="0"/>
              <a:t>256×256</a:t>
            </a:r>
            <a:r>
              <a:rPr lang="ja-JP" altLang="en-US" sz="2400" kern="0" dirty="0"/>
              <a:t> に統一</a:t>
            </a:r>
            <a:endParaRPr lang="en-US" altLang="ja-JP" sz="2400" kern="0" dirty="0"/>
          </a:p>
          <a:p>
            <a:pPr marL="0" indent="0">
              <a:buNone/>
            </a:pP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　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seq(1,dim(</a:t>
            </a:r>
            <a:r>
              <a:rPr lang="en-US" altLang="ja-JP" sz="1800" kern="0" dirty="0" err="1">
                <a:solidFill>
                  <a:schemeClr val="accent3">
                    <a:lumMod val="50000"/>
                  </a:schemeClr>
                </a:solidFill>
              </a:rPr>
              <a:t>img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)[1], </a:t>
            </a:r>
            <a:r>
              <a:rPr lang="en-US" altLang="ja-JP" sz="1800" kern="0" dirty="0" err="1">
                <a:solidFill>
                  <a:schemeClr val="accent3">
                    <a:lumMod val="50000"/>
                  </a:schemeClr>
                </a:solidFill>
              </a:rPr>
              <a:t>length.out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 = 256)</a:t>
            </a:r>
          </a:p>
          <a:p>
            <a:pPr marL="0" indent="0">
              <a:buNone/>
            </a:pP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　１行目から、画像の最後の行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(375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行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)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までの範囲で</a:t>
            </a: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　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256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個の数字を作る</a:t>
            </a: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　→当間隔にわけるため小数になってしまう</a:t>
            </a: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　</a:t>
            </a:r>
            <a:r>
              <a:rPr kumimoji="1" lang="en-US" altLang="ja-JP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round()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　小数を一番近い整数に丸める</a:t>
            </a:r>
            <a:endParaRPr kumimoji="1" lang="en-US" altLang="ja-JP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  <a:p>
            <a:pPr marL="0" indent="0">
              <a:buNone/>
            </a:pPr>
            <a:endParaRPr lang="en-US" altLang="ja-JP" sz="2400" kern="0" dirty="0"/>
          </a:p>
          <a:p>
            <a:pPr marL="0" indent="0">
              <a:buNone/>
            </a:pPr>
            <a:r>
              <a:rPr lang="ja-JP" altLang="en-US" sz="2400" kern="0" dirty="0"/>
              <a:t>　</a:t>
            </a:r>
            <a:endParaRPr lang="en-US" altLang="ja-JP" sz="2400" kern="0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D7F5436-E0FE-2A96-3D0C-4815DC188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cq05_imgc_hist_svm.ipynb</a:t>
            </a:r>
            <a:endParaRPr kumimoji="1" lang="ja-JP" alt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871E0B9-D603-E48B-9513-7238147D6F33}"/>
              </a:ext>
            </a:extLst>
          </p:cNvPr>
          <p:cNvSpPr/>
          <p:nvPr/>
        </p:nvSpPr>
        <p:spPr bwMode="auto">
          <a:xfrm>
            <a:off x="7201728" y="1375073"/>
            <a:ext cx="3752451" cy="22000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5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Python</a:t>
            </a:r>
            <a:endParaRPr kumimoji="1" lang="ja-JP" altLang="en-US" sz="15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1A449B76-7455-8A12-DFF9-C61F0867465E}"/>
              </a:ext>
            </a:extLst>
          </p:cNvPr>
          <p:cNvSpPr/>
          <p:nvPr/>
        </p:nvSpPr>
        <p:spPr bwMode="auto">
          <a:xfrm>
            <a:off x="7201728" y="3729893"/>
            <a:ext cx="4870296" cy="2584304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500" dirty="0">
                <a:solidFill>
                  <a:schemeClr val="accent4">
                    <a:lumMod val="65000"/>
                    <a:lumOff val="35000"/>
                  </a:schemeClr>
                </a:solidFill>
                <a:latin typeface="Arial" charset="0"/>
                <a:ea typeface="ＭＳ Ｐゴシック" pitchFamily="50" charset="-128"/>
              </a:rPr>
              <a:t>R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2AB8315-D764-DABB-B3CF-23B6756B9EA8}"/>
              </a:ext>
            </a:extLst>
          </p:cNvPr>
          <p:cNvSpPr/>
          <p:nvPr/>
        </p:nvSpPr>
        <p:spPr bwMode="auto">
          <a:xfrm>
            <a:off x="4579208" y="1494398"/>
            <a:ext cx="2458758" cy="10765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2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charset="0"/>
                <a:ea typeface="ＭＳ Ｐゴシック" pitchFamily="50" charset="-128"/>
              </a:rPr>
              <a:t>dim() : </a:t>
            </a: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charset="0"/>
                <a:ea typeface="ＭＳ Ｐゴシック" pitchFamily="50" charset="-128"/>
              </a:rPr>
              <a:t>高さ</a:t>
            </a:r>
            <a:r>
              <a:rPr kumimoji="1" lang="en-US" altLang="ja-JP" sz="12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charset="0"/>
                <a:ea typeface="ＭＳ Ｐゴシック" pitchFamily="50" charset="-128"/>
              </a:rPr>
              <a:t>, </a:t>
            </a: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charset="0"/>
                <a:ea typeface="ＭＳ Ｐゴシック" pitchFamily="50" charset="-128"/>
              </a:rPr>
              <a:t>幅</a:t>
            </a:r>
            <a:r>
              <a:rPr kumimoji="1" lang="en-US" altLang="ja-JP" sz="12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charset="0"/>
                <a:ea typeface="ＭＳ Ｐゴシック" pitchFamily="50" charset="-128"/>
              </a:rPr>
              <a:t>, </a:t>
            </a: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charset="0"/>
                <a:ea typeface="ＭＳ Ｐゴシック" pitchFamily="50" charset="-128"/>
              </a:rPr>
              <a:t>色</a:t>
            </a:r>
            <a:endParaRPr kumimoji="1" lang="en-US" altLang="ja-JP" sz="1200" b="0" i="0" u="none" strike="noStrike" cap="none" normalizeH="0" baseline="0" dirty="0">
              <a:ln>
                <a:noFill/>
              </a:ln>
              <a:solidFill>
                <a:schemeClr val="accent4"/>
              </a:solidFill>
              <a:effectLst/>
              <a:latin typeface="Arial" charset="0"/>
              <a:ea typeface="ＭＳ Ｐゴシック" pitchFamily="50" charset="-128"/>
            </a:endParaRPr>
          </a:p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200" dirty="0">
                <a:solidFill>
                  <a:schemeClr val="accent4"/>
                </a:solidFill>
                <a:latin typeface="Arial" charset="0"/>
                <a:ea typeface="ＭＳ Ｐゴシック" pitchFamily="50" charset="-128"/>
              </a:rPr>
              <a:t>　→</a:t>
            </a:r>
            <a:r>
              <a:rPr lang="en-US" altLang="ja-JP" sz="1200" dirty="0">
                <a:solidFill>
                  <a:schemeClr val="accent4"/>
                </a:solidFill>
                <a:latin typeface="Arial" charset="0"/>
                <a:ea typeface="ＭＳ Ｐゴシック" pitchFamily="50" charset="-128"/>
              </a:rPr>
              <a:t>dim()[1] : </a:t>
            </a:r>
            <a:r>
              <a:rPr lang="ja-JP" altLang="en-US" sz="1200" dirty="0">
                <a:solidFill>
                  <a:schemeClr val="accent4"/>
                </a:solidFill>
                <a:latin typeface="Arial" charset="0"/>
                <a:ea typeface="ＭＳ Ｐゴシック" pitchFamily="50" charset="-128"/>
              </a:rPr>
              <a:t>高さ</a:t>
            </a:r>
            <a:endParaRPr lang="en-US" altLang="ja-JP" sz="1200" dirty="0">
              <a:solidFill>
                <a:schemeClr val="accent4"/>
              </a:solidFill>
              <a:latin typeface="Arial" charset="0"/>
              <a:ea typeface="ＭＳ Ｐゴシック" pitchFamily="50" charset="-128"/>
            </a:endParaRPr>
          </a:p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200" dirty="0">
                <a:solidFill>
                  <a:schemeClr val="accent4"/>
                </a:solidFill>
                <a:latin typeface="Arial" charset="0"/>
                <a:ea typeface="ＭＳ Ｐゴシック" pitchFamily="50" charset="-128"/>
              </a:rPr>
              <a:t>　→</a:t>
            </a:r>
            <a:r>
              <a:rPr lang="en-US" altLang="ja-JP" sz="1200" dirty="0">
                <a:solidFill>
                  <a:schemeClr val="accent4"/>
                </a:solidFill>
                <a:latin typeface="Arial" charset="0"/>
                <a:ea typeface="ＭＳ Ｐゴシック" pitchFamily="50" charset="-128"/>
              </a:rPr>
              <a:t>dim()[2] : </a:t>
            </a:r>
            <a:r>
              <a:rPr lang="ja-JP" altLang="en-US" sz="1200" dirty="0">
                <a:solidFill>
                  <a:schemeClr val="accent4"/>
                </a:solidFill>
                <a:latin typeface="Arial" charset="0"/>
                <a:ea typeface="ＭＳ Ｐゴシック" pitchFamily="50" charset="-128"/>
              </a:rPr>
              <a:t>幅</a:t>
            </a:r>
            <a:endParaRPr lang="en-US" altLang="ja-JP" sz="1200" dirty="0">
              <a:solidFill>
                <a:schemeClr val="accent4"/>
              </a:solidFill>
              <a:latin typeface="Arial" charset="0"/>
              <a:ea typeface="ＭＳ Ｐゴシック" pitchFamily="50" charset="-128"/>
            </a:endParaRPr>
          </a:p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ja-JP" sz="1200" b="0" i="0" u="none" strike="noStrike" cap="none" normalizeH="0" baseline="0" dirty="0">
              <a:ln>
                <a:noFill/>
              </a:ln>
              <a:solidFill>
                <a:schemeClr val="accent4"/>
              </a:solidFill>
              <a:effectLst/>
              <a:latin typeface="Arial" charset="0"/>
              <a:ea typeface="ＭＳ Ｐゴシック" pitchFamily="50" charset="-128"/>
            </a:endParaRPr>
          </a:p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200" dirty="0">
                <a:solidFill>
                  <a:schemeClr val="accent4"/>
                </a:solidFill>
                <a:latin typeface="Arial" charset="0"/>
                <a:ea typeface="ＭＳ Ｐゴシック" pitchFamily="50" charset="-128"/>
              </a:rPr>
              <a:t>seq() : </a:t>
            </a:r>
            <a:r>
              <a:rPr lang="ja-JP" altLang="en-US" sz="1200" dirty="0">
                <a:solidFill>
                  <a:schemeClr val="accent4"/>
                </a:solidFill>
                <a:latin typeface="Arial" charset="0"/>
                <a:ea typeface="ＭＳ Ｐゴシック" pitchFamily="50" charset="-128"/>
              </a:rPr>
              <a:t>開始値</a:t>
            </a:r>
            <a:r>
              <a:rPr lang="en-US" altLang="ja-JP" sz="1200" dirty="0">
                <a:solidFill>
                  <a:schemeClr val="accent4"/>
                </a:solidFill>
                <a:latin typeface="Arial" charset="0"/>
                <a:ea typeface="ＭＳ Ｐゴシック" pitchFamily="50" charset="-128"/>
              </a:rPr>
              <a:t>, </a:t>
            </a:r>
            <a:r>
              <a:rPr lang="ja-JP" altLang="en-US" sz="1200" dirty="0">
                <a:solidFill>
                  <a:schemeClr val="accent4"/>
                </a:solidFill>
                <a:latin typeface="Arial" charset="0"/>
                <a:ea typeface="ＭＳ Ｐゴシック" pitchFamily="50" charset="-128"/>
              </a:rPr>
              <a:t>終了値</a:t>
            </a:r>
            <a:r>
              <a:rPr lang="en-US" altLang="ja-JP" sz="1200" dirty="0">
                <a:solidFill>
                  <a:schemeClr val="accent4"/>
                </a:solidFill>
                <a:latin typeface="Arial" charset="0"/>
                <a:ea typeface="ＭＳ Ｐゴシック" pitchFamily="50" charset="-128"/>
              </a:rPr>
              <a:t>, </a:t>
            </a:r>
            <a:r>
              <a:rPr lang="ja-JP" altLang="en-US" sz="1200" dirty="0">
                <a:solidFill>
                  <a:schemeClr val="accent4"/>
                </a:solidFill>
                <a:latin typeface="Arial" charset="0"/>
                <a:ea typeface="ＭＳ Ｐゴシック" pitchFamily="50" charset="-128"/>
              </a:rPr>
              <a:t>作る個数</a:t>
            </a:r>
            <a:endParaRPr kumimoji="1" lang="ja-JP" altLang="en-US" sz="1200" b="0" i="0" u="none" strike="noStrike" cap="none" normalizeH="0" baseline="0" dirty="0">
              <a:ln>
                <a:noFill/>
              </a:ln>
              <a:solidFill>
                <a:schemeClr val="accent4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C669706-5B02-518E-BCB3-78BDDD86AE9D}"/>
              </a:ext>
            </a:extLst>
          </p:cNvPr>
          <p:cNvSpPr/>
          <p:nvPr/>
        </p:nvSpPr>
        <p:spPr bwMode="auto">
          <a:xfrm>
            <a:off x="434476" y="1309982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２</a:t>
            </a: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C60226B4-9E90-8DB7-77CA-66C2972A61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930111"/>
              </p:ext>
            </p:extLst>
          </p:nvPr>
        </p:nvGraphicFramePr>
        <p:xfrm>
          <a:off x="1171255" y="5346832"/>
          <a:ext cx="5398615" cy="91440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2147857">
                  <a:extLst>
                    <a:ext uri="{9D8B030D-6E8A-4147-A177-3AD203B41FA5}">
                      <a16:colId xmlns:a16="http://schemas.microsoft.com/office/drawing/2014/main" val="165235932"/>
                    </a:ext>
                  </a:extLst>
                </a:gridCol>
                <a:gridCol w="1235692">
                  <a:extLst>
                    <a:ext uri="{9D8B030D-6E8A-4147-A177-3AD203B41FA5}">
                      <a16:colId xmlns:a16="http://schemas.microsoft.com/office/drawing/2014/main" val="1387312990"/>
                    </a:ext>
                  </a:extLst>
                </a:gridCol>
                <a:gridCol w="2015066">
                  <a:extLst>
                    <a:ext uri="{9D8B030D-6E8A-4147-A177-3AD203B41FA5}">
                      <a16:colId xmlns:a16="http://schemas.microsoft.com/office/drawing/2014/main" val="2241803932"/>
                    </a:ext>
                  </a:extLst>
                </a:gridCol>
              </a:tblGrid>
              <a:tr h="121111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Python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R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4329"/>
                  </a:ext>
                </a:extLst>
              </a:tr>
              <a:tr h="280807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画像のサイズ変更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resize()</a:t>
                      </a:r>
                      <a:endParaRPr kumimoji="1" lang="ja-JP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 dirty="0"/>
                        <a:t>縦幅定義、横幅定義</a:t>
                      </a:r>
                      <a:endParaRPr kumimoji="1" lang="en-US" altLang="ja-JP" sz="1500" dirty="0"/>
                    </a:p>
                    <a:p>
                      <a:r>
                        <a:rPr kumimoji="1" lang="ja-JP" altLang="en-US" sz="1500" dirty="0"/>
                        <a:t>→</a:t>
                      </a:r>
                      <a:r>
                        <a:rPr kumimoji="1" lang="en-US" altLang="ja-JP" sz="1500" dirty="0" err="1"/>
                        <a:t>img</a:t>
                      </a:r>
                      <a:r>
                        <a:rPr kumimoji="1" lang="en-US" altLang="ja-JP" sz="1500" dirty="0"/>
                        <a:t>[</a:t>
                      </a:r>
                      <a:r>
                        <a:rPr kumimoji="1" lang="ja-JP" altLang="en-US" sz="1500" dirty="0"/>
                        <a:t>縦幅</a:t>
                      </a:r>
                      <a:r>
                        <a:rPr kumimoji="1" lang="en-US" altLang="ja-JP" sz="1500" dirty="0"/>
                        <a:t>, </a:t>
                      </a:r>
                      <a:r>
                        <a:rPr kumimoji="1" lang="ja-JP" altLang="en-US" sz="1500" dirty="0"/>
                        <a:t>横幅</a:t>
                      </a:r>
                      <a:r>
                        <a:rPr kumimoji="1" lang="en-US" altLang="ja-JP" sz="1500" dirty="0"/>
                        <a:t>, </a:t>
                      </a:r>
                      <a:r>
                        <a:rPr kumimoji="1" lang="ja-JP" altLang="en-US" sz="1500" dirty="0"/>
                        <a:t>色</a:t>
                      </a:r>
                      <a:r>
                        <a:rPr kumimoji="1" lang="en-US" altLang="ja-JP" sz="1500" dirty="0"/>
                        <a:t>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238374"/>
                  </a:ext>
                </a:extLst>
              </a:tr>
            </a:tbl>
          </a:graphicData>
        </a:graphic>
      </p:graphicFrame>
      <p:pic>
        <p:nvPicPr>
          <p:cNvPr id="13" name="図 12">
            <a:extLst>
              <a:ext uri="{FF2B5EF4-FFF2-40B4-BE49-F238E27FC236}">
                <a16:creationId xmlns:a16="http://schemas.microsoft.com/office/drawing/2014/main" id="{F38F21BA-B8A8-5767-7996-7EE886E25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9265" y="1749012"/>
            <a:ext cx="3302170" cy="1676486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985B5EA8-1F89-1099-BB63-9D9A3BF216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0664" y="4122322"/>
            <a:ext cx="4502381" cy="1949550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CA249886-DC8C-5723-48D4-5FBB41DE981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534" t="22592" r="8600" b="11279"/>
          <a:stretch>
            <a:fillRect/>
          </a:stretch>
        </p:blipFill>
        <p:spPr>
          <a:xfrm>
            <a:off x="10554508" y="4822321"/>
            <a:ext cx="1358537" cy="1335660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2B9E862E-429A-9F67-907A-075F59D8654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2815" b="1"/>
          <a:stretch>
            <a:fillRect/>
          </a:stretch>
        </p:blipFill>
        <p:spPr>
          <a:xfrm>
            <a:off x="5938013" y="1558875"/>
            <a:ext cx="1263715" cy="171632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D4D5BC6-B5CB-04DA-B834-E6FF3EB27F7C}"/>
              </a:ext>
            </a:extLst>
          </p:cNvPr>
          <p:cNvSpPr/>
          <p:nvPr/>
        </p:nvSpPr>
        <p:spPr bwMode="auto">
          <a:xfrm>
            <a:off x="4089265" y="3923479"/>
            <a:ext cx="2458758" cy="10765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2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charset="0"/>
                <a:ea typeface="ＭＳ Ｐゴシック" pitchFamily="50" charset="-128"/>
              </a:rPr>
              <a:t>※</a:t>
            </a: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charset="0"/>
                <a:ea typeface="ＭＳ Ｐゴシック" pitchFamily="50" charset="-128"/>
              </a:rPr>
              <a:t>下記のパッケージを使用すれば</a:t>
            </a:r>
            <a:endParaRPr kumimoji="1" lang="en-US" altLang="ja-JP" sz="1200" b="0" i="0" u="none" strike="noStrike" cap="none" normalizeH="0" baseline="0" dirty="0">
              <a:ln>
                <a:noFill/>
              </a:ln>
              <a:solidFill>
                <a:schemeClr val="accent4"/>
              </a:solidFill>
              <a:effectLst/>
              <a:latin typeface="Arial" charset="0"/>
              <a:ea typeface="ＭＳ Ｐゴシック" pitchFamily="50" charset="-128"/>
            </a:endParaRPr>
          </a:p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charset="0"/>
                <a:ea typeface="ＭＳ Ｐゴシック" pitchFamily="50" charset="-128"/>
              </a:rPr>
              <a:t>関数でのリサイズも可能。</a:t>
            </a:r>
            <a:endParaRPr kumimoji="1" lang="en-US" altLang="ja-JP" sz="1200" b="0" i="0" u="none" strike="noStrike" cap="none" normalizeH="0" baseline="0" dirty="0">
              <a:ln>
                <a:noFill/>
              </a:ln>
              <a:solidFill>
                <a:schemeClr val="accent4"/>
              </a:solidFill>
              <a:effectLst/>
              <a:latin typeface="Arial" charset="0"/>
              <a:ea typeface="ＭＳ Ｐゴシック" pitchFamily="50" charset="-128"/>
            </a:endParaRPr>
          </a:p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accent4"/>
                </a:solidFill>
                <a:effectLst/>
                <a:latin typeface="Arial" charset="0"/>
                <a:ea typeface="ＭＳ Ｐゴシック" pitchFamily="50" charset="-128"/>
              </a:rPr>
              <a:t>migick</a:t>
            </a: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charset="0"/>
                <a:ea typeface="ＭＳ Ｐゴシック" pitchFamily="50" charset="-128"/>
              </a:rPr>
              <a:t>→</a:t>
            </a:r>
            <a:r>
              <a:rPr kumimoji="1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accent4"/>
                </a:solidFill>
                <a:effectLst/>
                <a:latin typeface="Arial" charset="0"/>
                <a:ea typeface="ＭＳ Ｐゴシック" pitchFamily="50" charset="-128"/>
              </a:rPr>
              <a:t>image_resize</a:t>
            </a:r>
            <a:r>
              <a:rPr kumimoji="1" lang="en-US" altLang="ja-JP" sz="12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charset="0"/>
                <a:ea typeface="ＭＳ Ｐゴシック" pitchFamily="50" charset="-128"/>
              </a:rPr>
              <a:t>()</a:t>
            </a:r>
          </a:p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2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charset="0"/>
                <a:ea typeface="ＭＳ Ｐゴシック" pitchFamily="50" charset="-128"/>
              </a:rPr>
              <a:t>imager</a:t>
            </a: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charset="0"/>
                <a:ea typeface="ＭＳ Ｐゴシック" pitchFamily="50" charset="-128"/>
              </a:rPr>
              <a:t>→</a:t>
            </a:r>
            <a:r>
              <a:rPr kumimoji="1" lang="en-US" altLang="ja-JP" sz="12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charset="0"/>
                <a:ea typeface="ＭＳ Ｐゴシック" pitchFamily="50" charset="-128"/>
              </a:rPr>
              <a:t>resize()</a:t>
            </a:r>
          </a:p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200" dirty="0" err="1">
                <a:solidFill>
                  <a:schemeClr val="accent4"/>
                </a:solidFill>
                <a:latin typeface="Arial" charset="0"/>
                <a:ea typeface="ＭＳ Ｐゴシック" pitchFamily="50" charset="-128"/>
              </a:rPr>
              <a:t>EBImage</a:t>
            </a:r>
            <a:r>
              <a:rPr lang="ja-JP" altLang="en-US" sz="1200" dirty="0">
                <a:solidFill>
                  <a:schemeClr val="accent4"/>
                </a:solidFill>
                <a:latin typeface="Arial" charset="0"/>
                <a:ea typeface="ＭＳ Ｐゴシック" pitchFamily="50" charset="-128"/>
              </a:rPr>
              <a:t>→</a:t>
            </a:r>
            <a:r>
              <a:rPr lang="en-US" altLang="ja-JP" sz="1200" dirty="0">
                <a:solidFill>
                  <a:schemeClr val="accent4"/>
                </a:solidFill>
                <a:latin typeface="Arial" charset="0"/>
                <a:ea typeface="ＭＳ Ｐゴシック" pitchFamily="50" charset="-128"/>
              </a:rPr>
              <a:t>resize</a:t>
            </a:r>
            <a:endParaRPr kumimoji="1" lang="en-US" altLang="ja-JP" sz="1200" b="0" i="0" u="none" strike="noStrike" cap="none" normalizeH="0" baseline="0" dirty="0">
              <a:ln>
                <a:noFill/>
              </a:ln>
              <a:solidFill>
                <a:schemeClr val="accent4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70DAF33A-425F-9B7E-3C3C-7ACAE70BE6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8012" y="2070343"/>
            <a:ext cx="1473988" cy="1476317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C918957A-55E8-D6F3-1960-145009BD8B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74472" y="2485264"/>
            <a:ext cx="939848" cy="215911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14C449FD-56B4-A469-5AFD-9585778F0E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26691" y="5418811"/>
            <a:ext cx="1206562" cy="120656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sp>
        <p:nvSpPr>
          <p:cNvPr id="30" name="矢印: 右 29">
            <a:extLst>
              <a:ext uri="{FF2B5EF4-FFF2-40B4-BE49-F238E27FC236}">
                <a16:creationId xmlns:a16="http://schemas.microsoft.com/office/drawing/2014/main" id="{8E33A02C-FEEB-43A7-3542-CEF0496F61DA}"/>
              </a:ext>
            </a:extLst>
          </p:cNvPr>
          <p:cNvSpPr/>
          <p:nvPr/>
        </p:nvSpPr>
        <p:spPr bwMode="auto">
          <a:xfrm>
            <a:off x="8660948" y="2530209"/>
            <a:ext cx="513524" cy="170965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32" name="矢印: 右 31">
            <a:extLst>
              <a:ext uri="{FF2B5EF4-FFF2-40B4-BE49-F238E27FC236}">
                <a16:creationId xmlns:a16="http://schemas.microsoft.com/office/drawing/2014/main" id="{D21981A8-9EF0-608C-69C8-769154258C0E}"/>
              </a:ext>
            </a:extLst>
          </p:cNvPr>
          <p:cNvSpPr/>
          <p:nvPr/>
        </p:nvSpPr>
        <p:spPr bwMode="auto">
          <a:xfrm>
            <a:off x="10114320" y="3290614"/>
            <a:ext cx="597844" cy="142680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33" name="矢印: 右 32">
            <a:extLst>
              <a:ext uri="{FF2B5EF4-FFF2-40B4-BE49-F238E27FC236}">
                <a16:creationId xmlns:a16="http://schemas.microsoft.com/office/drawing/2014/main" id="{29A420E1-741D-A018-D250-87903820A47E}"/>
              </a:ext>
            </a:extLst>
          </p:cNvPr>
          <p:cNvSpPr/>
          <p:nvPr/>
        </p:nvSpPr>
        <p:spPr bwMode="auto">
          <a:xfrm>
            <a:off x="8660948" y="5418811"/>
            <a:ext cx="415319" cy="131668"/>
          </a:xfrm>
          <a:prstGeom prst="rightArrow">
            <a:avLst/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35" name="矢印: 右 34">
            <a:extLst>
              <a:ext uri="{FF2B5EF4-FFF2-40B4-BE49-F238E27FC236}">
                <a16:creationId xmlns:a16="http://schemas.microsoft.com/office/drawing/2014/main" id="{8D3C8A0E-CA9C-1DA2-3CE4-83F74EE2AB4A}"/>
              </a:ext>
            </a:extLst>
          </p:cNvPr>
          <p:cNvSpPr/>
          <p:nvPr/>
        </p:nvSpPr>
        <p:spPr bwMode="auto">
          <a:xfrm>
            <a:off x="9076267" y="5877074"/>
            <a:ext cx="1478241" cy="131668"/>
          </a:xfrm>
          <a:prstGeom prst="rightArrow">
            <a:avLst/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613684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81547-074E-AD45-AC08-E6AC9A72B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0302372-2D71-E347-1F6A-6E1CE1671056}"/>
              </a:ext>
            </a:extLst>
          </p:cNvPr>
          <p:cNvSpPr txBox="1">
            <a:spLocks/>
          </p:cNvSpPr>
          <p:nvPr/>
        </p:nvSpPr>
        <p:spPr>
          <a:xfrm>
            <a:off x="762000" y="1203306"/>
            <a:ext cx="7396729" cy="55759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ja-JP" b="1" kern="0" dirty="0"/>
              <a:t>RGB</a:t>
            </a:r>
            <a:r>
              <a:rPr lang="ja-JP" altLang="en-US" b="1" kern="0" dirty="0"/>
              <a:t>ヒストグラムの作成</a:t>
            </a:r>
            <a:endParaRPr lang="en-US" altLang="ja-JP" sz="2000" kern="0" dirty="0">
              <a:solidFill>
                <a:schemeClr val="accent6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6316323-2AE7-835C-1FC4-7112F61F1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cq05_imgc_hist_svm.ipynb</a:t>
            </a:r>
            <a:endParaRPr kumimoji="1" lang="ja-JP" alt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7673A53-9A63-B7CC-B0CC-C04F38C0F7D2}"/>
              </a:ext>
            </a:extLst>
          </p:cNvPr>
          <p:cNvSpPr/>
          <p:nvPr/>
        </p:nvSpPr>
        <p:spPr bwMode="auto">
          <a:xfrm>
            <a:off x="5532029" y="1000912"/>
            <a:ext cx="3143781" cy="489960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5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Python</a:t>
            </a:r>
            <a:endParaRPr kumimoji="1" lang="ja-JP" altLang="en-US" sz="15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4EFC491-3CA3-6F42-6051-B2FE7CE68FA6}"/>
              </a:ext>
            </a:extLst>
          </p:cNvPr>
          <p:cNvSpPr/>
          <p:nvPr/>
        </p:nvSpPr>
        <p:spPr bwMode="auto">
          <a:xfrm>
            <a:off x="8734697" y="1000912"/>
            <a:ext cx="3367656" cy="5434722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500" dirty="0">
                <a:solidFill>
                  <a:schemeClr val="accent4">
                    <a:lumMod val="65000"/>
                    <a:lumOff val="35000"/>
                  </a:schemeClr>
                </a:solidFill>
                <a:latin typeface="Arial" charset="0"/>
                <a:ea typeface="ＭＳ Ｐゴシック" pitchFamily="50" charset="-128"/>
              </a:rPr>
              <a:t>R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0D88DB3-9BC9-AA7A-A7FA-86BA6E60EE74}"/>
              </a:ext>
            </a:extLst>
          </p:cNvPr>
          <p:cNvSpPr/>
          <p:nvPr/>
        </p:nvSpPr>
        <p:spPr bwMode="auto">
          <a:xfrm>
            <a:off x="434476" y="1309982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３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DFBD036A-451F-2CE9-7728-A039FB943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199" y="1390371"/>
            <a:ext cx="2681091" cy="1544385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61ABE037-CF1E-B843-5CC8-CFF474B89B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5228" y="2997523"/>
            <a:ext cx="2029944" cy="1328235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27DE66B9-567B-F1AF-BCE2-C95BCB3291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3199" y="4364528"/>
            <a:ext cx="1927903" cy="1392969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DFAFE899-70C5-2CEE-D42B-BB42CB3DDDC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5958"/>
          <a:stretch>
            <a:fillRect/>
          </a:stretch>
        </p:blipFill>
        <p:spPr>
          <a:xfrm>
            <a:off x="9064624" y="1125539"/>
            <a:ext cx="2917953" cy="2430343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A5A0B794-B67B-C381-C8C8-E0D3EE8C13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4624" y="4627352"/>
            <a:ext cx="1784840" cy="1674961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66280278-FD88-37F1-43D1-260E2C305B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64624" y="3577367"/>
            <a:ext cx="2776987" cy="1049985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68D222F-8F01-84C1-07BC-9C623B234D74}"/>
              </a:ext>
            </a:extLst>
          </p:cNvPr>
          <p:cNvSpPr/>
          <p:nvPr/>
        </p:nvSpPr>
        <p:spPr bwMode="auto">
          <a:xfrm>
            <a:off x="10101195" y="1076687"/>
            <a:ext cx="1061310" cy="4665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accent4"/>
                </a:solidFill>
                <a:effectLst/>
                <a:latin typeface="Arial" charset="0"/>
                <a:ea typeface="ＭＳ Ｐゴシック" pitchFamily="50" charset="-128"/>
              </a:rPr>
              <a:t>img</a:t>
            </a: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charset="0"/>
                <a:ea typeface="ＭＳ Ｐゴシック" pitchFamily="50" charset="-128"/>
              </a:rPr>
              <a:t>の色要素</a:t>
            </a:r>
            <a:endParaRPr kumimoji="1" lang="en-US" altLang="ja-JP" sz="1200" b="0" i="0" u="none" strike="noStrike" cap="none" normalizeH="0" baseline="0" dirty="0">
              <a:ln>
                <a:noFill/>
              </a:ln>
              <a:solidFill>
                <a:schemeClr val="accent4"/>
              </a:solidFill>
              <a:effectLst/>
              <a:latin typeface="Arial" charset="0"/>
              <a:ea typeface="ＭＳ Ｐゴシック" pitchFamily="50" charset="-128"/>
            </a:endParaRPr>
          </a:p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200" dirty="0">
                <a:solidFill>
                  <a:schemeClr val="accent4"/>
                </a:solidFill>
                <a:latin typeface="Arial" charset="0"/>
                <a:ea typeface="ＭＳ Ｐゴシック" pitchFamily="50" charset="-128"/>
              </a:rPr>
              <a:t>1:R, </a:t>
            </a:r>
            <a:r>
              <a:rPr kumimoji="1" lang="en-US" altLang="ja-JP" sz="12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charset="0"/>
                <a:ea typeface="ＭＳ Ｐゴシック" pitchFamily="50" charset="-128"/>
              </a:rPr>
              <a:t>2:G, 3</a:t>
            </a:r>
            <a:r>
              <a:rPr lang="en-US" altLang="ja-JP" sz="1200" dirty="0">
                <a:solidFill>
                  <a:schemeClr val="accent4"/>
                </a:solidFill>
                <a:latin typeface="Arial" charset="0"/>
                <a:ea typeface="ＭＳ Ｐゴシック" pitchFamily="50" charset="-128"/>
              </a:rPr>
              <a:t>:B</a:t>
            </a:r>
            <a:endParaRPr kumimoji="1" lang="ja-JP" altLang="en-US" sz="1200" b="0" i="0" u="none" strike="noStrike" cap="none" normalizeH="0" baseline="0" dirty="0">
              <a:ln>
                <a:noFill/>
              </a:ln>
              <a:solidFill>
                <a:schemeClr val="accent4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29" name="コンテンツ プレースホルダー 2">
            <a:extLst>
              <a:ext uri="{FF2B5EF4-FFF2-40B4-BE49-F238E27FC236}">
                <a16:creationId xmlns:a16="http://schemas.microsoft.com/office/drawing/2014/main" id="{7F44609D-2674-5C84-7393-B46298B600B9}"/>
              </a:ext>
            </a:extLst>
          </p:cNvPr>
          <p:cNvSpPr txBox="1">
            <a:spLocks/>
          </p:cNvSpPr>
          <p:nvPr/>
        </p:nvSpPr>
        <p:spPr>
          <a:xfrm>
            <a:off x="773722" y="2134889"/>
            <a:ext cx="5433439" cy="2642416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2400" kern="0" dirty="0"/>
              <a:t>画像→</a:t>
            </a:r>
            <a:r>
              <a:rPr lang="en-US" altLang="ja-JP" sz="2400" kern="0" dirty="0"/>
              <a:t>RGB</a:t>
            </a:r>
            <a:r>
              <a:rPr lang="ja-JP" altLang="en-US" sz="2400" kern="0" dirty="0"/>
              <a:t>に分離</a:t>
            </a:r>
            <a:endParaRPr lang="en-US" altLang="ja-JP" sz="2400" kern="0" dirty="0"/>
          </a:p>
          <a:p>
            <a:r>
              <a:rPr lang="ja-JP" altLang="en-US" sz="2400" kern="0" dirty="0"/>
              <a:t>画素値を</a:t>
            </a:r>
            <a:r>
              <a:rPr lang="en-US" altLang="ja-JP" sz="2400" kern="0" dirty="0"/>
              <a:t>0~255</a:t>
            </a:r>
            <a:r>
              <a:rPr lang="ja-JP" altLang="en-US" sz="2400" kern="0" dirty="0"/>
              <a:t>に変換</a:t>
            </a:r>
            <a:endParaRPr lang="en-US" altLang="ja-JP" sz="2400" kern="0" dirty="0"/>
          </a:p>
          <a:p>
            <a:pPr marL="0" indent="0">
              <a:buNone/>
            </a:pPr>
            <a:r>
              <a:rPr kumimoji="1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　</a:t>
            </a: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Python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では</a:t>
            </a: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OpenCV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で読み込んだ画像の</a:t>
            </a:r>
            <a:endParaRPr lang="en-US" altLang="ja-JP" sz="1800" kern="0" dirty="0">
              <a:solidFill>
                <a:srgbClr val="FFFFFF">
                  <a:lumMod val="50000"/>
                </a:srgbClr>
              </a:solidFill>
              <a:latin typeface="Arial"/>
              <a:ea typeface="ＭＳ Ｐゴシック"/>
            </a:endParaRPr>
          </a:p>
          <a:p>
            <a:pPr marL="0" indent="0">
              <a:buNone/>
            </a:pP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画素値が</a:t>
            </a: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0~255</a:t>
            </a:r>
          </a:p>
          <a:p>
            <a:pPr marL="0" indent="0">
              <a:buNone/>
            </a:pP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　</a:t>
            </a: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R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の </a:t>
            </a:r>
            <a:r>
              <a:rPr lang="en-US" altLang="ja-JP" sz="1800" kern="0" dirty="0" err="1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readJPG</a:t>
            </a: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()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 ではが画素値が</a:t>
            </a: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0~1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なので、</a:t>
            </a:r>
            <a:endParaRPr lang="en-US" altLang="ja-JP" sz="1800" kern="0" dirty="0">
              <a:solidFill>
                <a:srgbClr val="FFFFFF">
                  <a:lumMod val="50000"/>
                </a:srgbClr>
              </a:solidFill>
              <a:latin typeface="Arial"/>
              <a:ea typeface="ＭＳ Ｐゴシック"/>
            </a:endParaRPr>
          </a:p>
          <a:p>
            <a:pPr marL="0" indent="0">
              <a:buNone/>
            </a:pP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スケールの変換が必要</a:t>
            </a:r>
            <a:endParaRPr lang="en-US" altLang="ja-JP" sz="2400" kern="0" dirty="0"/>
          </a:p>
          <a:p>
            <a:r>
              <a:rPr lang="ja-JP" altLang="en-US" sz="2400" kern="0" dirty="0"/>
              <a:t>各色のヒストグラムを作成</a:t>
            </a:r>
            <a:endParaRPr lang="en-US" altLang="ja-JP" sz="2400" kern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　</a:t>
            </a:r>
            <a:r>
              <a:rPr kumimoji="1" lang="en-US" altLang="ja-JP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256×256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 の画像を（行列）をベクトル化</a:t>
            </a:r>
            <a:endParaRPr kumimoji="1" lang="en-US" altLang="ja-JP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  <a:p>
            <a:endParaRPr lang="en-US" altLang="ja-JP" sz="2400" kern="0" dirty="0"/>
          </a:p>
          <a:p>
            <a:pPr marL="0" indent="0">
              <a:buNone/>
            </a:pPr>
            <a:r>
              <a:rPr lang="ja-JP" altLang="en-US" sz="2400" kern="0" dirty="0"/>
              <a:t>　</a:t>
            </a:r>
            <a:endParaRPr lang="en-US" altLang="ja-JP" sz="2400" kern="0" dirty="0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EBFCB4CC-A520-9DAC-512D-486D5BACC5EF}"/>
              </a:ext>
            </a:extLst>
          </p:cNvPr>
          <p:cNvSpPr/>
          <p:nvPr/>
        </p:nvSpPr>
        <p:spPr bwMode="auto">
          <a:xfrm>
            <a:off x="1094139" y="5140907"/>
            <a:ext cx="1874598" cy="12331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200" b="1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charset="0"/>
                <a:ea typeface="ＭＳ Ｐゴシック" pitchFamily="50" charset="-128"/>
              </a:rPr>
              <a:t>plot()</a:t>
            </a:r>
            <a:r>
              <a:rPr lang="ja-JP" altLang="en-US" sz="1200" b="1" dirty="0">
                <a:solidFill>
                  <a:schemeClr val="accent4"/>
                </a:solidFill>
                <a:latin typeface="Arial" charset="0"/>
                <a:ea typeface="ＭＳ Ｐゴシック" pitchFamily="50" charset="-128"/>
              </a:rPr>
              <a:t> の</a:t>
            </a:r>
            <a:r>
              <a:rPr lang="en-US" altLang="ja-JP" sz="1200" b="1" dirty="0">
                <a:solidFill>
                  <a:schemeClr val="accent4"/>
                </a:solidFill>
                <a:latin typeface="Arial" charset="0"/>
                <a:ea typeface="ＭＳ Ｐゴシック" pitchFamily="50" charset="-128"/>
              </a:rPr>
              <a:t> type</a:t>
            </a:r>
            <a:endParaRPr kumimoji="1" lang="en-US" altLang="ja-JP" sz="1200" b="1" i="0" u="none" strike="noStrike" cap="none" normalizeH="0" baseline="0" dirty="0">
              <a:ln>
                <a:noFill/>
              </a:ln>
              <a:solidFill>
                <a:schemeClr val="accent4"/>
              </a:solidFill>
              <a:effectLst/>
              <a:latin typeface="Arial" charset="0"/>
              <a:ea typeface="ＭＳ Ｐゴシック" pitchFamily="50" charset="-128"/>
            </a:endParaRPr>
          </a:p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2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charset="0"/>
                <a:ea typeface="ＭＳ Ｐゴシック" pitchFamily="50" charset="-128"/>
              </a:rPr>
              <a:t>p(point) : </a:t>
            </a:r>
            <a:r>
              <a:rPr lang="ja-JP" altLang="en-US" sz="1200" dirty="0">
                <a:solidFill>
                  <a:schemeClr val="accent4"/>
                </a:solidFill>
                <a:latin typeface="Arial" charset="0"/>
                <a:ea typeface="ＭＳ Ｐゴシック" pitchFamily="50" charset="-128"/>
              </a:rPr>
              <a:t>点</a:t>
            </a:r>
            <a:endParaRPr lang="en-US" altLang="ja-JP" sz="1200" dirty="0">
              <a:solidFill>
                <a:schemeClr val="accent4"/>
              </a:solidFill>
              <a:latin typeface="Arial" charset="0"/>
              <a:ea typeface="ＭＳ Ｐゴシック" pitchFamily="50" charset="-128"/>
            </a:endParaRPr>
          </a:p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2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charset="0"/>
                <a:ea typeface="ＭＳ Ｐゴシック" pitchFamily="50" charset="-128"/>
              </a:rPr>
              <a:t>l(line) : </a:t>
            </a:r>
            <a:r>
              <a:rPr lang="ja-JP" altLang="en-US" sz="1200" dirty="0">
                <a:solidFill>
                  <a:schemeClr val="accent4"/>
                </a:solidFill>
                <a:latin typeface="Arial" charset="0"/>
                <a:ea typeface="ＭＳ Ｐゴシック" pitchFamily="50" charset="-128"/>
              </a:rPr>
              <a:t>線</a:t>
            </a:r>
            <a:endParaRPr lang="en-US" altLang="ja-JP" sz="1200" dirty="0">
              <a:solidFill>
                <a:schemeClr val="accent4"/>
              </a:solidFill>
              <a:latin typeface="Arial" charset="0"/>
              <a:ea typeface="ＭＳ Ｐゴシック" pitchFamily="50" charset="-128"/>
            </a:endParaRPr>
          </a:p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2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charset="0"/>
                <a:ea typeface="ＭＳ Ｐゴシック" pitchFamily="50" charset="-128"/>
              </a:rPr>
              <a:t>b(both) : </a:t>
            </a: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charset="0"/>
                <a:ea typeface="ＭＳ Ｐゴシック" pitchFamily="50" charset="-128"/>
              </a:rPr>
              <a:t>点＋線</a:t>
            </a:r>
            <a:endParaRPr kumimoji="1" lang="en-US" altLang="ja-JP" sz="1200" b="0" i="0" u="none" strike="noStrike" cap="none" normalizeH="0" baseline="0" dirty="0">
              <a:ln>
                <a:noFill/>
              </a:ln>
              <a:solidFill>
                <a:schemeClr val="accent4"/>
              </a:solidFill>
              <a:effectLst/>
              <a:latin typeface="Arial" charset="0"/>
              <a:ea typeface="ＭＳ Ｐゴシック" pitchFamily="50" charset="-128"/>
            </a:endParaRPr>
          </a:p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200" dirty="0">
                <a:solidFill>
                  <a:schemeClr val="accent4"/>
                </a:solidFill>
                <a:latin typeface="Arial" charset="0"/>
                <a:ea typeface="ＭＳ Ｐゴシック" pitchFamily="50" charset="-128"/>
              </a:rPr>
              <a:t>h(histogram-like) : </a:t>
            </a:r>
            <a:r>
              <a:rPr lang="ja-JP" altLang="en-US" sz="1200" dirty="0">
                <a:solidFill>
                  <a:schemeClr val="accent4"/>
                </a:solidFill>
                <a:latin typeface="Arial" charset="0"/>
                <a:ea typeface="ＭＳ Ｐゴシック" pitchFamily="50" charset="-128"/>
              </a:rPr>
              <a:t>縦線</a:t>
            </a:r>
            <a:endParaRPr lang="en-US" altLang="ja-JP" sz="1200" dirty="0">
              <a:solidFill>
                <a:schemeClr val="accent4"/>
              </a:solidFill>
              <a:latin typeface="Arial" charset="0"/>
              <a:ea typeface="ＭＳ Ｐゴシック" pitchFamily="50" charset="-128"/>
            </a:endParaRPr>
          </a:p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2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charset="0"/>
                <a:ea typeface="ＭＳ Ｐゴシック" pitchFamily="50" charset="-128"/>
              </a:rPr>
              <a:t>n(none) : </a:t>
            </a: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charset="0"/>
                <a:ea typeface="ＭＳ Ｐゴシック" pitchFamily="50" charset="-128"/>
              </a:rPr>
              <a:t>何もかかない</a:t>
            </a:r>
            <a:endParaRPr kumimoji="1" lang="en-US" altLang="ja-JP" sz="1200" b="0" i="0" u="none" strike="noStrike" cap="none" normalizeH="0" baseline="0" dirty="0">
              <a:ln>
                <a:noFill/>
              </a:ln>
              <a:solidFill>
                <a:schemeClr val="accent4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AC3D05B7-5511-851D-4B10-3B2A4E3D8A91}"/>
              </a:ext>
            </a:extLst>
          </p:cNvPr>
          <p:cNvSpPr/>
          <p:nvPr/>
        </p:nvSpPr>
        <p:spPr bwMode="auto">
          <a:xfrm>
            <a:off x="1633057" y="5592077"/>
            <a:ext cx="796761" cy="165420"/>
          </a:xfrm>
          <a:prstGeom prst="rect">
            <a:avLst/>
          </a:prstGeom>
          <a:solidFill>
            <a:srgbClr val="3B812F">
              <a:alpha val="30196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70854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B9B21-9CFC-5160-601A-B2B6DEDAA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470F4C-639A-ACAF-33EF-8EF728A6D672}"/>
              </a:ext>
            </a:extLst>
          </p:cNvPr>
          <p:cNvSpPr txBox="1">
            <a:spLocks/>
          </p:cNvSpPr>
          <p:nvPr/>
        </p:nvSpPr>
        <p:spPr>
          <a:xfrm>
            <a:off x="762000" y="1203306"/>
            <a:ext cx="7396729" cy="55759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ja-JP" b="1" kern="0" dirty="0"/>
              <a:t>RGB</a:t>
            </a:r>
            <a:r>
              <a:rPr lang="ja-JP" altLang="en-US" b="1" kern="0" dirty="0"/>
              <a:t>ヒストグラムの作成</a:t>
            </a:r>
            <a:endParaRPr lang="en-US" altLang="ja-JP" sz="2000" kern="0" dirty="0">
              <a:solidFill>
                <a:schemeClr val="accent6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441F911-A940-1FB8-F73C-4C3B1DC1D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cq05_imgc_hist_svm.ipynb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C5B1443-AD4A-41D9-41AF-D980A10A0EC4}"/>
              </a:ext>
            </a:extLst>
          </p:cNvPr>
          <p:cNvSpPr/>
          <p:nvPr/>
        </p:nvSpPr>
        <p:spPr bwMode="auto">
          <a:xfrm>
            <a:off x="434476" y="1309982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３</a:t>
            </a: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B9829945-4D81-C269-7F75-2CCB8F9F29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296369"/>
              </p:ext>
            </p:extLst>
          </p:nvPr>
        </p:nvGraphicFramePr>
        <p:xfrm>
          <a:off x="1887521" y="2200112"/>
          <a:ext cx="8070210" cy="3588645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2614280">
                  <a:extLst>
                    <a:ext uri="{9D8B030D-6E8A-4147-A177-3AD203B41FA5}">
                      <a16:colId xmlns:a16="http://schemas.microsoft.com/office/drawing/2014/main" val="165235932"/>
                    </a:ext>
                  </a:extLst>
                </a:gridCol>
                <a:gridCol w="2209390">
                  <a:extLst>
                    <a:ext uri="{9D8B030D-6E8A-4147-A177-3AD203B41FA5}">
                      <a16:colId xmlns:a16="http://schemas.microsoft.com/office/drawing/2014/main" val="1387312990"/>
                    </a:ext>
                  </a:extLst>
                </a:gridCol>
                <a:gridCol w="3246540">
                  <a:extLst>
                    <a:ext uri="{9D8B030D-6E8A-4147-A177-3AD203B41FA5}">
                      <a16:colId xmlns:a16="http://schemas.microsoft.com/office/drawing/2014/main" val="2241803932"/>
                    </a:ext>
                  </a:extLst>
                </a:gridCol>
              </a:tblGrid>
              <a:tr h="368066">
                <a:tc>
                  <a:txBody>
                    <a:bodyPr/>
                    <a:lstStyle/>
                    <a:p>
                      <a:endParaRPr kumimoji="1" lang="ja-JP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b="0" dirty="0"/>
                        <a:t>Python</a:t>
                      </a:r>
                      <a:endParaRPr kumimoji="1" lang="ja-JP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b="0" dirty="0"/>
                        <a:t>R</a:t>
                      </a:r>
                      <a:endParaRPr kumimoji="1" lang="ja-JP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4329"/>
                  </a:ext>
                </a:extLst>
              </a:tr>
              <a:tr h="782141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色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 b="0" dirty="0"/>
                        <a:t>赤 </a:t>
                      </a:r>
                      <a:r>
                        <a:rPr kumimoji="1" lang="en-US" altLang="ja-JP" sz="1500" b="0" dirty="0" err="1"/>
                        <a:t>img</a:t>
                      </a:r>
                      <a:r>
                        <a:rPr kumimoji="1" lang="en-US" altLang="ja-JP" sz="1500" b="0" dirty="0"/>
                        <a:t>[ : , : , 2]</a:t>
                      </a:r>
                    </a:p>
                    <a:p>
                      <a:r>
                        <a:rPr kumimoji="1" lang="ja-JP" altLang="en-US" sz="1500" b="0" dirty="0"/>
                        <a:t>緑 </a:t>
                      </a:r>
                      <a:r>
                        <a:rPr kumimoji="1" lang="en-US" altLang="ja-JP" sz="1500" b="0" dirty="0" err="1"/>
                        <a:t>img</a:t>
                      </a:r>
                      <a:r>
                        <a:rPr kumimoji="1" lang="en-US" altLang="ja-JP" sz="1500" b="0" dirty="0"/>
                        <a:t>[ : , : , 1]</a:t>
                      </a:r>
                    </a:p>
                    <a:p>
                      <a:r>
                        <a:rPr kumimoji="1" lang="ja-JP" altLang="en-US" sz="1500" b="0" dirty="0"/>
                        <a:t>青 </a:t>
                      </a:r>
                      <a:r>
                        <a:rPr kumimoji="1" lang="en-US" altLang="ja-JP" sz="1500" b="0" dirty="0" err="1"/>
                        <a:t>img</a:t>
                      </a:r>
                      <a:r>
                        <a:rPr kumimoji="1" lang="en-US" altLang="ja-JP" sz="1500" b="0" dirty="0"/>
                        <a:t>[ : , : , 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 b="0" dirty="0"/>
                        <a:t>赤 </a:t>
                      </a:r>
                      <a:r>
                        <a:rPr kumimoji="1" lang="en-US" altLang="ja-JP" sz="1500" b="0" dirty="0" err="1"/>
                        <a:t>img</a:t>
                      </a:r>
                      <a:r>
                        <a:rPr kumimoji="1" lang="en-US" altLang="ja-JP" sz="1500" b="0" dirty="0"/>
                        <a:t>[ , ,1]</a:t>
                      </a:r>
                    </a:p>
                    <a:p>
                      <a:r>
                        <a:rPr kumimoji="1" lang="ja-JP" altLang="en-US" sz="1500" b="0" dirty="0"/>
                        <a:t>緑 </a:t>
                      </a:r>
                      <a:r>
                        <a:rPr kumimoji="1" lang="en-US" altLang="ja-JP" sz="1500" b="0" dirty="0" err="1"/>
                        <a:t>img</a:t>
                      </a:r>
                      <a:r>
                        <a:rPr kumimoji="1" lang="en-US" altLang="ja-JP" sz="1500" b="0" dirty="0"/>
                        <a:t>[ , ,2]</a:t>
                      </a:r>
                    </a:p>
                    <a:p>
                      <a:r>
                        <a:rPr kumimoji="1" lang="ja-JP" altLang="en-US" sz="1500" b="0" dirty="0"/>
                        <a:t>青 </a:t>
                      </a:r>
                      <a:r>
                        <a:rPr kumimoji="1" lang="en-US" altLang="ja-JP" sz="1500" b="0" dirty="0" err="1"/>
                        <a:t>img</a:t>
                      </a:r>
                      <a:r>
                        <a:rPr kumimoji="1" lang="en-US" altLang="ja-JP" sz="1500" b="0" dirty="0"/>
                        <a:t>[ , ,3]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238374"/>
                  </a:ext>
                </a:extLst>
              </a:tr>
              <a:tr h="782141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ヒストグラムの作成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b="0" dirty="0" err="1"/>
                        <a:t>np.histogram</a:t>
                      </a:r>
                      <a:r>
                        <a:rPr kumimoji="1" lang="en-US" altLang="ja-JP" sz="1500" b="0" dirty="0"/>
                        <a:t>(</a:t>
                      </a:r>
                      <a:r>
                        <a:rPr kumimoji="1" lang="ja-JP" altLang="en-US" sz="1500" b="0" dirty="0"/>
                        <a:t>ｘ</a:t>
                      </a:r>
                      <a:r>
                        <a:rPr kumimoji="1" lang="en-US" altLang="ja-JP" sz="1500" b="0" dirty="0"/>
                        <a:t>,bins,</a:t>
                      </a:r>
                      <a:r>
                        <a:rPr kumimoji="1" lang="ja-JP" altLang="en-US" sz="1500" b="0" dirty="0"/>
                        <a:t>他</a:t>
                      </a:r>
                      <a:r>
                        <a:rPr kumimoji="1" lang="en-US" altLang="ja-JP" sz="1500" b="0" dirty="0"/>
                        <a:t>)</a:t>
                      </a:r>
                    </a:p>
                    <a:p>
                      <a:r>
                        <a:rPr kumimoji="1" lang="en-US" altLang="ja-JP" sz="1500" b="0" dirty="0"/>
                        <a:t>bins : </a:t>
                      </a:r>
                      <a:r>
                        <a:rPr kumimoji="1" lang="ja-JP" altLang="en-US" sz="1500" b="0" dirty="0"/>
                        <a:t>区間の個数</a:t>
                      </a:r>
                      <a:endParaRPr kumimoji="1" lang="en-US" altLang="ja-JP" sz="1500" b="0" dirty="0"/>
                    </a:p>
                    <a:p>
                      <a:r>
                        <a:rPr kumimoji="1" lang="ja-JP" altLang="en-US" sz="1500" b="0" dirty="0"/>
                        <a:t>他　</a:t>
                      </a:r>
                      <a:r>
                        <a:rPr kumimoji="1" lang="en-US" altLang="ja-JP" sz="1500" b="0" dirty="0"/>
                        <a:t>range : </a:t>
                      </a:r>
                      <a:r>
                        <a:rPr kumimoji="1" lang="ja-JP" altLang="en-US" sz="1500" b="0" dirty="0"/>
                        <a:t>範囲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b="0" dirty="0"/>
                        <a:t>hist(</a:t>
                      </a:r>
                      <a:r>
                        <a:rPr kumimoji="1" lang="ja-JP" altLang="en-US" sz="1500" b="0" dirty="0"/>
                        <a:t>ｘ</a:t>
                      </a:r>
                      <a:r>
                        <a:rPr kumimoji="1" lang="en-US" altLang="ja-JP" sz="1500" b="0" dirty="0"/>
                        <a:t>,breaks,</a:t>
                      </a:r>
                      <a:r>
                        <a:rPr kumimoji="1" lang="ja-JP" altLang="en-US" sz="1500" b="0" dirty="0"/>
                        <a:t>他</a:t>
                      </a:r>
                      <a:r>
                        <a:rPr kumimoji="1" lang="en-US" altLang="ja-JP" sz="1500" b="0" dirty="0"/>
                        <a:t>)</a:t>
                      </a:r>
                    </a:p>
                    <a:p>
                      <a:r>
                        <a:rPr kumimoji="1" lang="en-US" altLang="ja-JP" sz="1500" b="0" dirty="0"/>
                        <a:t>breaks : </a:t>
                      </a:r>
                      <a:r>
                        <a:rPr kumimoji="1" lang="ja-JP" altLang="en-US" sz="1500" b="0" dirty="0"/>
                        <a:t>階級の境界</a:t>
                      </a:r>
                      <a:endParaRPr kumimoji="1" lang="en-US" altLang="ja-JP" sz="1500" b="0" dirty="0"/>
                    </a:p>
                    <a:p>
                      <a:r>
                        <a:rPr kumimoji="1" lang="ja-JP" altLang="en-US" sz="1500" b="0" dirty="0"/>
                        <a:t>他　</a:t>
                      </a:r>
                      <a:r>
                        <a:rPr kumimoji="1" lang="en-US" altLang="ja-JP" sz="1500" b="0" dirty="0"/>
                        <a:t>plot = FALSE</a:t>
                      </a:r>
                      <a:r>
                        <a:rPr kumimoji="1" lang="ja-JP" altLang="en-US" sz="1500" b="0" dirty="0"/>
                        <a:t> </a:t>
                      </a:r>
                      <a:r>
                        <a:rPr kumimoji="1" lang="en-US" altLang="ja-JP" sz="1500" b="0" dirty="0"/>
                        <a:t>:</a:t>
                      </a:r>
                      <a:r>
                        <a:rPr kumimoji="1" lang="ja-JP" altLang="en-US" sz="1500" b="0" dirty="0"/>
                        <a:t> グラフの描画なし</a:t>
                      </a:r>
                      <a:endParaRPr kumimoji="1" lang="en-US" altLang="ja-JP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439253"/>
                  </a:ext>
                </a:extLst>
              </a:tr>
              <a:tr h="552099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配列を１次元にする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b="0" dirty="0"/>
                        <a:t>ravel()</a:t>
                      </a:r>
                      <a:endParaRPr kumimoji="1" lang="ja-JP" altLang="en-US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b="0" dirty="0" err="1"/>
                        <a:t>as.vector</a:t>
                      </a:r>
                      <a:r>
                        <a:rPr kumimoji="1" lang="en-US" altLang="ja-JP" sz="1500" b="0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462625"/>
                  </a:ext>
                </a:extLst>
              </a:tr>
              <a:tr h="552099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各階級の画素数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b="0" dirty="0"/>
                        <a:t>hist()</a:t>
                      </a:r>
                      <a:endParaRPr kumimoji="1" lang="ja-JP" altLang="en-US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b="0" dirty="0"/>
                        <a:t>hist()$counts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448806"/>
                  </a:ext>
                </a:extLst>
              </a:tr>
              <a:tr h="552099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各階級の境界値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b="0" dirty="0"/>
                        <a:t>bins</a:t>
                      </a:r>
                      <a:endParaRPr kumimoji="1" lang="ja-JP" altLang="en-US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b="0" dirty="0"/>
                        <a:t>hist()$breaks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676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66948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A92E6-60B2-C777-ACF3-28A5CED87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7EC94A-D275-75AF-82DE-87F06DD75AC0}"/>
              </a:ext>
            </a:extLst>
          </p:cNvPr>
          <p:cNvSpPr txBox="1">
            <a:spLocks/>
          </p:cNvSpPr>
          <p:nvPr/>
        </p:nvSpPr>
        <p:spPr>
          <a:xfrm>
            <a:off x="762000" y="1203306"/>
            <a:ext cx="7396729" cy="55759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ja-JP" altLang="en-US" b="1" kern="0" dirty="0"/>
              <a:t>柴犬の特徴量の作成</a:t>
            </a:r>
            <a:endParaRPr lang="en-US" altLang="ja-JP" sz="2000" kern="0" dirty="0">
              <a:solidFill>
                <a:schemeClr val="accent6"/>
              </a:solidFill>
            </a:endParaRP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1F0AC924-2183-8656-3A8E-71996B013E55}"/>
              </a:ext>
            </a:extLst>
          </p:cNvPr>
          <p:cNvSpPr txBox="1">
            <a:spLocks/>
          </p:cNvSpPr>
          <p:nvPr/>
        </p:nvSpPr>
        <p:spPr>
          <a:xfrm>
            <a:off x="773722" y="2143598"/>
            <a:ext cx="5433439" cy="2642416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ja-JP" sz="2400" kern="0" dirty="0"/>
              <a:t>100</a:t>
            </a:r>
            <a:r>
              <a:rPr lang="ja-JP" altLang="en-US" sz="2400" kern="0" dirty="0"/>
              <a:t>枚の画像から特徴量を作成</a:t>
            </a:r>
            <a:endParaRPr lang="en-US" altLang="ja-JP" sz="2400" kern="0" dirty="0"/>
          </a:p>
          <a:p>
            <a:r>
              <a:rPr lang="en-US" altLang="ja-JP" sz="2400" kern="0" dirty="0"/>
              <a:t>1</a:t>
            </a:r>
            <a:r>
              <a:rPr lang="ja-JP" altLang="en-US" sz="2400" kern="0" dirty="0"/>
              <a:t>枚の画像→</a:t>
            </a:r>
            <a:r>
              <a:rPr lang="en-US" altLang="ja-JP" sz="2400" kern="0" dirty="0"/>
              <a:t>768</a:t>
            </a:r>
            <a:r>
              <a:rPr lang="ja-JP" altLang="en-US" sz="2400" kern="0" dirty="0"/>
              <a:t>次元の特徴量</a:t>
            </a:r>
            <a:endParaRPr lang="en-US" altLang="ja-JP" sz="2400" kern="0" dirty="0"/>
          </a:p>
          <a:p>
            <a:pPr marL="0" indent="0">
              <a:buNone/>
            </a:pPr>
            <a:r>
              <a:rPr kumimoji="1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　</a:t>
            </a:r>
            <a:r>
              <a:rPr kumimoji="1" lang="en-US" altLang="ja-JP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RGB</a:t>
            </a:r>
            <a:r>
              <a:rPr kumimoji="1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ヒストグラム</a:t>
            </a:r>
            <a:r>
              <a:rPr kumimoji="1" lang="en-US" altLang="ja-JP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(</a:t>
            </a:r>
            <a:r>
              <a:rPr kumimoji="1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各</a:t>
            </a:r>
            <a:r>
              <a:rPr kumimoji="1" lang="en-US" altLang="ja-JP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256</a:t>
            </a:r>
            <a:r>
              <a:rPr kumimoji="1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個</a:t>
            </a:r>
            <a:r>
              <a:rPr kumimoji="1" lang="en-US" altLang="ja-JP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)</a:t>
            </a:r>
            <a:r>
              <a:rPr kumimoji="1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→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結合→</a:t>
            </a: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768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次元</a:t>
            </a:r>
            <a:endParaRPr lang="en-US" altLang="ja-JP" sz="1800" kern="0" dirty="0">
              <a:solidFill>
                <a:srgbClr val="FFFFFF">
                  <a:lumMod val="50000"/>
                </a:srgbClr>
              </a:solidFill>
              <a:latin typeface="Arial"/>
              <a:ea typeface="ＭＳ Ｐゴシック"/>
            </a:endParaRPr>
          </a:p>
          <a:p>
            <a:pPr marL="0" indent="0">
              <a:buNone/>
            </a:pP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　→</a:t>
            </a: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100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枚</a:t>
            </a: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×768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次元のデータフレームに格納</a:t>
            </a:r>
            <a:endParaRPr lang="en-US" altLang="ja-JP" sz="2400" kern="0" dirty="0"/>
          </a:p>
          <a:p>
            <a:r>
              <a:rPr lang="ja-JP" altLang="en-US" sz="2400" kern="0" dirty="0"/>
              <a:t>柴犬のラベル </a:t>
            </a:r>
            <a:r>
              <a:rPr lang="en-US" altLang="ja-JP" sz="2400" kern="0" dirty="0"/>
              <a:t>: 0 </a:t>
            </a:r>
            <a:r>
              <a:rPr lang="ja-JP" altLang="en-US" sz="2400" kern="0" dirty="0"/>
              <a:t>に設定</a:t>
            </a:r>
            <a:endParaRPr lang="en-US" altLang="ja-JP" sz="2400" kern="0" dirty="0"/>
          </a:p>
          <a:p>
            <a:pPr marL="0" indent="0">
              <a:buNone/>
            </a:pP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　後のサモエドは１に設定</a:t>
            </a:r>
            <a:endParaRPr lang="en-US" altLang="ja-JP" sz="2400" kern="0" dirty="0"/>
          </a:p>
          <a:p>
            <a:pPr marL="0" indent="0">
              <a:buNone/>
            </a:pPr>
            <a:r>
              <a:rPr lang="ja-JP" altLang="en-US" sz="2400" kern="0" dirty="0"/>
              <a:t>　</a:t>
            </a:r>
            <a:endParaRPr lang="en-US" altLang="ja-JP" sz="2400" kern="0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050E35A-D12F-C15E-5A2B-1446477A0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cq05_imgc_hist_svm.ipynb</a:t>
            </a:r>
            <a:endParaRPr kumimoji="1" lang="ja-JP" alt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3455870-E089-B929-DF4A-0ACB2EA2A260}"/>
              </a:ext>
            </a:extLst>
          </p:cNvPr>
          <p:cNvSpPr/>
          <p:nvPr/>
        </p:nvSpPr>
        <p:spPr bwMode="auto">
          <a:xfrm>
            <a:off x="5646224" y="1004699"/>
            <a:ext cx="3193833" cy="35650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5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Python</a:t>
            </a:r>
            <a:endParaRPr kumimoji="1" lang="ja-JP" altLang="en-US" sz="15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1791979D-FCC9-42E8-71EB-D92DB6C6EE45}"/>
              </a:ext>
            </a:extLst>
          </p:cNvPr>
          <p:cNvSpPr/>
          <p:nvPr/>
        </p:nvSpPr>
        <p:spPr bwMode="auto">
          <a:xfrm>
            <a:off x="8864921" y="260544"/>
            <a:ext cx="3281353" cy="6408523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500" dirty="0">
                <a:solidFill>
                  <a:schemeClr val="accent4">
                    <a:lumMod val="65000"/>
                    <a:lumOff val="35000"/>
                  </a:schemeClr>
                </a:solidFill>
                <a:latin typeface="Arial" charset="0"/>
                <a:ea typeface="ＭＳ Ｐゴシック" pitchFamily="50" charset="-128"/>
              </a:rPr>
              <a:t>R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2934B4D-01FA-473C-A205-33D17CA09EC1}"/>
              </a:ext>
            </a:extLst>
          </p:cNvPr>
          <p:cNvSpPr/>
          <p:nvPr/>
        </p:nvSpPr>
        <p:spPr bwMode="auto">
          <a:xfrm>
            <a:off x="434476" y="1309982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４</a:t>
            </a: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3BCD5761-67C6-3DAA-63C7-40ADF2AF28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232673"/>
              </p:ext>
            </p:extLst>
          </p:nvPr>
        </p:nvGraphicFramePr>
        <p:xfrm>
          <a:off x="1021140" y="4786014"/>
          <a:ext cx="6750341" cy="196596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2865656">
                  <a:extLst>
                    <a:ext uri="{9D8B030D-6E8A-4147-A177-3AD203B41FA5}">
                      <a16:colId xmlns:a16="http://schemas.microsoft.com/office/drawing/2014/main" val="165235932"/>
                    </a:ext>
                  </a:extLst>
                </a:gridCol>
                <a:gridCol w="2057549">
                  <a:extLst>
                    <a:ext uri="{9D8B030D-6E8A-4147-A177-3AD203B41FA5}">
                      <a16:colId xmlns:a16="http://schemas.microsoft.com/office/drawing/2014/main" val="1387312990"/>
                    </a:ext>
                  </a:extLst>
                </a:gridCol>
                <a:gridCol w="1827136">
                  <a:extLst>
                    <a:ext uri="{9D8B030D-6E8A-4147-A177-3AD203B41FA5}">
                      <a16:colId xmlns:a16="http://schemas.microsoft.com/office/drawing/2014/main" val="2241803932"/>
                    </a:ext>
                  </a:extLst>
                </a:gridCol>
              </a:tblGrid>
              <a:tr h="121111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Python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R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4329"/>
                  </a:ext>
                </a:extLst>
              </a:tr>
              <a:tr h="280807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フォルダ内のファイルを取得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os.listdir</a:t>
                      </a:r>
                      <a:r>
                        <a:rPr kumimoji="1" lang="en-US" altLang="ja-JP" sz="1500" dirty="0"/>
                        <a:t>()</a:t>
                      </a:r>
                      <a:endParaRPr kumimoji="1" lang="ja-JP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list.files</a:t>
                      </a:r>
                      <a:r>
                        <a:rPr kumimoji="1" lang="en-US" altLang="ja-JP" sz="1500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238374"/>
                  </a:ext>
                </a:extLst>
              </a:tr>
              <a:tr h="280807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空のリストを作成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[]</a:t>
                      </a:r>
                      <a:endParaRPr kumimoji="1" lang="ja-JP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list()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439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画像を一枚ずつ処理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for f in files</a:t>
                      </a:r>
                      <a:endParaRPr kumimoji="1" lang="ja-JP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for(f in files)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462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リストに特徴量を追加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append()</a:t>
                      </a:r>
                      <a:endParaRPr kumimoji="1" lang="ja-JP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[[..]]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6273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データフレームへ変換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pd.DataFrame</a:t>
                      </a:r>
                      <a:r>
                        <a:rPr kumimoji="1" lang="en-US" altLang="ja-JP" sz="1500" dirty="0"/>
                        <a:t>()</a:t>
                      </a:r>
                      <a:endParaRPr kumimoji="1" lang="ja-JP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as.data.frame</a:t>
                      </a:r>
                      <a:r>
                        <a:rPr kumimoji="1" lang="en-US" altLang="ja-JP" sz="1500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4437741"/>
                  </a:ext>
                </a:extLst>
              </a:tr>
            </a:tbl>
          </a:graphicData>
        </a:graphic>
      </p:graphicFrame>
      <p:pic>
        <p:nvPicPr>
          <p:cNvPr id="13" name="図 12">
            <a:extLst>
              <a:ext uri="{FF2B5EF4-FFF2-40B4-BE49-F238E27FC236}">
                <a16:creationId xmlns:a16="http://schemas.microsoft.com/office/drawing/2014/main" id="{64EF45A8-4B8F-E79D-26D9-2C3F8D44A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743" y="1395545"/>
            <a:ext cx="3018794" cy="2978454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95980AF0-38D4-E195-2845-94C2B60A56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2227" y="583554"/>
            <a:ext cx="3106743" cy="4787228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090970B8-629D-D134-BC66-2916BB9369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2227" y="5438995"/>
            <a:ext cx="2800891" cy="1054224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5A0D5A4F-01C1-2B76-571B-3A98AB1E4E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8752" y="6096636"/>
            <a:ext cx="876345" cy="177809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sp>
        <p:nvSpPr>
          <p:cNvPr id="23" name="矢印: 右 22">
            <a:extLst>
              <a:ext uri="{FF2B5EF4-FFF2-40B4-BE49-F238E27FC236}">
                <a16:creationId xmlns:a16="http://schemas.microsoft.com/office/drawing/2014/main" id="{D9D867AB-B00A-AA65-23A8-BA569E78D962}"/>
              </a:ext>
            </a:extLst>
          </p:cNvPr>
          <p:cNvSpPr/>
          <p:nvPr/>
        </p:nvSpPr>
        <p:spPr bwMode="auto">
          <a:xfrm>
            <a:off x="10215914" y="6119707"/>
            <a:ext cx="415319" cy="131668"/>
          </a:xfrm>
          <a:prstGeom prst="rightArrow">
            <a:avLst/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368315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ED911-677C-207F-0A09-930542429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8B658E-3BF5-AE9A-7EA9-D9B8491CCBC8}"/>
              </a:ext>
            </a:extLst>
          </p:cNvPr>
          <p:cNvSpPr txBox="1">
            <a:spLocks/>
          </p:cNvSpPr>
          <p:nvPr/>
        </p:nvSpPr>
        <p:spPr>
          <a:xfrm>
            <a:off x="762000" y="1203306"/>
            <a:ext cx="10820400" cy="55759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ja-JP" altLang="en-US" b="1" kern="0" dirty="0"/>
              <a:t>サモエド犬の特徴量の作成・　　データセットの結合</a:t>
            </a:r>
            <a:endParaRPr lang="en-US" altLang="ja-JP" kern="0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US" altLang="ja-JP" sz="2000" kern="0" dirty="0">
              <a:solidFill>
                <a:schemeClr val="accent6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BC4A612-3327-9B43-EC02-5E74EECDA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cq05_imgc_hist_svm.ipynb</a:t>
            </a:r>
            <a:endParaRPr kumimoji="1" lang="ja-JP" alt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3A0F829-78EE-C439-F2D9-C3A0846277AD}"/>
              </a:ext>
            </a:extLst>
          </p:cNvPr>
          <p:cNvSpPr/>
          <p:nvPr/>
        </p:nvSpPr>
        <p:spPr bwMode="auto">
          <a:xfrm>
            <a:off x="4638309" y="1739095"/>
            <a:ext cx="3825511" cy="50970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5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Python</a:t>
            </a:r>
            <a:endParaRPr kumimoji="1" lang="ja-JP" altLang="en-US" sz="15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80EC4CA1-B874-E858-40B7-F1A49D9E5EFC}"/>
              </a:ext>
            </a:extLst>
          </p:cNvPr>
          <p:cNvSpPr/>
          <p:nvPr/>
        </p:nvSpPr>
        <p:spPr bwMode="auto">
          <a:xfrm>
            <a:off x="8543783" y="1760904"/>
            <a:ext cx="3616100" cy="4067478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500" dirty="0">
                <a:solidFill>
                  <a:schemeClr val="accent4">
                    <a:lumMod val="65000"/>
                    <a:lumOff val="35000"/>
                  </a:schemeClr>
                </a:solidFill>
                <a:latin typeface="Arial" charset="0"/>
                <a:ea typeface="ＭＳ Ｐゴシック" pitchFamily="50" charset="-128"/>
              </a:rPr>
              <a:t>R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281F788-7661-43F3-6ECC-D268F83F7870}"/>
              </a:ext>
            </a:extLst>
          </p:cNvPr>
          <p:cNvSpPr/>
          <p:nvPr/>
        </p:nvSpPr>
        <p:spPr bwMode="auto">
          <a:xfrm>
            <a:off x="434476" y="1309982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４</a:t>
            </a:r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CFE78F91-F2AE-32B9-7658-0AF31841EE40}"/>
              </a:ext>
            </a:extLst>
          </p:cNvPr>
          <p:cNvSpPr txBox="1">
            <a:spLocks/>
          </p:cNvSpPr>
          <p:nvPr/>
        </p:nvSpPr>
        <p:spPr>
          <a:xfrm>
            <a:off x="163313" y="2107792"/>
            <a:ext cx="5433439" cy="2642416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2400" kern="0" dirty="0"/>
              <a:t>柴犬と同様</a:t>
            </a:r>
            <a:endParaRPr lang="en-US" altLang="ja-JP" sz="2400" kern="0" dirty="0"/>
          </a:p>
          <a:p>
            <a:r>
              <a:rPr lang="ja-JP" altLang="en-US" sz="2400" kern="0" dirty="0"/>
              <a:t>柴犬・サモエドの</a:t>
            </a:r>
            <a:endParaRPr lang="en-US" altLang="ja-JP" sz="2400" kern="0" dirty="0"/>
          </a:p>
          <a:p>
            <a:pPr marL="0" indent="0">
              <a:buNone/>
            </a:pPr>
            <a:r>
              <a:rPr lang="ja-JP" altLang="en-US" sz="2400" kern="0" dirty="0"/>
              <a:t>　　　データセットを作成</a:t>
            </a:r>
            <a:endParaRPr lang="en-US" altLang="ja-JP" sz="2400" kern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　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柴犬　</a:t>
            </a: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100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枚</a:t>
            </a: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×768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　ラベル：</a:t>
            </a: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0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1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　サモ　</a:t>
            </a: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</a:rPr>
              <a:t>100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</a:rPr>
              <a:t>枚</a:t>
            </a: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</a:rPr>
              <a:t>×768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</a:rPr>
              <a:t>　ラベル：</a:t>
            </a: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</a:rPr>
              <a:t>1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</a:rPr>
              <a:t>　　　　　　　　　↓</a:t>
            </a:r>
            <a:endParaRPr lang="en-US" altLang="ja-JP" sz="1800" kern="0" dirty="0">
              <a:solidFill>
                <a:srgbClr val="FFFFFF">
                  <a:lumMod val="50000"/>
                </a:srgbClr>
              </a:solidFill>
            </a:endParaRP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</a:rPr>
              <a:t>　　　　　</a:t>
            </a: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</a:rPr>
              <a:t>200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</a:rPr>
              <a:t>枚</a:t>
            </a: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</a:rPr>
              <a:t>×768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97F967A4-5A02-C245-40B9-104895CDF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8907" y="2018479"/>
            <a:ext cx="3187864" cy="1435174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0F334BA6-1392-3D42-702D-305818BF07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8907" y="3494281"/>
            <a:ext cx="1568531" cy="654084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CF1D45FC-4D18-74BB-7EFE-DA2E4B3DEC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681" y="2071986"/>
            <a:ext cx="3611376" cy="3380604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2A64A040-D9D8-490C-C370-DB38AEB4FB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3988" y="5526229"/>
            <a:ext cx="3601069" cy="1174392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graphicFrame>
        <p:nvGraphicFramePr>
          <p:cNvPr id="25" name="表 24">
            <a:extLst>
              <a:ext uri="{FF2B5EF4-FFF2-40B4-BE49-F238E27FC236}">
                <a16:creationId xmlns:a16="http://schemas.microsoft.com/office/drawing/2014/main" id="{97CFE6CA-8EE5-353A-28CD-65F02881BE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353708"/>
              </p:ext>
            </p:extLst>
          </p:nvPr>
        </p:nvGraphicFramePr>
        <p:xfrm>
          <a:off x="93208" y="4863289"/>
          <a:ext cx="4457539" cy="132588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2070403">
                  <a:extLst>
                    <a:ext uri="{9D8B030D-6E8A-4147-A177-3AD203B41FA5}">
                      <a16:colId xmlns:a16="http://schemas.microsoft.com/office/drawing/2014/main" val="165235932"/>
                    </a:ext>
                  </a:extLst>
                </a:gridCol>
                <a:gridCol w="1619794">
                  <a:extLst>
                    <a:ext uri="{9D8B030D-6E8A-4147-A177-3AD203B41FA5}">
                      <a16:colId xmlns:a16="http://schemas.microsoft.com/office/drawing/2014/main" val="1387312990"/>
                    </a:ext>
                  </a:extLst>
                </a:gridCol>
                <a:gridCol w="767342">
                  <a:extLst>
                    <a:ext uri="{9D8B030D-6E8A-4147-A177-3AD203B41FA5}">
                      <a16:colId xmlns:a16="http://schemas.microsoft.com/office/drawing/2014/main" val="2241803932"/>
                    </a:ext>
                  </a:extLst>
                </a:gridCol>
              </a:tblGrid>
              <a:tr h="121111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Python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R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4329"/>
                  </a:ext>
                </a:extLst>
              </a:tr>
              <a:tr h="280807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データを行方向に結合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pd.concat</a:t>
                      </a:r>
                      <a:r>
                        <a:rPr kumimoji="1" lang="en-US" altLang="ja-JP" sz="1500" dirty="0"/>
                        <a:t>()</a:t>
                      </a:r>
                      <a:endParaRPr kumimoji="1" lang="ja-JP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rbind</a:t>
                      </a:r>
                      <a:r>
                        <a:rPr kumimoji="1" lang="en-US" altLang="ja-JP" sz="1500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238374"/>
                  </a:ext>
                </a:extLst>
              </a:tr>
              <a:tr h="280807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データを配列に変換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np.array</a:t>
                      </a:r>
                      <a:r>
                        <a:rPr kumimoji="1" lang="en-US" altLang="ja-JP" sz="150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 dirty="0"/>
                        <a:t>不要</a:t>
                      </a:r>
                      <a:endParaRPr kumimoji="1" lang="en-US" altLang="ja-JP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439253"/>
                  </a:ext>
                </a:extLst>
              </a:tr>
              <a:tr h="184403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ラベルを結合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np.concatenate</a:t>
                      </a:r>
                      <a:r>
                        <a:rPr kumimoji="1" lang="en-US" altLang="ja-JP" sz="1500" dirty="0"/>
                        <a:t>()</a:t>
                      </a:r>
                      <a:endParaRPr kumimoji="1" lang="ja-JP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c()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462625"/>
                  </a:ext>
                </a:extLst>
              </a:tr>
            </a:tbl>
          </a:graphicData>
        </a:graphic>
      </p:graphicFrame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7C80913-031E-4A29-0898-DE8110B63C72}"/>
              </a:ext>
            </a:extLst>
          </p:cNvPr>
          <p:cNvSpPr/>
          <p:nvPr/>
        </p:nvSpPr>
        <p:spPr bwMode="auto">
          <a:xfrm>
            <a:off x="5920876" y="1317083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５</a:t>
            </a:r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97CEE3C4-81E1-7D18-6B23-668EFF654A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8908" y="4188993"/>
            <a:ext cx="3221478" cy="1263597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098822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895F2-8959-95E5-1337-E17695D71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82E5DD-995F-76BF-3089-0A0304344D28}"/>
              </a:ext>
            </a:extLst>
          </p:cNvPr>
          <p:cNvSpPr txBox="1">
            <a:spLocks/>
          </p:cNvSpPr>
          <p:nvPr/>
        </p:nvSpPr>
        <p:spPr>
          <a:xfrm>
            <a:off x="762000" y="1203306"/>
            <a:ext cx="7396729" cy="55759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ja-JP" altLang="en-US" b="1" kern="0" dirty="0"/>
              <a:t>学習用・テスト用に分割</a:t>
            </a:r>
            <a:endParaRPr lang="en-US" altLang="ja-JP" sz="2000" kern="0" dirty="0">
              <a:solidFill>
                <a:schemeClr val="accent6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BAC1AE6-092A-6EDE-71F6-8AE12469F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cq05_imgc_hist_svm.ipynb</a:t>
            </a:r>
            <a:endParaRPr kumimoji="1" lang="ja-JP" alt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1BF8A5D-1C1B-944E-34C6-9C3CC4D814BD}"/>
              </a:ext>
            </a:extLst>
          </p:cNvPr>
          <p:cNvSpPr/>
          <p:nvPr/>
        </p:nvSpPr>
        <p:spPr bwMode="auto">
          <a:xfrm>
            <a:off x="4982003" y="1064853"/>
            <a:ext cx="7114203" cy="129754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5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Python</a:t>
            </a:r>
            <a:endParaRPr kumimoji="1" lang="ja-JP" altLang="en-US" sz="15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B11829F-1FDC-9A37-029B-152F46F3C541}"/>
              </a:ext>
            </a:extLst>
          </p:cNvPr>
          <p:cNvSpPr/>
          <p:nvPr/>
        </p:nvSpPr>
        <p:spPr bwMode="auto">
          <a:xfrm>
            <a:off x="4988273" y="2440391"/>
            <a:ext cx="5877587" cy="1434924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500" dirty="0">
                <a:solidFill>
                  <a:schemeClr val="accent4">
                    <a:lumMod val="65000"/>
                    <a:lumOff val="35000"/>
                  </a:schemeClr>
                </a:solidFill>
                <a:latin typeface="Arial" charset="0"/>
                <a:ea typeface="ＭＳ Ｐゴシック" pitchFamily="50" charset="-128"/>
              </a:rPr>
              <a:t>R</a:t>
            </a: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C3966EB0-7D98-609C-2EA0-A8A67DB1214E}"/>
              </a:ext>
            </a:extLst>
          </p:cNvPr>
          <p:cNvSpPr txBox="1">
            <a:spLocks/>
          </p:cNvSpPr>
          <p:nvPr/>
        </p:nvSpPr>
        <p:spPr>
          <a:xfrm>
            <a:off x="773722" y="2143598"/>
            <a:ext cx="5433439" cy="1185575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2400" kern="0" dirty="0"/>
              <a:t>学習用・テスト用に分割</a:t>
            </a:r>
            <a:endParaRPr lang="en-US" altLang="ja-JP" sz="2400" kern="0" dirty="0"/>
          </a:p>
          <a:p>
            <a:pPr marL="0" indent="0">
              <a:buNone/>
            </a:pP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　学習用：</a:t>
            </a: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80%(160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枚</a:t>
            </a: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) 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→ </a:t>
            </a: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SVM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の学習</a:t>
            </a:r>
            <a:endParaRPr lang="en-US" altLang="ja-JP" sz="1800" kern="0" dirty="0">
              <a:solidFill>
                <a:srgbClr val="FFFFFF">
                  <a:lumMod val="50000"/>
                </a:srgbClr>
              </a:solidFill>
              <a:latin typeface="Arial"/>
              <a:ea typeface="ＭＳ Ｐゴシック"/>
            </a:endParaRPr>
          </a:p>
          <a:p>
            <a:pPr marL="0" indent="0">
              <a:buNone/>
            </a:pP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　テスト用：</a:t>
            </a: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20%(40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枚</a:t>
            </a: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)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 →</a:t>
            </a: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 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最終評価</a:t>
            </a:r>
            <a:endParaRPr lang="en-US" altLang="ja-JP" sz="2400" kern="0" dirty="0"/>
          </a:p>
          <a:p>
            <a:pPr marL="0" indent="0">
              <a:buNone/>
            </a:pPr>
            <a:r>
              <a:rPr lang="ja-JP" altLang="en-US" sz="2400" kern="0" dirty="0"/>
              <a:t>　</a:t>
            </a:r>
            <a:endParaRPr lang="en-US" altLang="ja-JP" sz="2400" kern="0" dirty="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DB91895C-5F44-CE5E-7A20-D70314271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7227" y="1385037"/>
            <a:ext cx="6883754" cy="920797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9AEF4113-52DF-F982-9315-12C017EC2D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8847" y="2516249"/>
            <a:ext cx="5321573" cy="1276416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5283720-8F08-9DF3-545C-EF8E41F04371}"/>
              </a:ext>
            </a:extLst>
          </p:cNvPr>
          <p:cNvSpPr/>
          <p:nvPr/>
        </p:nvSpPr>
        <p:spPr bwMode="auto">
          <a:xfrm>
            <a:off x="411753" y="1335741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6</a:t>
            </a:r>
            <a:endParaRPr kumimoji="1" lang="ja-JP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547052BC-CA0F-3D80-A308-20FF3A4A38EE}"/>
              </a:ext>
            </a:extLst>
          </p:cNvPr>
          <p:cNvSpPr/>
          <p:nvPr/>
        </p:nvSpPr>
        <p:spPr bwMode="auto">
          <a:xfrm>
            <a:off x="411752" y="4216358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b="1" dirty="0">
                <a:solidFill>
                  <a:schemeClr val="accent3"/>
                </a:solidFill>
                <a:latin typeface="Arial" charset="0"/>
                <a:ea typeface="ＭＳ Ｐゴシック" pitchFamily="50" charset="-128"/>
              </a:rPr>
              <a:t>7</a:t>
            </a:r>
            <a:endParaRPr kumimoji="1" lang="ja-JP" altLang="en-US" sz="18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26" name="コンテンツ プレースホルダー 2">
            <a:extLst>
              <a:ext uri="{FF2B5EF4-FFF2-40B4-BE49-F238E27FC236}">
                <a16:creationId xmlns:a16="http://schemas.microsoft.com/office/drawing/2014/main" id="{F6A814B2-DA79-A8B0-DEEB-288BF340BEF2}"/>
              </a:ext>
            </a:extLst>
          </p:cNvPr>
          <p:cNvSpPr txBox="1">
            <a:spLocks/>
          </p:cNvSpPr>
          <p:nvPr/>
        </p:nvSpPr>
        <p:spPr>
          <a:xfrm>
            <a:off x="761999" y="4111223"/>
            <a:ext cx="7396729" cy="55759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ja-JP" altLang="en-US" b="1" kern="0" dirty="0"/>
              <a:t>標準化</a:t>
            </a:r>
            <a:endParaRPr lang="en-US" altLang="ja-JP" sz="2000" kern="0" dirty="0">
              <a:solidFill>
                <a:schemeClr val="accent6"/>
              </a:solidFill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5C84E02B-1828-F4FA-CCF8-394C00C70ECB}"/>
              </a:ext>
            </a:extLst>
          </p:cNvPr>
          <p:cNvSpPr/>
          <p:nvPr/>
        </p:nvSpPr>
        <p:spPr bwMode="auto">
          <a:xfrm>
            <a:off x="5902661" y="5123250"/>
            <a:ext cx="5877587" cy="1456936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500" dirty="0">
                <a:solidFill>
                  <a:schemeClr val="accent4">
                    <a:lumMod val="65000"/>
                    <a:lumOff val="35000"/>
                  </a:schemeClr>
                </a:solidFill>
                <a:latin typeface="Arial" charset="0"/>
                <a:ea typeface="ＭＳ Ｐゴシック" pitchFamily="50" charset="-128"/>
              </a:rPr>
              <a:t>R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E765FA9A-7FF5-4F14-E748-EEB30BE6FB3A}"/>
              </a:ext>
            </a:extLst>
          </p:cNvPr>
          <p:cNvSpPr/>
          <p:nvPr/>
        </p:nvSpPr>
        <p:spPr bwMode="auto">
          <a:xfrm>
            <a:off x="5902663" y="4182722"/>
            <a:ext cx="2977631" cy="88207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5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Python</a:t>
            </a:r>
            <a:endParaRPr kumimoji="1" lang="ja-JP" altLang="en-US" sz="15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pic>
        <p:nvPicPr>
          <p:cNvPr id="32" name="図 31">
            <a:extLst>
              <a:ext uri="{FF2B5EF4-FFF2-40B4-BE49-F238E27FC236}">
                <a16:creationId xmlns:a16="http://schemas.microsoft.com/office/drawing/2014/main" id="{8500CE10-7505-60F2-8592-65E12DB85E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9272" y="4242739"/>
            <a:ext cx="2019404" cy="762039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1B90D40C-6989-C755-F125-F496A30B3F74}"/>
              </a:ext>
            </a:extLst>
          </p:cNvPr>
          <p:cNvCxnSpPr>
            <a:cxnSpLocks/>
          </p:cNvCxnSpPr>
          <p:nvPr/>
        </p:nvCxnSpPr>
        <p:spPr bwMode="auto">
          <a:xfrm>
            <a:off x="411752" y="4005942"/>
            <a:ext cx="11170648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コンテンツ プレースホルダー 2">
            <a:extLst>
              <a:ext uri="{FF2B5EF4-FFF2-40B4-BE49-F238E27FC236}">
                <a16:creationId xmlns:a16="http://schemas.microsoft.com/office/drawing/2014/main" id="{8FA50E5A-6785-83F6-C255-3A4FB0D7E5AD}"/>
              </a:ext>
            </a:extLst>
          </p:cNvPr>
          <p:cNvSpPr txBox="1">
            <a:spLocks/>
          </p:cNvSpPr>
          <p:nvPr/>
        </p:nvSpPr>
        <p:spPr>
          <a:xfrm>
            <a:off x="469222" y="4972722"/>
            <a:ext cx="5433439" cy="1607464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2400" kern="0" dirty="0"/>
              <a:t>学習データから平均・標準偏差を計算</a:t>
            </a:r>
            <a:endParaRPr lang="en-US" altLang="ja-JP" sz="2400" kern="0" dirty="0"/>
          </a:p>
          <a:p>
            <a:r>
              <a:rPr lang="ja-JP" altLang="en-US" sz="2400" kern="0" dirty="0"/>
              <a:t>標準偏差</a:t>
            </a:r>
            <a:r>
              <a:rPr lang="en-US" altLang="ja-JP" sz="2400" kern="0" dirty="0"/>
              <a:t>0 </a:t>
            </a:r>
            <a:r>
              <a:rPr lang="ja-JP" altLang="en-US" sz="2400" kern="0" dirty="0"/>
              <a:t>→</a:t>
            </a:r>
            <a:r>
              <a:rPr lang="en-US" altLang="ja-JP" sz="2400" kern="0" dirty="0"/>
              <a:t> </a:t>
            </a:r>
            <a:r>
              <a:rPr lang="ja-JP" altLang="en-US" sz="2400" kern="0" dirty="0"/>
              <a:t>標準偏差１</a:t>
            </a:r>
            <a:r>
              <a:rPr lang="en-US" altLang="ja-JP" sz="2400" kern="0" dirty="0"/>
              <a:t>(</a:t>
            </a:r>
            <a:r>
              <a:rPr lang="ja-JP" altLang="en-US" sz="2400" kern="0" dirty="0"/>
              <a:t>平均</a:t>
            </a:r>
            <a:r>
              <a:rPr lang="en-US" altLang="ja-JP" sz="2400" kern="0" dirty="0"/>
              <a:t>0)</a:t>
            </a:r>
          </a:p>
          <a:p>
            <a:pPr marL="0" indent="0">
              <a:buNone/>
            </a:pP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　</a:t>
            </a:r>
            <a:r>
              <a:rPr lang="en-US" altLang="ja-JP" sz="1800" kern="0" dirty="0" err="1">
                <a:solidFill>
                  <a:schemeClr val="accent3">
                    <a:lumMod val="50000"/>
                  </a:schemeClr>
                </a:solidFill>
              </a:rPr>
              <a:t>StandardScaler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（）に対応する処理を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R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の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scale()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で実現　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※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標準化の式の分母が</a:t>
            </a:r>
            <a:r>
              <a:rPr lang="en-US" altLang="ja-JP" sz="1800" kern="0" dirty="0">
                <a:solidFill>
                  <a:schemeClr val="accent3">
                    <a:lumMod val="50000"/>
                  </a:schemeClr>
                </a:solidFill>
              </a:rPr>
              <a:t>0</a:t>
            </a:r>
            <a:r>
              <a:rPr lang="ja-JP" altLang="en-US" sz="1800" kern="0" dirty="0">
                <a:solidFill>
                  <a:schemeClr val="accent3">
                    <a:lumMod val="50000"/>
                  </a:schemeClr>
                </a:solidFill>
              </a:rPr>
              <a:t>になることを防ぐ</a:t>
            </a:r>
            <a:endParaRPr lang="en-US" altLang="ja-JP" sz="1800" kern="0" dirty="0">
              <a:solidFill>
                <a:schemeClr val="accent3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正方形/長方形 40">
                <a:extLst>
                  <a:ext uri="{FF2B5EF4-FFF2-40B4-BE49-F238E27FC236}">
                    <a16:creationId xmlns:a16="http://schemas.microsoft.com/office/drawing/2014/main" id="{9F8EBB2C-FBBE-7C28-89E0-EF9819847AF4}"/>
                  </a:ext>
                </a:extLst>
              </p:cNvPr>
              <p:cNvSpPr/>
              <p:nvPr/>
            </p:nvSpPr>
            <p:spPr bwMode="auto">
              <a:xfrm>
                <a:off x="2394780" y="4086860"/>
                <a:ext cx="2191322" cy="8748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9525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ja-JP" altLang="en-US" b="0" u="none" strike="noStrike" cap="none" normalizeH="0" baseline="0" dirty="0">
                    <a:ln>
                      <a:noFill/>
                    </a:ln>
                    <a:solidFill>
                      <a:schemeClr val="accent4"/>
                    </a:solidFill>
                    <a:effectLst/>
                    <a:ea typeface="ＭＳ Ｐゴシック" pitchFamily="50" charset="-128"/>
                  </a:rPr>
                  <a:t>標準化の式</a:t>
                </a:r>
                <a14:m>
                  <m:oMath xmlns:m="http://schemas.openxmlformats.org/officeDocument/2006/math">
                    <m:r>
                      <a:rPr lang="ja-JP" alt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ea typeface="ＭＳ Ｐゴシック" pitchFamily="50" charset="-128"/>
                      </a:rPr>
                      <m:t>　</m:t>
                    </m:r>
                    <m:r>
                      <a:rPr lang="en-US" altLang="ja-JP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ea typeface="ＭＳ Ｐゴシック" pitchFamily="50" charset="-128"/>
                      </a:rPr>
                      <m:t>:</m:t>
                    </m:r>
                    <m:r>
                      <a:rPr lang="ja-JP" alt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  <a:ea typeface="ＭＳ Ｐゴシック" pitchFamily="50" charset="-128"/>
                      </a:rPr>
                      <m:t>　</m:t>
                    </m:r>
                    <m:f>
                      <m:fPr>
                        <m:ctrlPr>
                          <a:rPr kumimoji="1" lang="en-US" altLang="ja-JP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  <a:effectLst/>
                            <a:latin typeface="Cambria Math" panose="02040503050406030204" pitchFamily="18" charset="0"/>
                            <a:ea typeface="ＭＳ Ｐゴシック" pitchFamily="50" charset="-128"/>
                          </a:rPr>
                        </m:ctrlPr>
                      </m:fPr>
                      <m:num>
                        <m:r>
                          <a:rPr kumimoji="1" lang="en-US" altLang="ja-JP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  <a:effectLst/>
                            <a:latin typeface="Cambria Math" panose="02040503050406030204" pitchFamily="18" charset="0"/>
                            <a:ea typeface="ＭＳ Ｐゴシック" pitchFamily="50" charset="-128"/>
                          </a:rPr>
                          <m:t>𝑥</m:t>
                        </m:r>
                        <m:r>
                          <a:rPr kumimoji="1" lang="en-US" altLang="ja-JP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accent4"/>
                            </a:solidFill>
                            <a:effectLst/>
                            <a:latin typeface="Cambria Math" panose="02040503050406030204" pitchFamily="18" charset="0"/>
                            <a:ea typeface="ＭＳ Ｐゴシック" pitchFamily="50" charset="-128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ja-JP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ＭＳ Ｐゴシック" pitchFamily="50" charset="-128"/>
                          </a:rPr>
                          <m:t>μ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ja-JP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ＭＳ Ｐゴシック" pitchFamily="50" charset="-128"/>
                          </a:rPr>
                          <m:t>σ</m:t>
                        </m:r>
                      </m:den>
                    </m:f>
                  </m:oMath>
                </a14:m>
                <a:endParaRPr lang="en-US" altLang="ja-JP" dirty="0">
                  <a:solidFill>
                    <a:schemeClr val="accent4"/>
                  </a:solidFill>
                  <a:latin typeface="Arial" charset="0"/>
                  <a:ea typeface="ＭＳ Ｐゴシック" pitchFamily="50" charset="-128"/>
                </a:endParaRP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ja-JP" sz="1200" b="0" i="0" u="none" strike="noStrike" cap="none" normalizeH="0" baseline="0" dirty="0">
                    <a:ln>
                      <a:noFill/>
                    </a:ln>
                    <a:solidFill>
                      <a:schemeClr val="accent4"/>
                    </a:solidFill>
                    <a:effectLst/>
                    <a:latin typeface="Arial" charset="0"/>
                    <a:ea typeface="ＭＳ Ｐゴシック" pitchFamily="50" charset="-128"/>
                  </a:rPr>
                  <a:t>μ</a:t>
                </a:r>
                <a:r>
                  <a:rPr lang="ja-JP" altLang="en-US" sz="1200" dirty="0">
                    <a:solidFill>
                      <a:schemeClr val="accent4"/>
                    </a:solidFill>
                    <a:latin typeface="Arial" charset="0"/>
                    <a:ea typeface="ＭＳ Ｐゴシック" pitchFamily="50" charset="-128"/>
                  </a:rPr>
                  <a:t> </a:t>
                </a:r>
                <a:r>
                  <a:rPr lang="en-US" altLang="ja-JP" sz="1200" dirty="0">
                    <a:solidFill>
                      <a:schemeClr val="accent4"/>
                    </a:solidFill>
                    <a:latin typeface="Arial" charset="0"/>
                    <a:ea typeface="ＭＳ Ｐゴシック" pitchFamily="50" charset="-128"/>
                  </a:rPr>
                  <a:t>:</a:t>
                </a:r>
                <a:r>
                  <a:rPr lang="ja-JP" altLang="en-US" sz="1200" dirty="0">
                    <a:solidFill>
                      <a:schemeClr val="accent4"/>
                    </a:solidFill>
                    <a:latin typeface="Arial" charset="0"/>
                    <a:ea typeface="ＭＳ Ｐゴシック" pitchFamily="50" charset="-128"/>
                  </a:rPr>
                  <a:t> 平均値</a:t>
                </a:r>
                <a:endParaRPr lang="en-US" altLang="ja-JP" sz="1200" dirty="0">
                  <a:solidFill>
                    <a:schemeClr val="accent4"/>
                  </a:solidFill>
                  <a:latin typeface="Arial" charset="0"/>
                  <a:ea typeface="ＭＳ Ｐゴシック" pitchFamily="50" charset="-128"/>
                </a:endParaRP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ja-JP" sz="1200" dirty="0">
                    <a:solidFill>
                      <a:schemeClr val="accent4"/>
                    </a:solidFill>
                    <a:latin typeface="Arial" charset="0"/>
                    <a:ea typeface="ＭＳ Ｐゴシック" pitchFamily="50" charset="-128"/>
                  </a:rPr>
                  <a:t>σ : </a:t>
                </a:r>
                <a:r>
                  <a:rPr lang="ja-JP" altLang="en-US" sz="1200" dirty="0">
                    <a:solidFill>
                      <a:schemeClr val="accent4"/>
                    </a:solidFill>
                    <a:latin typeface="Arial" charset="0"/>
                    <a:ea typeface="ＭＳ Ｐゴシック" pitchFamily="50" charset="-128"/>
                  </a:rPr>
                  <a:t>標準偏差</a:t>
                </a:r>
                <a:endParaRPr kumimoji="1" lang="en-US" altLang="ja-JP" sz="1200" b="0" i="0" u="none" strike="noStrike" cap="none" normalizeH="0" baseline="0" dirty="0">
                  <a:ln>
                    <a:noFill/>
                  </a:ln>
                  <a:solidFill>
                    <a:schemeClr val="accent4"/>
                  </a:solidFill>
                  <a:effectLst/>
                  <a:latin typeface="Arial" charset="0"/>
                  <a:ea typeface="ＭＳ Ｐゴシック" pitchFamily="50" charset="-128"/>
                </a:endParaRPr>
              </a:p>
            </p:txBody>
          </p:sp>
        </mc:Choice>
        <mc:Fallback>
          <p:sp>
            <p:nvSpPr>
              <p:cNvPr id="41" name="正方形/長方形 40">
                <a:extLst>
                  <a:ext uri="{FF2B5EF4-FFF2-40B4-BE49-F238E27FC236}">
                    <a16:creationId xmlns:a16="http://schemas.microsoft.com/office/drawing/2014/main" id="{9F8EBB2C-FBBE-7C28-89E0-EF9819847A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94780" y="4086860"/>
                <a:ext cx="2191322" cy="874880"/>
              </a:xfrm>
              <a:prstGeom prst="rect">
                <a:avLst/>
              </a:prstGeom>
              <a:blipFill>
                <a:blip r:embed="rId6"/>
                <a:stretch>
                  <a:fillRect l="-554" b="-685"/>
                </a:stretch>
              </a:blipFill>
              <a:ln w="9525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" name="図 44">
            <a:extLst>
              <a:ext uri="{FF2B5EF4-FFF2-40B4-BE49-F238E27FC236}">
                <a16:creationId xmlns:a16="http://schemas.microsoft.com/office/drawing/2014/main" id="{FEB3AC69-CFC3-EAF8-ACC0-6445BEAB0A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330" y="5215323"/>
            <a:ext cx="4826248" cy="1282766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857212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50035-231A-A07A-4424-9F1C96257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44244A-B079-19BE-ED47-B26C45353294}"/>
              </a:ext>
            </a:extLst>
          </p:cNvPr>
          <p:cNvSpPr txBox="1">
            <a:spLocks/>
          </p:cNvSpPr>
          <p:nvPr/>
        </p:nvSpPr>
        <p:spPr>
          <a:xfrm>
            <a:off x="762000" y="1203306"/>
            <a:ext cx="7396729" cy="55759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ja-JP" altLang="en-US" b="1" kern="0" dirty="0"/>
              <a:t>５分割検証</a:t>
            </a:r>
            <a:endParaRPr lang="en-US" altLang="ja-JP" sz="2000" kern="0" dirty="0">
              <a:solidFill>
                <a:schemeClr val="accent6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61F63CF-D825-C431-4096-2399CFA31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cq05_imgc_hist_svm.ipynb</a:t>
            </a:r>
            <a:endParaRPr kumimoji="1" lang="ja-JP" alt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7EF575E-F667-4846-0A0B-ABE727973C27}"/>
              </a:ext>
            </a:extLst>
          </p:cNvPr>
          <p:cNvSpPr/>
          <p:nvPr/>
        </p:nvSpPr>
        <p:spPr bwMode="auto">
          <a:xfrm>
            <a:off x="7306491" y="1064852"/>
            <a:ext cx="4123509" cy="236414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5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Python</a:t>
            </a:r>
            <a:endParaRPr kumimoji="1" lang="ja-JP" altLang="en-US" sz="15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1F962386-F4AF-4717-8C1B-65D6D96CEEDC}"/>
              </a:ext>
            </a:extLst>
          </p:cNvPr>
          <p:cNvSpPr/>
          <p:nvPr/>
        </p:nvSpPr>
        <p:spPr bwMode="auto">
          <a:xfrm>
            <a:off x="7306492" y="3494128"/>
            <a:ext cx="4123508" cy="2885407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500" dirty="0">
                <a:solidFill>
                  <a:schemeClr val="accent4">
                    <a:lumMod val="65000"/>
                    <a:lumOff val="35000"/>
                  </a:schemeClr>
                </a:solidFill>
                <a:latin typeface="Arial" charset="0"/>
                <a:ea typeface="ＭＳ Ｐゴシック" pitchFamily="50" charset="-128"/>
              </a:rPr>
              <a:t>R</a:t>
            </a: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106EBF33-EF1D-D010-9428-2172C4AC696E}"/>
              </a:ext>
            </a:extLst>
          </p:cNvPr>
          <p:cNvSpPr txBox="1">
            <a:spLocks/>
          </p:cNvSpPr>
          <p:nvPr/>
        </p:nvSpPr>
        <p:spPr>
          <a:xfrm>
            <a:off x="773723" y="2143598"/>
            <a:ext cx="6410848" cy="3511096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2400" kern="0" dirty="0"/>
              <a:t>学習データを５つのグループに分割</a:t>
            </a:r>
            <a:endParaRPr lang="en-US" altLang="ja-JP" sz="2400" kern="0" dirty="0"/>
          </a:p>
          <a:p>
            <a:r>
              <a:rPr lang="ja-JP" altLang="en-US" sz="2400" kern="0" dirty="0">
                <a:latin typeface="Arial"/>
                <a:ea typeface="ＭＳ Ｐゴシック"/>
              </a:rPr>
              <a:t>検証するグループを入れ替えて５回繰り返す</a:t>
            </a:r>
            <a:endParaRPr lang="en-US" altLang="ja-JP" sz="2400" kern="0" dirty="0">
              <a:latin typeface="Arial"/>
              <a:ea typeface="ＭＳ Ｐゴシック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　</a:t>
            </a:r>
            <a:r>
              <a:rPr lang="en-US" altLang="ja-JP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1</a:t>
            </a:r>
            <a:r>
              <a:rPr lang="ja-JP" altLang="en-US" sz="1800" kern="0" dirty="0">
                <a:solidFill>
                  <a:srgbClr val="FFFFFF">
                    <a:lumMod val="50000"/>
                  </a:srgbClr>
                </a:solidFill>
                <a:latin typeface="Arial"/>
                <a:ea typeface="ＭＳ Ｐゴシック"/>
              </a:rPr>
              <a:t>回目：１グループ目で検証・他グループで学習</a:t>
            </a:r>
            <a:endParaRPr lang="en-US" altLang="ja-JP" sz="1800" kern="0" dirty="0">
              <a:solidFill>
                <a:srgbClr val="FFFFFF">
                  <a:lumMod val="50000"/>
                </a:srgbClr>
              </a:solidFill>
              <a:latin typeface="Arial"/>
              <a:ea typeface="ＭＳ Ｐゴシック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　２回目：２グループ目で検証・他グループで学習</a:t>
            </a:r>
            <a:endParaRPr kumimoji="1" lang="en-US" altLang="ja-JP" sz="1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2400" kern="0" dirty="0">
              <a:latin typeface="Arial"/>
              <a:ea typeface="ＭＳ Ｐゴシック"/>
            </a:endParaRPr>
          </a:p>
          <a:p>
            <a:r>
              <a:rPr lang="ja-JP" altLang="en-US" sz="2400" kern="0" dirty="0"/>
              <a:t>５回の正解率から平均・標準偏差を求める　</a:t>
            </a:r>
            <a:endParaRPr lang="en-US" altLang="ja-JP" sz="2400" kern="0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F0A6C96B-16DD-0D1B-3CEB-D3E3BDF6EFBE}"/>
              </a:ext>
            </a:extLst>
          </p:cNvPr>
          <p:cNvSpPr/>
          <p:nvPr/>
        </p:nvSpPr>
        <p:spPr bwMode="auto">
          <a:xfrm>
            <a:off x="411753" y="1335741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８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6480359-5D00-74DA-3EB5-EA6B64421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729" y="1207571"/>
            <a:ext cx="2744080" cy="207871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4F71B0F4-F96C-89C7-86AD-23E58ECF8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8731" y="3642555"/>
            <a:ext cx="3111813" cy="2635943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FBC99A81-367A-5459-DDF7-ABA8327DA9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7074161"/>
              </p:ext>
            </p:extLst>
          </p:nvPr>
        </p:nvGraphicFramePr>
        <p:xfrm>
          <a:off x="732673" y="4594177"/>
          <a:ext cx="5542017" cy="100584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2070403">
                  <a:extLst>
                    <a:ext uri="{9D8B030D-6E8A-4147-A177-3AD203B41FA5}">
                      <a16:colId xmlns:a16="http://schemas.microsoft.com/office/drawing/2014/main" val="165235932"/>
                    </a:ext>
                  </a:extLst>
                </a:gridCol>
                <a:gridCol w="1877193">
                  <a:extLst>
                    <a:ext uri="{9D8B030D-6E8A-4147-A177-3AD203B41FA5}">
                      <a16:colId xmlns:a16="http://schemas.microsoft.com/office/drawing/2014/main" val="1387312990"/>
                    </a:ext>
                  </a:extLst>
                </a:gridCol>
                <a:gridCol w="1594421">
                  <a:extLst>
                    <a:ext uri="{9D8B030D-6E8A-4147-A177-3AD203B41FA5}">
                      <a16:colId xmlns:a16="http://schemas.microsoft.com/office/drawing/2014/main" val="2241803932"/>
                    </a:ext>
                  </a:extLst>
                </a:gridCol>
              </a:tblGrid>
              <a:tr h="121111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Python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R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4329"/>
                  </a:ext>
                </a:extLst>
              </a:tr>
              <a:tr h="280807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５分割</a:t>
                      </a: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/>
                        <a:t>KFold</a:t>
                      </a:r>
                      <a:r>
                        <a:rPr kumimoji="1" lang="ja-JP" altLang="en-US" sz="1500" dirty="0"/>
                        <a:t>（</a:t>
                      </a:r>
                      <a:r>
                        <a:rPr kumimoji="1" lang="en-US" altLang="ja-JP" sz="1500" dirty="0" err="1"/>
                        <a:t>n_splits</a:t>
                      </a:r>
                      <a:r>
                        <a:rPr kumimoji="1" lang="en-US" altLang="ja-JP" sz="1500" dirty="0"/>
                        <a:t>=5</a:t>
                      </a:r>
                      <a:r>
                        <a:rPr kumimoji="1" lang="ja-JP" altLang="en-US" sz="1500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rep(1:5,…)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238374"/>
                  </a:ext>
                </a:extLst>
              </a:tr>
              <a:tr h="280807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ランダムに分割</a:t>
                      </a:r>
                      <a:endParaRPr kumimoji="1" lang="en-US" altLang="ja-JP" sz="1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shuffle=True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/>
                        <a:t>sample()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439253"/>
                  </a:ext>
                </a:extLst>
              </a:tr>
            </a:tbl>
          </a:graphicData>
        </a:graphic>
      </p:graphicFrame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85D1326-39FB-A0F5-18A1-DFD25251F369}"/>
              </a:ext>
            </a:extLst>
          </p:cNvPr>
          <p:cNvSpPr/>
          <p:nvPr/>
        </p:nvSpPr>
        <p:spPr bwMode="auto">
          <a:xfrm>
            <a:off x="4083368" y="5791300"/>
            <a:ext cx="2191322" cy="5882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ja-JP" b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ea typeface="ＭＳ Ｐゴシック" pitchFamily="50" charset="-128"/>
              </a:rPr>
              <a:t>factor()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1200" i="0" dirty="0">
                <a:solidFill>
                  <a:schemeClr val="accent4"/>
                </a:solidFill>
                <a:latin typeface="Arial" charset="0"/>
                <a:ea typeface="ＭＳ Ｐゴシック" pitchFamily="50" charset="-128"/>
              </a:rPr>
              <a:t>ラベルをカテゴリとして扱う</a:t>
            </a:r>
            <a:endParaRPr kumimoji="1" lang="en-US" altLang="ja-JP" sz="1200" b="0" i="0" u="none" strike="noStrike" cap="none" normalizeH="0" baseline="0" dirty="0">
              <a:ln>
                <a:noFill/>
              </a:ln>
              <a:solidFill>
                <a:schemeClr val="accent4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D2CDA379-A906-D009-DA3F-E31F963588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5325" y="5839030"/>
            <a:ext cx="1185232" cy="439468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sp>
        <p:nvSpPr>
          <p:cNvPr id="20" name="矢印: 右 19">
            <a:extLst>
              <a:ext uri="{FF2B5EF4-FFF2-40B4-BE49-F238E27FC236}">
                <a16:creationId xmlns:a16="http://schemas.microsoft.com/office/drawing/2014/main" id="{D4B87C30-56A5-AB82-E4B5-E596B55A3743}"/>
              </a:ext>
            </a:extLst>
          </p:cNvPr>
          <p:cNvSpPr/>
          <p:nvPr/>
        </p:nvSpPr>
        <p:spPr bwMode="auto">
          <a:xfrm>
            <a:off x="10244768" y="6019583"/>
            <a:ext cx="415319" cy="131668"/>
          </a:xfrm>
          <a:prstGeom prst="rightArrow">
            <a:avLst/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713295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DD63E-FAF1-3006-87CB-1B7C9B7F6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B6B9021-D730-5DC4-43E8-EFC24090709A}"/>
              </a:ext>
            </a:extLst>
          </p:cNvPr>
          <p:cNvSpPr txBox="1">
            <a:spLocks/>
          </p:cNvSpPr>
          <p:nvPr/>
        </p:nvSpPr>
        <p:spPr>
          <a:xfrm>
            <a:off x="762000" y="1203306"/>
            <a:ext cx="7396729" cy="55759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ja-JP" altLang="en-US" b="1" kern="0" dirty="0"/>
              <a:t>テストデータの標準化</a:t>
            </a:r>
            <a:endParaRPr lang="en-US" altLang="ja-JP" sz="2000" kern="0" dirty="0">
              <a:solidFill>
                <a:schemeClr val="accent6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D918774-2269-2AD6-766C-C2544D820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cq05_imgc_hist_svm.ipynb</a:t>
            </a:r>
            <a:endParaRPr kumimoji="1" lang="ja-JP" alt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C80C67C-ED19-DCB7-1B3F-C0EC725063EF}"/>
              </a:ext>
            </a:extLst>
          </p:cNvPr>
          <p:cNvSpPr/>
          <p:nvPr/>
        </p:nvSpPr>
        <p:spPr bwMode="auto">
          <a:xfrm>
            <a:off x="7232235" y="1153034"/>
            <a:ext cx="4207484" cy="306994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5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Python</a:t>
            </a:r>
            <a:endParaRPr kumimoji="1" lang="ja-JP" altLang="en-US" sz="15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3CE6A22-BD31-5050-B27F-11419BB6A274}"/>
              </a:ext>
            </a:extLst>
          </p:cNvPr>
          <p:cNvSpPr/>
          <p:nvPr/>
        </p:nvSpPr>
        <p:spPr bwMode="auto">
          <a:xfrm>
            <a:off x="683175" y="4476653"/>
            <a:ext cx="10756544" cy="1914315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500" dirty="0">
                <a:solidFill>
                  <a:schemeClr val="accent4">
                    <a:lumMod val="65000"/>
                    <a:lumOff val="35000"/>
                  </a:schemeClr>
                </a:solidFill>
                <a:latin typeface="Arial" charset="0"/>
                <a:ea typeface="ＭＳ Ｐゴシック" pitchFamily="50" charset="-128"/>
              </a:rPr>
              <a:t>R</a:t>
            </a: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DD2EC33D-9622-D92E-B55B-45FBD2499172}"/>
              </a:ext>
            </a:extLst>
          </p:cNvPr>
          <p:cNvSpPr txBox="1">
            <a:spLocks/>
          </p:cNvSpPr>
          <p:nvPr/>
        </p:nvSpPr>
        <p:spPr>
          <a:xfrm>
            <a:off x="752281" y="2094944"/>
            <a:ext cx="6410848" cy="3511096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2400" kern="0" dirty="0"/>
              <a:t>テストデータを標準化</a:t>
            </a:r>
            <a:endParaRPr lang="en-US" altLang="ja-JP" sz="2400" kern="0" dirty="0"/>
          </a:p>
          <a:p>
            <a:r>
              <a:rPr lang="ja-JP" altLang="en-US" sz="2400" kern="0" dirty="0"/>
              <a:t>学習済みの</a:t>
            </a:r>
            <a:r>
              <a:rPr lang="en-US" altLang="ja-JP" sz="2400" kern="0" dirty="0"/>
              <a:t>SVM</a:t>
            </a:r>
            <a:r>
              <a:rPr lang="ja-JP" altLang="en-US" sz="2400" kern="0" dirty="0"/>
              <a:t>でテストデータを予測</a:t>
            </a:r>
            <a:endParaRPr lang="en-US" altLang="ja-JP" sz="2400" kern="0" dirty="0"/>
          </a:p>
          <a:p>
            <a:r>
              <a:rPr lang="ja-JP" altLang="en-US" sz="2400" kern="0" dirty="0"/>
              <a:t>予測悔過から正解率を計算</a:t>
            </a:r>
            <a:endParaRPr lang="en-US" altLang="ja-JP" sz="2400" kern="0" dirty="0"/>
          </a:p>
          <a:p>
            <a:r>
              <a:rPr lang="ja-JP" altLang="en-US" sz="2400" kern="0" dirty="0"/>
              <a:t>混同行列の描画</a:t>
            </a:r>
            <a:endParaRPr lang="en-US" altLang="ja-JP" sz="2400" kern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　予想結果と実際のラベルの数を表示</a:t>
            </a:r>
            <a:endParaRPr kumimoji="1" lang="en-US" altLang="ja-JP" sz="1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9D535BAA-6F2D-7E3B-8A27-AB70571C796B}"/>
              </a:ext>
            </a:extLst>
          </p:cNvPr>
          <p:cNvSpPr/>
          <p:nvPr/>
        </p:nvSpPr>
        <p:spPr bwMode="auto">
          <a:xfrm>
            <a:off x="411753" y="1335741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９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2197753-B3D7-F4EF-D70B-06567A847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051" y="4844537"/>
            <a:ext cx="4654789" cy="1301817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F7CFFF9E-5C76-0EDB-75F2-62513C4362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8765" y="5737245"/>
            <a:ext cx="1168460" cy="323867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9FD8B0B4-90A4-16A3-222A-62DE810C05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4423" y="1459425"/>
            <a:ext cx="3445775" cy="2560965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sp>
        <p:nvSpPr>
          <p:cNvPr id="19" name="矢印: 右 18">
            <a:extLst>
              <a:ext uri="{FF2B5EF4-FFF2-40B4-BE49-F238E27FC236}">
                <a16:creationId xmlns:a16="http://schemas.microsoft.com/office/drawing/2014/main" id="{884E3A1A-2CB9-9F42-9F71-79B9A208FD98}"/>
              </a:ext>
            </a:extLst>
          </p:cNvPr>
          <p:cNvSpPr/>
          <p:nvPr/>
        </p:nvSpPr>
        <p:spPr bwMode="auto">
          <a:xfrm>
            <a:off x="4394061" y="5855370"/>
            <a:ext cx="415319" cy="131668"/>
          </a:xfrm>
          <a:prstGeom prst="rightArrow">
            <a:avLst/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ADC86F9D-0409-432B-05F4-AC3701ECE07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259"/>
          <a:stretch>
            <a:fillRect/>
          </a:stretch>
        </p:blipFill>
        <p:spPr>
          <a:xfrm>
            <a:off x="8468359" y="5318030"/>
            <a:ext cx="1378021" cy="773871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593F3C2B-0BBF-2F24-1AAE-37855CE959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4624" y="4768166"/>
            <a:ext cx="2406774" cy="495325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sp>
        <p:nvSpPr>
          <p:cNvPr id="12" name="矢印: 右 11">
            <a:extLst>
              <a:ext uri="{FF2B5EF4-FFF2-40B4-BE49-F238E27FC236}">
                <a16:creationId xmlns:a16="http://schemas.microsoft.com/office/drawing/2014/main" id="{999993BC-89E1-CFAB-448E-D8228B1D1730}"/>
              </a:ext>
            </a:extLst>
          </p:cNvPr>
          <p:cNvSpPr/>
          <p:nvPr/>
        </p:nvSpPr>
        <p:spPr bwMode="auto">
          <a:xfrm>
            <a:off x="7951069" y="5363778"/>
            <a:ext cx="415319" cy="131668"/>
          </a:xfrm>
          <a:prstGeom prst="rightArrow">
            <a:avLst/>
          </a:prstGeom>
          <a:solidFill>
            <a:schemeClr val="accent3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598178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7310B-1E93-7340-001C-6FA0FA740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3495C7-C407-C346-B04B-437BE3FE88A4}"/>
              </a:ext>
            </a:extLst>
          </p:cNvPr>
          <p:cNvSpPr txBox="1">
            <a:spLocks/>
          </p:cNvSpPr>
          <p:nvPr/>
        </p:nvSpPr>
        <p:spPr>
          <a:xfrm>
            <a:off x="762000" y="1203306"/>
            <a:ext cx="7396729" cy="55759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ja-JP" altLang="en-US" b="1" kern="0" dirty="0"/>
              <a:t>新規画像で予測</a:t>
            </a:r>
            <a:endParaRPr lang="en-US" altLang="ja-JP" sz="2000" kern="0" dirty="0">
              <a:solidFill>
                <a:schemeClr val="accent6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C284EDB-BB8A-2A44-4486-C1ADBA050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cq05_imgc_hist_svm.ipynb</a:t>
            </a:r>
            <a:endParaRPr kumimoji="1" lang="ja-JP" alt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214E0C1-1F9E-C44C-D920-4D363B8A772B}"/>
              </a:ext>
            </a:extLst>
          </p:cNvPr>
          <p:cNvSpPr/>
          <p:nvPr/>
        </p:nvSpPr>
        <p:spPr bwMode="auto">
          <a:xfrm>
            <a:off x="6361471" y="1125539"/>
            <a:ext cx="5078248" cy="497895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5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Python</a:t>
            </a:r>
            <a:endParaRPr kumimoji="1" lang="ja-JP" altLang="en-US" sz="15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C0E8F0A-1DDF-2FDF-7340-14A46908F38C}"/>
              </a:ext>
            </a:extLst>
          </p:cNvPr>
          <p:cNvSpPr/>
          <p:nvPr/>
        </p:nvSpPr>
        <p:spPr bwMode="auto">
          <a:xfrm>
            <a:off x="752281" y="3475645"/>
            <a:ext cx="5530532" cy="2915324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500" dirty="0">
                <a:solidFill>
                  <a:schemeClr val="accent4">
                    <a:lumMod val="65000"/>
                    <a:lumOff val="35000"/>
                  </a:schemeClr>
                </a:solidFill>
                <a:latin typeface="Arial" charset="0"/>
                <a:ea typeface="ＭＳ Ｐゴシック" pitchFamily="50" charset="-128"/>
              </a:rPr>
              <a:t>R</a:t>
            </a: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5B802AC0-9CD7-9AA6-FFFC-B3E7A1F9DE9B}"/>
              </a:ext>
            </a:extLst>
          </p:cNvPr>
          <p:cNvSpPr txBox="1">
            <a:spLocks/>
          </p:cNvSpPr>
          <p:nvPr/>
        </p:nvSpPr>
        <p:spPr>
          <a:xfrm>
            <a:off x="752281" y="2094944"/>
            <a:ext cx="6410848" cy="3511096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2400" kern="0" dirty="0"/>
              <a:t>新しい画像の特徴量を標準化</a:t>
            </a:r>
            <a:endParaRPr lang="en-US" altLang="ja-JP" sz="2400" kern="0" dirty="0"/>
          </a:p>
          <a:p>
            <a:r>
              <a:rPr lang="ja-JP" altLang="en-US" sz="2400" kern="0" dirty="0"/>
              <a:t>学習済み</a:t>
            </a:r>
            <a:r>
              <a:rPr lang="en-US" altLang="ja-JP" sz="2400" kern="0" dirty="0"/>
              <a:t>SVM</a:t>
            </a:r>
            <a:r>
              <a:rPr lang="ja-JP" altLang="en-US" sz="2400" kern="0" dirty="0"/>
              <a:t>に入力</a:t>
            </a:r>
            <a:endParaRPr lang="en-US" altLang="ja-JP" sz="2400" kern="0" dirty="0"/>
          </a:p>
          <a:p>
            <a:r>
              <a:rPr lang="en-US" altLang="ja-JP" sz="2400" kern="0" dirty="0"/>
              <a:t>5</a:t>
            </a:r>
            <a:r>
              <a:rPr lang="ja-JP" altLang="en-US" sz="2400" kern="0" dirty="0"/>
              <a:t>枚の画像を分類</a:t>
            </a:r>
            <a:endParaRPr lang="en-US" altLang="ja-JP" sz="2400" kern="0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DD2B855A-753C-820E-DC3E-C05F2B00800B}"/>
              </a:ext>
            </a:extLst>
          </p:cNvPr>
          <p:cNvSpPr/>
          <p:nvPr/>
        </p:nvSpPr>
        <p:spPr bwMode="auto">
          <a:xfrm>
            <a:off x="411753" y="1335741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１０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42ADE7E-CA00-CF2D-1B7E-3E99F7EB8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4169" y="1537346"/>
            <a:ext cx="4772852" cy="4292291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1AFE839E-0F5D-D3BF-512C-DF12D2E17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482" y="3618098"/>
            <a:ext cx="4776132" cy="2618059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1AF0AE3D-77C3-64F6-BD86-DF57A6170B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2743" y="5970645"/>
            <a:ext cx="1886047" cy="342918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sp>
        <p:nvSpPr>
          <p:cNvPr id="12" name="矢印: 右 11">
            <a:extLst>
              <a:ext uri="{FF2B5EF4-FFF2-40B4-BE49-F238E27FC236}">
                <a16:creationId xmlns:a16="http://schemas.microsoft.com/office/drawing/2014/main" id="{86EE1895-D04E-1D06-A5F5-9A698F561079}"/>
              </a:ext>
            </a:extLst>
          </p:cNvPr>
          <p:cNvSpPr/>
          <p:nvPr/>
        </p:nvSpPr>
        <p:spPr bwMode="auto">
          <a:xfrm>
            <a:off x="3750383" y="6076270"/>
            <a:ext cx="415319" cy="131668"/>
          </a:xfrm>
          <a:prstGeom prst="rightArrow">
            <a:avLst/>
          </a:prstGeom>
          <a:solidFill>
            <a:schemeClr val="accent3">
              <a:lumMod val="50000"/>
            </a:schemeClr>
          </a:solidFill>
          <a:ln w="9525" cap="flat" cmpd="sng" algn="ctr">
            <a:solidFill>
              <a:schemeClr val="accent3">
                <a:lumMod val="6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326709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EC265-32ED-0E16-4CD7-DC70793E2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0AA067-AFCF-4A62-F9D1-41240C60A097}"/>
              </a:ext>
            </a:extLst>
          </p:cNvPr>
          <p:cNvSpPr txBox="1">
            <a:spLocks/>
          </p:cNvSpPr>
          <p:nvPr/>
        </p:nvSpPr>
        <p:spPr>
          <a:xfrm>
            <a:off x="762000" y="1203306"/>
            <a:ext cx="7396729" cy="55759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ja-JP" altLang="en-US" b="1" kern="0" dirty="0"/>
              <a:t>新規画像で予測</a:t>
            </a:r>
            <a:endParaRPr lang="en-US" altLang="ja-JP" sz="2000" kern="0" dirty="0">
              <a:solidFill>
                <a:schemeClr val="accent6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EFE2FFB-E85F-3AB7-6153-3B9637866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cq05_imgc_hist_svm.ipynb</a:t>
            </a:r>
            <a:endParaRPr kumimoji="1" lang="ja-JP" alt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722237C-FF43-AB7B-DFF9-9560BC8DEA81}"/>
              </a:ext>
            </a:extLst>
          </p:cNvPr>
          <p:cNvSpPr/>
          <p:nvPr/>
        </p:nvSpPr>
        <p:spPr bwMode="auto">
          <a:xfrm>
            <a:off x="6228374" y="1354575"/>
            <a:ext cx="5078248" cy="19185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5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" charset="0"/>
                <a:ea typeface="ＭＳ Ｐゴシック" pitchFamily="50" charset="-128"/>
              </a:rPr>
              <a:t>Python</a:t>
            </a:r>
            <a:endParaRPr kumimoji="1" lang="ja-JP" altLang="en-US" sz="1500" b="0" i="0" u="none" strike="noStrike" cap="none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AAC5C7E-5C62-C6CE-E4D1-C22AE652C4C5}"/>
              </a:ext>
            </a:extLst>
          </p:cNvPr>
          <p:cNvSpPr/>
          <p:nvPr/>
        </p:nvSpPr>
        <p:spPr bwMode="auto">
          <a:xfrm>
            <a:off x="5899468" y="3546428"/>
            <a:ext cx="5530532" cy="2220242"/>
          </a:xfrm>
          <a:prstGeom prst="rect">
            <a:avLst/>
          </a:prstGeom>
          <a:solidFill>
            <a:schemeClr val="accent3">
              <a:lumMod val="8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1500" dirty="0">
                <a:solidFill>
                  <a:schemeClr val="accent4">
                    <a:lumMod val="65000"/>
                    <a:lumOff val="35000"/>
                  </a:schemeClr>
                </a:solidFill>
                <a:latin typeface="Arial" charset="0"/>
                <a:ea typeface="ＭＳ Ｐゴシック" pitchFamily="50" charset="-128"/>
              </a:rPr>
              <a:t>R</a:t>
            </a: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8A0B20F4-528E-46F1-BA37-900BB5EC9D6D}"/>
              </a:ext>
            </a:extLst>
          </p:cNvPr>
          <p:cNvSpPr txBox="1">
            <a:spLocks/>
          </p:cNvSpPr>
          <p:nvPr/>
        </p:nvSpPr>
        <p:spPr>
          <a:xfrm>
            <a:off x="752281" y="2094944"/>
            <a:ext cx="6410848" cy="3511096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2400" kern="0" dirty="0"/>
              <a:t>結果</a:t>
            </a:r>
            <a:endParaRPr lang="en-US" altLang="ja-JP" sz="2400" kern="0" dirty="0"/>
          </a:p>
          <a:p>
            <a:pPr marL="0" indent="0">
              <a:buNone/>
            </a:pPr>
            <a:r>
              <a:rPr lang="ja-JP" altLang="en-US" sz="1800" kern="0" dirty="0">
                <a:solidFill>
                  <a:schemeClr val="accent3">
                    <a:lumMod val="65000"/>
                  </a:schemeClr>
                </a:solidFill>
              </a:rPr>
              <a:t>　柴犬０</a:t>
            </a:r>
            <a:r>
              <a:rPr lang="en-US" altLang="ja-JP" sz="1800" kern="0" dirty="0">
                <a:solidFill>
                  <a:schemeClr val="accent3">
                    <a:lumMod val="65000"/>
                  </a:schemeClr>
                </a:solidFill>
              </a:rPr>
              <a:t>		</a:t>
            </a:r>
            <a:r>
              <a:rPr lang="ja-JP" altLang="en-US" sz="1800" kern="0" dirty="0">
                <a:solidFill>
                  <a:schemeClr val="accent3">
                    <a:lumMod val="65000"/>
                  </a:schemeClr>
                </a:solidFill>
              </a:rPr>
              <a:t>→　１サモエド判定</a:t>
            </a:r>
            <a:endParaRPr lang="en-US" altLang="ja-JP" sz="1800" kern="0" dirty="0">
              <a:solidFill>
                <a:schemeClr val="accent3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ja-JP" altLang="en-US" sz="1800" kern="0" dirty="0">
                <a:solidFill>
                  <a:schemeClr val="accent3">
                    <a:lumMod val="65000"/>
                  </a:schemeClr>
                </a:solidFill>
              </a:rPr>
              <a:t>　柴犬０</a:t>
            </a:r>
            <a:r>
              <a:rPr lang="en-US" altLang="ja-JP" sz="1800" kern="0" dirty="0">
                <a:solidFill>
                  <a:schemeClr val="accent3">
                    <a:lumMod val="65000"/>
                  </a:schemeClr>
                </a:solidFill>
              </a:rPr>
              <a:t>		</a:t>
            </a:r>
            <a:r>
              <a:rPr lang="ja-JP" altLang="en-US" sz="1800" kern="0" dirty="0">
                <a:solidFill>
                  <a:schemeClr val="accent3">
                    <a:lumMod val="65000"/>
                  </a:schemeClr>
                </a:solidFill>
              </a:rPr>
              <a:t>→　１サモエド判定</a:t>
            </a:r>
            <a:endParaRPr lang="en-US" altLang="ja-JP" sz="1800" kern="0" dirty="0">
              <a:solidFill>
                <a:schemeClr val="accent3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ja-JP" altLang="en-US" sz="1800" kern="0" dirty="0">
                <a:solidFill>
                  <a:schemeClr val="accent3">
                    <a:lumMod val="65000"/>
                  </a:schemeClr>
                </a:solidFill>
              </a:rPr>
              <a:t>　柴犬０</a:t>
            </a:r>
            <a:r>
              <a:rPr lang="en-US" altLang="ja-JP" sz="1800" kern="0" dirty="0">
                <a:solidFill>
                  <a:schemeClr val="accent3">
                    <a:lumMod val="65000"/>
                  </a:schemeClr>
                </a:solidFill>
              </a:rPr>
              <a:t>		</a:t>
            </a:r>
            <a:r>
              <a:rPr lang="ja-JP" altLang="en-US" sz="1800" kern="0" dirty="0">
                <a:solidFill>
                  <a:schemeClr val="accent3">
                    <a:lumMod val="65000"/>
                  </a:schemeClr>
                </a:solidFill>
              </a:rPr>
              <a:t>→　１サモエド判定</a:t>
            </a:r>
            <a:endParaRPr lang="en-US" altLang="ja-JP" sz="1800" kern="0" dirty="0">
              <a:solidFill>
                <a:schemeClr val="accent3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ja-JP" altLang="en-US" sz="1800" kern="0" dirty="0">
                <a:solidFill>
                  <a:schemeClr val="accent3">
                    <a:lumMod val="65000"/>
                  </a:schemeClr>
                </a:solidFill>
              </a:rPr>
              <a:t>　サモエド１</a:t>
            </a:r>
            <a:r>
              <a:rPr lang="en-US" altLang="ja-JP" sz="1800" kern="0" dirty="0">
                <a:solidFill>
                  <a:schemeClr val="accent3">
                    <a:lumMod val="65000"/>
                  </a:schemeClr>
                </a:solidFill>
              </a:rPr>
              <a:t>	</a:t>
            </a:r>
            <a:r>
              <a:rPr lang="ja-JP" altLang="en-US" sz="1800" kern="0" dirty="0">
                <a:solidFill>
                  <a:schemeClr val="accent3">
                    <a:lumMod val="65000"/>
                  </a:schemeClr>
                </a:solidFill>
              </a:rPr>
              <a:t>→　０柴犬判定</a:t>
            </a:r>
            <a:endParaRPr lang="en-US" altLang="ja-JP" sz="1800" kern="0" dirty="0">
              <a:solidFill>
                <a:schemeClr val="accent3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ja-JP" altLang="en-US" sz="1800" kern="0" dirty="0">
                <a:solidFill>
                  <a:schemeClr val="accent3">
                    <a:lumMod val="65000"/>
                  </a:schemeClr>
                </a:solidFill>
              </a:rPr>
              <a:t>　</a:t>
            </a:r>
            <a:r>
              <a:rPr lang="ja-JP" altLang="en-US" sz="1800" kern="0" dirty="0">
                <a:solidFill>
                  <a:schemeClr val="accent6"/>
                </a:solidFill>
              </a:rPr>
              <a:t>サモエド１</a:t>
            </a:r>
            <a:r>
              <a:rPr lang="en-US" altLang="ja-JP" sz="1800" kern="0" dirty="0">
                <a:solidFill>
                  <a:schemeClr val="accent6"/>
                </a:solidFill>
              </a:rPr>
              <a:t>	</a:t>
            </a:r>
            <a:r>
              <a:rPr lang="ja-JP" altLang="en-US" sz="1800" kern="0" dirty="0">
                <a:solidFill>
                  <a:schemeClr val="accent6"/>
                </a:solidFill>
              </a:rPr>
              <a:t>→　１サモエド判定</a:t>
            </a:r>
            <a:endParaRPr lang="en-US" altLang="ja-JP" sz="1800" kern="0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US" altLang="ja-JP" sz="1800" kern="0" dirty="0">
              <a:solidFill>
                <a:schemeClr val="accent3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ja-JP" altLang="en-US" sz="1800" kern="0" dirty="0">
                <a:solidFill>
                  <a:schemeClr val="accent4"/>
                </a:solidFill>
              </a:rPr>
              <a:t>　　　　　　　　→正答率</a:t>
            </a:r>
            <a:r>
              <a:rPr lang="en-US" altLang="ja-JP" sz="1800" kern="0" dirty="0">
                <a:solidFill>
                  <a:schemeClr val="accent4"/>
                </a:solidFill>
              </a:rPr>
              <a:t>20%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45936267-3277-C3B8-9F3C-6F55582DD888}"/>
              </a:ext>
            </a:extLst>
          </p:cNvPr>
          <p:cNvSpPr/>
          <p:nvPr/>
        </p:nvSpPr>
        <p:spPr bwMode="auto">
          <a:xfrm>
            <a:off x="411753" y="1335741"/>
            <a:ext cx="350247" cy="3442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8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pitchFamily="50" charset="-128"/>
              </a:rPr>
              <a:t>１０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3F96912-0377-1F1A-2CA7-F0E2679C9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570" y="3875759"/>
            <a:ext cx="5092962" cy="1428823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2DF2409F-9EAD-D0C3-A69F-D04866698C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8230" y="5000058"/>
            <a:ext cx="1104957" cy="609631"/>
          </a:xfrm>
          <a:prstGeom prst="rect">
            <a:avLst/>
          </a:prstGeom>
          <a:ln>
            <a:solidFill>
              <a:schemeClr val="accent3">
                <a:lumMod val="65000"/>
              </a:schemeClr>
            </a:solidFill>
          </a:ln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0092A3F8-184A-97A3-48A8-95C2983195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3129" y="1494149"/>
            <a:ext cx="3664138" cy="1511378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sp>
        <p:nvSpPr>
          <p:cNvPr id="12" name="矢印: 右 11">
            <a:extLst>
              <a:ext uri="{FF2B5EF4-FFF2-40B4-BE49-F238E27FC236}">
                <a16:creationId xmlns:a16="http://schemas.microsoft.com/office/drawing/2014/main" id="{2C4C6C28-27A6-EF43-7BF9-635B1EFF168E}"/>
              </a:ext>
            </a:extLst>
          </p:cNvPr>
          <p:cNvSpPr/>
          <p:nvPr/>
        </p:nvSpPr>
        <p:spPr bwMode="auto">
          <a:xfrm>
            <a:off x="9704566" y="5115880"/>
            <a:ext cx="415319" cy="131668"/>
          </a:xfrm>
          <a:prstGeom prst="rightArrow">
            <a:avLst/>
          </a:prstGeom>
          <a:solidFill>
            <a:schemeClr val="accent3">
              <a:lumMod val="50000"/>
            </a:schemeClr>
          </a:solidFill>
          <a:ln w="9525" cap="flat" cmpd="sng" algn="ctr">
            <a:solidFill>
              <a:schemeClr val="accent3">
                <a:lumMod val="6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38D2B8A-9EAC-0F90-1CE8-CED4EBCDB23A}"/>
              </a:ext>
            </a:extLst>
          </p:cNvPr>
          <p:cNvSpPr/>
          <p:nvPr/>
        </p:nvSpPr>
        <p:spPr bwMode="auto">
          <a:xfrm>
            <a:off x="1711552" y="5042493"/>
            <a:ext cx="2700365" cy="12900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6">
                <a:lumMod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2000" b="1" i="0" dirty="0">
                <a:solidFill>
                  <a:schemeClr val="accent4"/>
                </a:solidFill>
                <a:latin typeface="Arial" charset="0"/>
                <a:ea typeface="ＭＳ Ｐゴシック" pitchFamily="50" charset="-128"/>
              </a:rPr>
              <a:t>まとめ</a:t>
            </a:r>
            <a:endParaRPr lang="en-US" altLang="ja-JP" sz="2000" b="1" i="0" dirty="0">
              <a:solidFill>
                <a:schemeClr val="accent4"/>
              </a:solidFill>
              <a:latin typeface="Arial" charset="0"/>
              <a:ea typeface="ＭＳ Ｐゴシック" pitchFamily="50" charset="-128"/>
            </a:endParaRPr>
          </a:p>
          <a:p>
            <a:pPr lvl="0"/>
            <a:r>
              <a:rPr lang="ja-JP" altLang="ja-JP" sz="2000" dirty="0"/>
              <a:t>5分割交差検証：</a:t>
            </a:r>
            <a:r>
              <a:rPr lang="ja-JP" altLang="ja-JP" sz="2000" b="1" dirty="0"/>
              <a:t>63.1%</a:t>
            </a:r>
            <a:r>
              <a:rPr lang="ja-JP" altLang="ja-JP" sz="2000" dirty="0"/>
              <a:t> </a:t>
            </a:r>
          </a:p>
          <a:p>
            <a:pPr lvl="0"/>
            <a:r>
              <a:rPr lang="ja-JP" altLang="ja-JP" sz="2000" dirty="0"/>
              <a:t>テストデータ：</a:t>
            </a:r>
            <a:r>
              <a:rPr lang="ja-JP" altLang="ja-JP" sz="2000" b="1" dirty="0"/>
              <a:t>50%</a:t>
            </a:r>
            <a:r>
              <a:rPr lang="ja-JP" altLang="ja-JP" sz="2000" dirty="0"/>
              <a:t> </a:t>
            </a:r>
          </a:p>
          <a:p>
            <a:pPr lvl="0"/>
            <a:r>
              <a:rPr lang="ja-JP" altLang="ja-JP" sz="2000" dirty="0"/>
              <a:t>新規5画像：</a:t>
            </a:r>
            <a:r>
              <a:rPr lang="en-US" altLang="ja-JP" sz="2000" dirty="0"/>
              <a:t>2</a:t>
            </a:r>
            <a:r>
              <a:rPr lang="ja-JP" altLang="ja-JP" sz="2000" b="1" dirty="0"/>
              <a:t>0%</a:t>
            </a:r>
            <a:endParaRPr lang="ja-JP" altLang="ja-JP" sz="2000" dirty="0"/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altLang="ja-JP" sz="1200" b="0" i="0" u="none" strike="noStrike" cap="none" normalizeH="0" baseline="0" dirty="0">
              <a:ln>
                <a:noFill/>
              </a:ln>
              <a:solidFill>
                <a:schemeClr val="accent4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15068727"/>
      </p:ext>
    </p:extLst>
  </p:cSld>
  <p:clrMapOvr>
    <a:masterClrMapping/>
  </p:clrMapOvr>
</p:sld>
</file>

<file path=ppt/theme/theme1.xml><?xml version="1.0" encoding="utf-8"?>
<a:theme xmlns:a="http://schemas.openxmlformats.org/drawingml/2006/main" name="lecture">
  <a:themeElements>
    <a:clrScheme name="lectur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lecture">
      <a:majorFont>
        <a:latin typeface="Garamond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50" charset="-128"/>
          </a:defRPr>
        </a:defPPr>
      </a:lstStyle>
    </a:lnDef>
  </a:objectDefaults>
  <a:extraClrSchemeLst>
    <a:extraClrScheme>
      <a:clrScheme name="lectur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15576</TotalTime>
  <Words>2872</Words>
  <Application>Microsoft Office PowerPoint</Application>
  <PresentationFormat>ワイド画面</PresentationFormat>
  <Paragraphs>733</Paragraphs>
  <Slides>32</Slides>
  <Notes>30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32</vt:i4>
      </vt:variant>
    </vt:vector>
  </HeadingPairs>
  <TitlesOfParts>
    <vt:vector size="40" baseType="lpstr">
      <vt:lpstr>ＭＳ Ｐゴシック</vt:lpstr>
      <vt:lpstr>メイリオ</vt:lpstr>
      <vt:lpstr>游ゴシック</vt:lpstr>
      <vt:lpstr>Arial</vt:lpstr>
      <vt:lpstr>Cambria Math</vt:lpstr>
      <vt:lpstr>Garamond</vt:lpstr>
      <vt:lpstr>Wingdings</vt:lpstr>
      <vt:lpstr>lecture</vt:lpstr>
      <vt:lpstr>「Pythonが動くGogle ColabでAI自習ドリル」 第１部３章演習</vt:lpstr>
      <vt:lpstr>elephant.ipynb</vt:lpstr>
      <vt:lpstr>elephant.ipynb</vt:lpstr>
      <vt:lpstr>elephant.ipynb</vt:lpstr>
      <vt:lpstr>elephant.ipynb</vt:lpstr>
      <vt:lpstr>elephant.ipynb</vt:lpstr>
      <vt:lpstr>elephant.ipynb</vt:lpstr>
      <vt:lpstr>elephant.ipynb</vt:lpstr>
      <vt:lpstr>elephant.ipynb</vt:lpstr>
      <vt:lpstr>elephant.ipynb</vt:lpstr>
      <vt:lpstr>elephant.ipynb</vt:lpstr>
      <vt:lpstr>elephant.ipynb</vt:lpstr>
      <vt:lpstr>elephant.ipynb</vt:lpstr>
      <vt:lpstr>random_plot.ipynb</vt:lpstr>
      <vt:lpstr>random_plot.ipynb</vt:lpstr>
      <vt:lpstr>random_plot.ipynb</vt:lpstr>
      <vt:lpstr>random_plot.ipynb</vt:lpstr>
      <vt:lpstr>random_plot.ipynb</vt:lpstr>
      <vt:lpstr>random_plot.ipynb</vt:lpstr>
      <vt:lpstr>random_plot.ipynb</vt:lpstr>
      <vt:lpstr>cq05_imgc_hist_svm.ipynb</vt:lpstr>
      <vt:lpstr>cq05_imgc_hist_svm.ipynb</vt:lpstr>
      <vt:lpstr>cq05_imgc_hist_svm.ipynb</vt:lpstr>
      <vt:lpstr>cq05_imgc_hist_svm.ipynb</vt:lpstr>
      <vt:lpstr>cq05_imgc_hist_svm.ipynb</vt:lpstr>
      <vt:lpstr>cq05_imgc_hist_svm.ipynb</vt:lpstr>
      <vt:lpstr>cq05_imgc_hist_svm.ipynb</vt:lpstr>
      <vt:lpstr>cq05_imgc_hist_svm.ipynb</vt:lpstr>
      <vt:lpstr>cq05_imgc_hist_svm.ipynb</vt:lpstr>
      <vt:lpstr>cq05_imgc_hist_svm.ipynb</vt:lpstr>
      <vt:lpstr>cq05_imgc_hist_svm.ipynb</vt:lpstr>
      <vt:lpstr>cq05_imgc_hist_svm.ipynb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「Pythonが動くGogle ColabでAI自習ドリル」 第１部３章演習</dc:title>
  <dc:creator>楓子 松本</dc:creator>
  <cp:lastModifiedBy>mei nagai</cp:lastModifiedBy>
  <cp:revision>120</cp:revision>
  <cp:lastPrinted>2025-01-29T02:41:47Z</cp:lastPrinted>
  <dcterms:created xsi:type="dcterms:W3CDTF">2025-01-28T06:03:12Z</dcterms:created>
  <dcterms:modified xsi:type="dcterms:W3CDTF">2026-10-01T05:39:57Z</dcterms:modified>
</cp:coreProperties>
</file>