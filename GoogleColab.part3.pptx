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318" r:id="rId3"/>
    <p:sldId id="330" r:id="rId4"/>
    <p:sldId id="331" r:id="rId5"/>
    <p:sldId id="332" r:id="rId6"/>
    <p:sldId id="333" r:id="rId7"/>
    <p:sldId id="325" r:id="rId8"/>
    <p:sldId id="326" r:id="rId9"/>
    <p:sldId id="327" r:id="rId10"/>
    <p:sldId id="328" r:id="rId11"/>
    <p:sldId id="329" r:id="rId12"/>
    <p:sldId id="319" r:id="rId13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30"/>
            <p14:sldId id="331"/>
            <p14:sldId id="332"/>
            <p14:sldId id="333"/>
            <p14:sldId id="325"/>
            <p14:sldId id="326"/>
            <p14:sldId id="327"/>
            <p14:sldId id="328"/>
            <p14:sldId id="329"/>
          </p14:sldIdLst>
        </p14:section>
        <p14:section name="参考文献" id="{CFFDC787-557B-4910-97C6-D64501BECE89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9900"/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9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3407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0C00-182F-7AE0-1C54-4787FD277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40E900F-1543-1963-9C11-B0EECD2E3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1D06396-343B-1F84-82AD-98CFC9594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DB5751D-E45D-9A19-9952-DABFDD88E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961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724B-2EC1-7BE8-607D-B8766F29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99DC3F-77FD-7DC8-007B-B750AB16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E63A146-B08B-7AE1-025C-23D0F1C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EFE370-A7B0-D0E8-E34E-97F8434B8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4293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B5236-3B77-F39E-B3CD-41D00F8F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46283B0-DE2B-2F05-4A52-3BE2444F7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97643AE-63C1-9B59-DB88-A8F008C8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FACFF-03D5-20DD-DAAE-67C3BE254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38E0EF-4404-48A5-A14D-C28912D88EC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668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2026/9/14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1010589" y="2076993"/>
            <a:ext cx="3326280" cy="1541417"/>
            <a:chOff x="1698170" y="207818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1698170" y="207818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84591" y="274073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71868179-6603-F2EB-6331-DE0FFED2F196}"/>
              </a:ext>
            </a:extLst>
          </p:cNvPr>
          <p:cNvGrpSpPr/>
          <p:nvPr/>
        </p:nvGrpSpPr>
        <p:grpSpPr>
          <a:xfrm>
            <a:off x="5904123" y="3269780"/>
            <a:ext cx="7341325" cy="2981369"/>
            <a:chOff x="5355772" y="1795477"/>
            <a:chExt cx="8451668" cy="3641709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91887678-DA67-D5F3-BD39-6FD4E755C187}"/>
                </a:ext>
              </a:extLst>
            </p:cNvPr>
            <p:cNvSpPr/>
            <p:nvPr/>
          </p:nvSpPr>
          <p:spPr bwMode="auto">
            <a:xfrm>
              <a:off x="5355772" y="1814305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img1</a:t>
              </a:r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9E4980D4-0998-271B-8AD9-95AC249DA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70589" y="2273109"/>
              <a:ext cx="3187689" cy="3033375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9D13F63-8DB8-1E61-366B-8FC61FAE9914}"/>
                </a:ext>
              </a:extLst>
            </p:cNvPr>
            <p:cNvSpPr/>
            <p:nvPr/>
          </p:nvSpPr>
          <p:spPr bwMode="auto">
            <a:xfrm>
              <a:off x="7733212" y="1804891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img2</a:t>
              </a:r>
            </a:p>
          </p:txBody>
        </p: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36BFBBEC-769B-A2E1-3357-F8CFD982E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11130" y="2249250"/>
              <a:ext cx="3283696" cy="3057233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C106C8AE-E14E-1D44-89EF-FE57DF76F9DE}"/>
                </a:ext>
              </a:extLst>
            </p:cNvPr>
            <p:cNvSpPr/>
            <p:nvPr/>
          </p:nvSpPr>
          <p:spPr bwMode="auto">
            <a:xfrm>
              <a:off x="10110652" y="1795477"/>
              <a:ext cx="3696788" cy="3622881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img3</a:t>
              </a:r>
            </a:p>
          </p:txBody>
        </p:sp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D5E9948B-9A1A-103B-38F4-07E8EFF44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98361" y="2249250"/>
              <a:ext cx="3282605" cy="3057233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E34434F-71D2-FD01-436D-62B08922C4EF}"/>
              </a:ext>
            </a:extLst>
          </p:cNvPr>
          <p:cNvSpPr/>
          <p:nvPr/>
        </p:nvSpPr>
        <p:spPr bwMode="auto">
          <a:xfrm>
            <a:off x="5445443" y="2140190"/>
            <a:ext cx="627397" cy="35600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b="1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E8A83597-2CB4-DD42-0776-28237CECC389}"/>
              </a:ext>
            </a:extLst>
          </p:cNvPr>
          <p:cNvSpPr/>
          <p:nvPr/>
        </p:nvSpPr>
        <p:spPr bwMode="auto">
          <a:xfrm>
            <a:off x="710493" y="4461636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学習用データ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2CCBA0A-719F-4F57-776B-215D00398468}"/>
              </a:ext>
            </a:extLst>
          </p:cNvPr>
          <p:cNvSpPr/>
          <p:nvPr/>
        </p:nvSpPr>
        <p:spPr bwMode="auto">
          <a:xfrm>
            <a:off x="8831040" y="1207639"/>
            <a:ext cx="1897093" cy="61578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1" i="0" u="none" strike="noStrike" cap="none" normalizeH="0" baseline="0" dirty="0" err="1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min_max</a:t>
            </a:r>
            <a:endParaRPr kumimoji="1" lang="en-US" altLang="ja-JP" sz="1500" b="1" i="0" u="none" strike="noStrike" cap="none" normalizeH="0" baseline="0" dirty="0">
              <a:ln>
                <a:noFill/>
              </a:ln>
              <a:solidFill>
                <a:schemeClr val="accent4"/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1" i="0" u="none" strike="noStrike" cap="none" normalizeH="0" baseline="0" dirty="0">
                <a:ln>
                  <a:noFill/>
                </a:ln>
                <a:solidFill>
                  <a:schemeClr val="accent4"/>
                </a:solidFill>
                <a:effectLst/>
                <a:latin typeface="Arial" charset="0"/>
                <a:ea typeface="ＭＳ Ｐゴシック" pitchFamily="50" charset="-128"/>
              </a:rPr>
              <a:t>正規化する関数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3D93869-B1DD-EB55-CDE1-43396D4636D4}"/>
              </a:ext>
            </a:extLst>
          </p:cNvPr>
          <p:cNvSpPr/>
          <p:nvPr/>
        </p:nvSpPr>
        <p:spPr bwMode="auto">
          <a:xfrm>
            <a:off x="710492" y="5651266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img2</a:t>
            </a:r>
            <a:endParaRPr kumimoji="1" lang="ja-JP" altLang="en-US" sz="150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73B4CBC5-5F4B-039B-740F-2DAEA64E555A}"/>
              </a:ext>
            </a:extLst>
          </p:cNvPr>
          <p:cNvSpPr/>
          <p:nvPr/>
        </p:nvSpPr>
        <p:spPr bwMode="auto">
          <a:xfrm rot="5400000">
            <a:off x="1376641" y="5114519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67AB9755-58C4-8E5A-9092-B890451EB6A3}"/>
              </a:ext>
            </a:extLst>
          </p:cNvPr>
          <p:cNvSpPr/>
          <p:nvPr/>
        </p:nvSpPr>
        <p:spPr bwMode="auto">
          <a:xfrm rot="5400000">
            <a:off x="3356647" y="5111050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E8C49E8-1EAB-A7A6-E712-433EE4C90730}"/>
              </a:ext>
            </a:extLst>
          </p:cNvPr>
          <p:cNvSpPr/>
          <p:nvPr/>
        </p:nvSpPr>
        <p:spPr bwMode="auto">
          <a:xfrm>
            <a:off x="2723751" y="4458167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テスト用データ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B95A581-C2ED-2F5E-A491-64A96263B897}"/>
              </a:ext>
            </a:extLst>
          </p:cNvPr>
          <p:cNvSpPr/>
          <p:nvPr/>
        </p:nvSpPr>
        <p:spPr bwMode="auto">
          <a:xfrm>
            <a:off x="2775594" y="5646855"/>
            <a:ext cx="1890821" cy="3182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img3</a:t>
            </a:r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C6B03786-31EE-CAC8-6F37-324A1E5CBC76}"/>
              </a:ext>
            </a:extLst>
          </p:cNvPr>
          <p:cNvSpPr/>
          <p:nvPr/>
        </p:nvSpPr>
        <p:spPr bwMode="auto">
          <a:xfrm rot="8003037">
            <a:off x="1691601" y="3905531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4" name="矢印: 右 33">
            <a:extLst>
              <a:ext uri="{FF2B5EF4-FFF2-40B4-BE49-F238E27FC236}">
                <a16:creationId xmlns:a16="http://schemas.microsoft.com/office/drawing/2014/main" id="{D6EC0A90-6294-985F-2D84-5BFA20153C8F}"/>
              </a:ext>
            </a:extLst>
          </p:cNvPr>
          <p:cNvSpPr/>
          <p:nvPr/>
        </p:nvSpPr>
        <p:spPr bwMode="auto">
          <a:xfrm rot="3231022">
            <a:off x="3081767" y="3916280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DFCDD0A-6828-01C2-6512-52B364DB9CDD}"/>
              </a:ext>
            </a:extLst>
          </p:cNvPr>
          <p:cNvSpPr txBox="1"/>
          <p:nvPr/>
        </p:nvSpPr>
        <p:spPr>
          <a:xfrm>
            <a:off x="3822591" y="5043412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69DD145-8BEA-5E27-16C9-B480E1CB4637}"/>
              </a:ext>
            </a:extLst>
          </p:cNvPr>
          <p:cNvSpPr txBox="1"/>
          <p:nvPr/>
        </p:nvSpPr>
        <p:spPr>
          <a:xfrm>
            <a:off x="1789610" y="5030662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FB93413C-6DD3-6B85-665F-41329AEBA07B}"/>
              </a:ext>
            </a:extLst>
          </p:cNvPr>
          <p:cNvSpPr/>
          <p:nvPr/>
        </p:nvSpPr>
        <p:spPr bwMode="auto">
          <a:xfrm>
            <a:off x="4495466" y="2187875"/>
            <a:ext cx="625030" cy="260635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911DBB1-0245-89DD-49BB-FF5872D4AAA4}"/>
              </a:ext>
            </a:extLst>
          </p:cNvPr>
          <p:cNvSpPr txBox="1"/>
          <p:nvPr/>
        </p:nvSpPr>
        <p:spPr>
          <a:xfrm>
            <a:off x="4388376" y="2461717"/>
            <a:ext cx="117710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500" b="1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min_max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0C5C8-66EF-C504-28F9-CFF7DC7E6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BF5F3C8-F1A2-AB3A-2CDD-142425509CCF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　</a:t>
            </a:r>
            <a:r>
              <a:rPr lang="en-US" altLang="ja-JP" b="1" kern="0" dirty="0" err="1"/>
              <a:t>min_max</a:t>
            </a:r>
            <a:r>
              <a:rPr lang="ja-JP" altLang="en-US" b="1" kern="0" dirty="0"/>
              <a:t>　</a:t>
            </a:r>
            <a:r>
              <a:rPr lang="ja-JP" altLang="en-US" sz="2400" kern="0" dirty="0"/>
              <a:t>データを０～１に正規化する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D149D47-84B7-7C6D-58E8-6EF015063F1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データを行に転置</a:t>
            </a:r>
            <a:endParaRPr lang="en-US" altLang="ja-JP" sz="2400" kern="0" dirty="0"/>
          </a:p>
          <a:p>
            <a:pPr marL="0" indent="0">
              <a:spcBef>
                <a:spcPts val="0"/>
              </a:spcBef>
              <a:buNone/>
            </a:pPr>
            <a:r>
              <a:rPr lang="ja-JP" altLang="en-US" kern="0" dirty="0"/>
              <a:t>　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データを行に転置してから処理</a:t>
            </a:r>
            <a:endParaRPr lang="en-US" altLang="ja-JP" sz="1800" kern="0" dirty="0"/>
          </a:p>
          <a:p>
            <a:r>
              <a:rPr lang="ja-JP" altLang="en-US" sz="2400" kern="0" dirty="0"/>
              <a:t>データを整理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x1: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x2: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正規化の基準にするデータ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　　　　→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min,max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を抽出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>
              <a:solidFill>
                <a:schemeClr val="accent3">
                  <a:lumMod val="50000"/>
                </a:schemeClr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列に戻して返す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/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C4950D1F-C947-0581-348F-99C73CF96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94248" y="4859318"/>
                <a:ext cx="2729345" cy="795376"/>
              </a:xfrm>
              <a:prstGeom prst="rect">
                <a:avLst/>
              </a:prstGeom>
              <a:blipFill>
                <a:blip r:embed="rId3"/>
                <a:stretch>
                  <a:fillRect l="-2009" t="-3817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B7E25182-44BC-21EB-1E37-4D991822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17876821-62C5-9D1D-F80C-AC7A0D4E73DF}"/>
              </a:ext>
            </a:extLst>
          </p:cNvPr>
          <p:cNvGrpSpPr/>
          <p:nvPr/>
        </p:nvGrpSpPr>
        <p:grpSpPr>
          <a:xfrm>
            <a:off x="5574500" y="1869731"/>
            <a:ext cx="2425684" cy="1559269"/>
            <a:chOff x="4536198" y="1859476"/>
            <a:chExt cx="3279721" cy="2012630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C6DA61C1-5813-A096-4B5D-D478441DCE36}"/>
                </a:ext>
              </a:extLst>
            </p:cNvPr>
            <p:cNvSpPr/>
            <p:nvPr/>
          </p:nvSpPr>
          <p:spPr bwMode="auto">
            <a:xfrm>
              <a:off x="4536198" y="1859476"/>
              <a:ext cx="3279721" cy="20126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Python</a:t>
              </a:r>
              <a:endPara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endParaRPr>
            </a:p>
          </p:txBody>
        </p:sp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FB51CA1F-782D-79D4-2F60-1A22063D9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8730" y="2212970"/>
              <a:ext cx="3000794" cy="1409897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641B1B2-9B66-5E36-647B-7A0CEA9027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664668"/>
              </p:ext>
            </p:extLst>
          </p:nvPr>
        </p:nvGraphicFramePr>
        <p:xfrm>
          <a:off x="5038170" y="3702867"/>
          <a:ext cx="6602401" cy="25564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転置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x.T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t(x)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行方向・列方向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axis </a:t>
                      </a:r>
                      <a:r>
                        <a:rPr kumimoji="1" lang="ja-JP" altLang="en-US" sz="1500" dirty="0"/>
                        <a:t>列：０　行：１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m </a:t>
                      </a:r>
                      <a:r>
                        <a:rPr kumimoji="1" lang="ja-JP" altLang="en-US" sz="1500" dirty="0"/>
                        <a:t>行：１　列：２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  <a:tr h="681960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最小値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x.min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axis,keepdims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 err="1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keepdims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: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配列の次元を維持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apply(</a:t>
                      </a:r>
                      <a:r>
                        <a:rPr kumimoji="1" lang="en-US" altLang="ja-JP" sz="1500" dirty="0" err="1"/>
                        <a:t>x,m,fun</a:t>
                      </a:r>
                      <a:r>
                        <a:rPr kumimoji="1" lang="en-US" altLang="ja-JP" sz="1500" dirty="0"/>
                        <a:t>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に 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min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 を代入</a:t>
                      </a:r>
                      <a:endParaRPr kumimoji="1" lang="en-US" altLang="ja-JP" sz="1500" dirty="0">
                        <a:solidFill>
                          <a:schemeClr val="accent3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402592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返り値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 x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return(x)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601380"/>
                  </a:ext>
                </a:extLst>
              </a:tr>
              <a:tr h="481383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計算関数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sweep(x1,m,x2,fun)</a:t>
                      </a:r>
                    </a:p>
                    <a:p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　</a:t>
                      </a:r>
                      <a:r>
                        <a:rPr kumimoji="1" lang="en-US" altLang="ja-JP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fun</a:t>
                      </a:r>
                      <a:r>
                        <a:rPr kumimoji="1" lang="ja-JP" altLang="en-US" sz="1500" dirty="0">
                          <a:solidFill>
                            <a:schemeClr val="accent3">
                              <a:lumMod val="50000"/>
                            </a:schemeClr>
                          </a:solidFill>
                        </a:rPr>
                        <a:t>に計算時の記号を代入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949504"/>
                  </a:ext>
                </a:extLst>
              </a:tr>
            </a:tbl>
          </a:graphicData>
        </a:graphic>
      </p:graphicFrame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03634F7-6C9C-8DD4-0B08-9E417AB9BEAC}"/>
              </a:ext>
            </a:extLst>
          </p:cNvPr>
          <p:cNvGrpSpPr/>
          <p:nvPr/>
        </p:nvGrpSpPr>
        <p:grpSpPr>
          <a:xfrm>
            <a:off x="8542982" y="1869730"/>
            <a:ext cx="3174587" cy="1559270"/>
            <a:chOff x="8059645" y="1859476"/>
            <a:chExt cx="4284756" cy="2012630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A601A5B2-72E3-4B71-B8E6-DF7C7A654EE8}"/>
                </a:ext>
              </a:extLst>
            </p:cNvPr>
            <p:cNvSpPr/>
            <p:nvPr/>
          </p:nvSpPr>
          <p:spPr bwMode="auto">
            <a:xfrm>
              <a:off x="8059645" y="1859476"/>
              <a:ext cx="4284756" cy="2012630"/>
            </a:xfrm>
            <a:prstGeom prst="rect">
              <a:avLst/>
            </a:prstGeom>
            <a:solidFill>
              <a:schemeClr val="accent3">
                <a:lumMod val="85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ja-JP" sz="15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Arial" charset="0"/>
                  <a:ea typeface="ＭＳ Ｐゴシック" pitchFamily="50" charset="-128"/>
                </a:rPr>
                <a:t>R</a:t>
              </a:r>
            </a:p>
          </p:txBody>
        </p:sp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23EE6DF0-2C42-56A7-B96F-F422EEE59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595"/>
            <a:stretch>
              <a:fillRect/>
            </a:stretch>
          </p:blipFill>
          <p:spPr>
            <a:xfrm>
              <a:off x="8163567" y="2212972"/>
              <a:ext cx="4076910" cy="1581008"/>
            </a:xfrm>
            <a:prstGeom prst="rect">
              <a:avLst/>
            </a:prstGeom>
            <a:ln>
              <a:solidFill>
                <a:schemeClr val="accent3">
                  <a:lumMod val="65000"/>
                </a:schemeClr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605961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9BF8-B3A2-ED76-2093-B6B7148B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9AD4C2-D006-91ED-0493-BD850A544FD1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b="1" kern="0" dirty="0"/>
              <a:t>data</a:t>
            </a:r>
            <a:r>
              <a:rPr lang="ja-JP" altLang="en-US" b="1" kern="0" dirty="0"/>
              <a:t>の取得</a:t>
            </a:r>
            <a:endParaRPr lang="en-US" altLang="ja-JP" sz="2400" kern="0" dirty="0"/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AC7F2BBE-6E3A-713A-699C-D9805AC9FDD2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3925147" cy="4025289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ja-JP" sz="2400" kern="0" dirty="0"/>
              <a:t>d	</a:t>
            </a:r>
            <a:r>
              <a:rPr lang="en-US" altLang="ja-JP" sz="1800" kern="0" dirty="0" err="1">
                <a:solidFill>
                  <a:schemeClr val="accent4"/>
                </a:solidFill>
              </a:rPr>
              <a:t>elephant_data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r>
              <a:rPr lang="en-US" altLang="ja-JP" sz="2400" kern="0" dirty="0"/>
              <a:t>xd	</a:t>
            </a:r>
            <a:r>
              <a:rPr lang="ja-JP" altLang="en-US" sz="1800" kern="0" dirty="0">
                <a:solidFill>
                  <a:schemeClr val="accent4"/>
                </a:solidFill>
              </a:rPr>
              <a:t>体長・体重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列目から２（最後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-1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）列目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endParaRPr lang="en-US" altLang="ja-JP" sz="2400" kern="0" dirty="0"/>
          </a:p>
          <a:p>
            <a:endParaRPr lang="en-US" altLang="ja-JP" sz="2400" kern="0" dirty="0"/>
          </a:p>
          <a:p>
            <a:r>
              <a:rPr lang="en-US" altLang="ja-JP" sz="2400" kern="0" dirty="0"/>
              <a:t>yd	</a:t>
            </a:r>
            <a:r>
              <a:rPr lang="ja-JP" altLang="en-US" sz="1800" kern="0" dirty="0">
                <a:solidFill>
                  <a:schemeClr val="accent4"/>
                </a:solidFill>
              </a:rPr>
              <a:t>ラベル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すべての行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最後の列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DF9B92-DF1D-B7A5-BD68-372CD2CA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C560628-D4C7-7731-8E82-C4BA6F44CB30}"/>
              </a:ext>
            </a:extLst>
          </p:cNvPr>
          <p:cNvSpPr/>
          <p:nvPr/>
        </p:nvSpPr>
        <p:spPr bwMode="auto">
          <a:xfrm>
            <a:off x="5038170" y="1757591"/>
            <a:ext cx="5212770" cy="119777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9232FF57-663A-7551-63B2-D183C99AF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58601"/>
              </p:ext>
            </p:extLst>
          </p:nvPr>
        </p:nvGraphicFramePr>
        <p:xfrm>
          <a:off x="5038170" y="4983915"/>
          <a:ext cx="6602401" cy="132588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4112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〇：△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〇以上△未満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〇以上△以下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すべて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「：」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「　」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最後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-1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ncol</a:t>
                      </a:r>
                      <a:r>
                        <a:rPr kumimoji="1" lang="en-US" altLang="ja-JP" sz="1500" dirty="0"/>
                        <a:t>(x),</a:t>
                      </a:r>
                      <a:r>
                        <a:rPr kumimoji="1" lang="en-US" altLang="ja-JP" sz="1500" dirty="0" err="1"/>
                        <a:t>nrow</a:t>
                      </a:r>
                      <a:r>
                        <a:rPr kumimoji="1" lang="en-US" altLang="ja-JP" sz="1500" dirty="0"/>
                        <a:t>(x)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</a:tbl>
          </a:graphicData>
        </a:graphic>
      </p:graphicFrame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A5EBF90-6572-DD00-A9CF-993C4098D414}"/>
              </a:ext>
            </a:extLst>
          </p:cNvPr>
          <p:cNvSpPr/>
          <p:nvPr/>
        </p:nvSpPr>
        <p:spPr bwMode="auto">
          <a:xfrm>
            <a:off x="5038170" y="3277557"/>
            <a:ext cx="5212770" cy="1197771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3FD9703C-8626-10F0-9FEE-1F09336AF24C}"/>
              </a:ext>
            </a:extLst>
          </p:cNvPr>
          <p:cNvSpPr/>
          <p:nvPr/>
        </p:nvSpPr>
        <p:spPr bwMode="auto">
          <a:xfrm>
            <a:off x="9167306" y="3755921"/>
            <a:ext cx="426490" cy="165041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87D0542-8E6A-E93F-0BAF-3EA1F4F13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672" y="2187931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E06C46C-271D-4AD4-2A70-FB1C51036C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672" y="3318788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CD507FE4-D695-48AA-7191-E7054FC18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3056" y="3154092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44C68D6-3FAA-3B71-E5A0-3789EB1767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3720368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C7550F8-639D-4C49-7218-E4615F58C2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530" y="5654694"/>
            <a:ext cx="2911864" cy="673970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C601657-539B-13B5-ECE9-F58BA013DC37}"/>
              </a:ext>
            </a:extLst>
          </p:cNvPr>
          <p:cNvSpPr/>
          <p:nvPr/>
        </p:nvSpPr>
        <p:spPr bwMode="auto">
          <a:xfrm>
            <a:off x="1273619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F9A46B-8F56-9BCE-BB49-C7A8EF7DE62C}"/>
              </a:ext>
            </a:extLst>
          </p:cNvPr>
          <p:cNvSpPr/>
          <p:nvPr/>
        </p:nvSpPr>
        <p:spPr bwMode="auto">
          <a:xfrm>
            <a:off x="2617145" y="3783486"/>
            <a:ext cx="992503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1A3B095-4174-249D-0F32-B39F37582E52}"/>
              </a:ext>
            </a:extLst>
          </p:cNvPr>
          <p:cNvSpPr/>
          <p:nvPr/>
        </p:nvSpPr>
        <p:spPr bwMode="auto">
          <a:xfrm>
            <a:off x="3915019" y="5728377"/>
            <a:ext cx="220375" cy="610852"/>
          </a:xfrm>
          <a:prstGeom prst="rect">
            <a:avLst/>
          </a:prstGeom>
          <a:solidFill>
            <a:srgbClr val="CC9900">
              <a:alpha val="30196"/>
            </a:srgb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5047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7460-602D-11DB-9939-EFFB0B23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EAC601-6525-1D1F-6EDF-E418C9D870C3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関数 </a:t>
            </a:r>
            <a:r>
              <a:rPr lang="en-US" altLang="ja-JP" b="1" kern="0" dirty="0"/>
              <a:t>draw_graph1</a:t>
            </a:r>
            <a:r>
              <a:rPr lang="ja-JP" altLang="en-US" b="1" kern="0" dirty="0"/>
              <a:t>　</a:t>
            </a:r>
            <a:r>
              <a:rPr lang="en-US" altLang="ja-JP" sz="2400" kern="0" dirty="0"/>
              <a:t>d</a:t>
            </a:r>
            <a:r>
              <a:rPr lang="ja-JP" altLang="en-US" sz="2400" kern="0" dirty="0"/>
              <a:t>の散布図をかく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B1505EBD-5BB3-9BB0-A8D8-750082522D2A}"/>
              </a:ext>
            </a:extLst>
          </p:cNvPr>
          <p:cNvSpPr txBox="1">
            <a:spLocks/>
          </p:cNvSpPr>
          <p:nvPr/>
        </p:nvSpPr>
        <p:spPr>
          <a:xfrm>
            <a:off x="762000" y="2143598"/>
            <a:ext cx="4680604" cy="4343341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マーカーを用意する</a:t>
            </a:r>
            <a:endParaRPr lang="en-US" altLang="ja-JP" sz="2400" kern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markers: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colors: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色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m: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マーカー番号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↓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R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の記号と番号の対応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		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（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Rdocumentation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）より</a:t>
            </a:r>
            <a:endParaRPr lang="en-US" altLang="ja-JP" sz="2400" kern="0" dirty="0"/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図を用意する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横軸：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xd 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縦軸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:yd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   NULL</a:t>
            </a:r>
            <a:r>
              <a:rPr lang="ja-JP" altLang="en-US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の図</a:t>
            </a:r>
            <a:r>
              <a:rPr lang="en-US" altLang="ja-JP" sz="1800" kern="0" dirty="0">
                <a:solidFill>
                  <a:srgbClr val="FFFFFF">
                    <a:lumMod val="50000"/>
                  </a:srgbClr>
                </a:solidFill>
                <a:latin typeface="Arial"/>
                <a:ea typeface="ＭＳ Ｐゴシック"/>
              </a:rPr>
              <a:t>: type = n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打点する</a:t>
            </a:r>
            <a:endParaRPr lang="en-US" altLang="ja-JP" sz="18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unique(yd)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ごとにループ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１行につき１打点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   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行数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:n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、マーカー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:m</a:t>
            </a:r>
            <a:endParaRPr lang="en-US" altLang="ja-JP" sz="2400" kern="0" dirty="0"/>
          </a:p>
          <a:p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B31667A-D314-284E-C92F-E1BBBCC7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ECE7812-4C24-8C76-FFDC-36614A2FF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030891"/>
              </p:ext>
            </p:extLst>
          </p:nvPr>
        </p:nvGraphicFramePr>
        <p:xfrm>
          <a:off x="5039360" y="4983915"/>
          <a:ext cx="6601211" cy="164592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439931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695787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2465493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図の生成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fig = </a:t>
                      </a:r>
                      <a:r>
                        <a:rPr kumimoji="1" lang="en-US" altLang="ja-JP" sz="1500" dirty="0" err="1"/>
                        <a:t>plt.figure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番号</a:t>
                      </a:r>
                      <a:r>
                        <a:rPr kumimoji="1" lang="en-US" altLang="ja-JP" sz="1500" dirty="0"/>
                        <a:t>, </a:t>
                      </a:r>
                      <a:r>
                        <a:rPr kumimoji="1" lang="en-US" altLang="ja-JP" sz="1500" dirty="0" err="1"/>
                        <a:t>figsize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plot(</a:t>
                      </a:r>
                      <a:r>
                        <a:rPr kumimoji="1" lang="en-US" altLang="ja-JP" sz="1500" dirty="0" err="1"/>
                        <a:t>x,y,type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図形の描写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plt.scater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en-US" altLang="ja-JP" sz="1500" dirty="0" err="1"/>
                        <a:t>x,y,m,c,z,edgec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points(</a:t>
                      </a:r>
                      <a:r>
                        <a:rPr kumimoji="1" lang="en-US" altLang="ja-JP" sz="1500" dirty="0" err="1"/>
                        <a:t>x,y,pch,col</a:t>
                      </a:r>
                      <a:r>
                        <a:rPr kumimoji="1" lang="en-US" altLang="ja-JP" sz="15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en-US" altLang="ja-JP" sz="1500" b="0" dirty="0">
                          <a:solidFill>
                            <a:schemeClr val="tx1"/>
                          </a:solidFill>
                        </a:rPr>
                        <a:t>for</a:t>
                      </a:r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文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 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: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for(</a:t>
                      </a:r>
                      <a:r>
                        <a:rPr kumimoji="1" lang="en-US" altLang="ja-JP" sz="1500" dirty="0" err="1"/>
                        <a:t>i</a:t>
                      </a:r>
                      <a:r>
                        <a:rPr kumimoji="1" lang="en-US" altLang="ja-JP" sz="1500" dirty="0"/>
                        <a:t> in </a:t>
                      </a:r>
                      <a:r>
                        <a:rPr kumimoji="1" lang="ja-JP" altLang="en-US" sz="1500" dirty="0"/>
                        <a:t>〇</a:t>
                      </a:r>
                      <a:r>
                        <a:rPr kumimoji="1" lang="en-US" altLang="ja-JP" sz="1500" dirty="0"/>
                        <a:t>){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07290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一致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np.where</a:t>
                      </a:r>
                      <a:r>
                        <a:rPr kumimoji="1" lang="en-US" altLang="ja-JP" sz="1500" dirty="0"/>
                        <a:t>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/>
                        <a:t>which(</a:t>
                      </a:r>
                      <a:r>
                        <a:rPr kumimoji="1" lang="ja-JP" altLang="en-US" sz="1500" dirty="0"/>
                        <a:t>〇 </a:t>
                      </a:r>
                      <a:r>
                        <a:rPr kumimoji="1" lang="en-US" altLang="ja-JP" sz="1500" dirty="0"/>
                        <a:t>== </a:t>
                      </a:r>
                      <a:r>
                        <a:rPr kumimoji="1" lang="ja-JP" altLang="en-US" sz="1500" dirty="0"/>
                        <a:t>△</a:t>
                      </a:r>
                      <a:r>
                        <a:rPr kumimoji="1" lang="en-US" altLang="ja-JP" sz="1500" dirty="0"/>
                        <a:t>)</a:t>
                      </a:r>
                      <a:endParaRPr kumimoji="1" lang="ja-JP" altLang="en-U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436988"/>
                  </a:ext>
                </a:extLst>
              </a:tr>
            </a:tbl>
          </a:graphicData>
        </a:graphic>
      </p:graphicFrame>
      <p:pic>
        <p:nvPicPr>
          <p:cNvPr id="15" name="図 14">
            <a:extLst>
              <a:ext uri="{FF2B5EF4-FFF2-40B4-BE49-F238E27FC236}">
                <a16:creationId xmlns:a16="http://schemas.microsoft.com/office/drawing/2014/main" id="{11416C19-2E18-1C91-EE4F-389B58F57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" y="3230288"/>
            <a:ext cx="4591516" cy="34583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F6EE943-8AD3-E112-D2A6-034902452A6F}"/>
              </a:ext>
            </a:extLst>
          </p:cNvPr>
          <p:cNvSpPr/>
          <p:nvPr/>
        </p:nvSpPr>
        <p:spPr bwMode="auto">
          <a:xfrm>
            <a:off x="5069406" y="1780442"/>
            <a:ext cx="5212770" cy="150018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59BD46-0327-5F01-00A5-072F1C1F51FD}"/>
              </a:ext>
            </a:extLst>
          </p:cNvPr>
          <p:cNvSpPr/>
          <p:nvPr/>
        </p:nvSpPr>
        <p:spPr bwMode="auto">
          <a:xfrm>
            <a:off x="5069406" y="3300408"/>
            <a:ext cx="5212770" cy="150018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C45FFD4-C85B-6C94-F77E-45E3B551B23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4633"/>
          <a:stretch/>
        </p:blipFill>
        <p:spPr>
          <a:xfrm>
            <a:off x="5366403" y="2105950"/>
            <a:ext cx="4262377" cy="111839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9FDBFB1E-D0D7-FE37-828D-851317BC35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3894"/>
          <a:stretch>
            <a:fillRect/>
          </a:stretch>
        </p:blipFill>
        <p:spPr>
          <a:xfrm>
            <a:off x="5358615" y="3429000"/>
            <a:ext cx="4354952" cy="129174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CD988D0-95DF-7B34-5CF4-CA02DA348B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1938" y="1068277"/>
            <a:ext cx="2579673" cy="16440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D6BA76A8-1CEE-E52D-8F05-2C519C47A9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0952" y="2895620"/>
            <a:ext cx="2049911" cy="200118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08880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8073-E444-51DF-CE36-45100F5D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A60E52-4A48-8A44-9D10-73F89E54D7B5}"/>
              </a:ext>
            </a:extLst>
          </p:cNvPr>
          <p:cNvSpPr txBox="1">
            <a:spLocks/>
          </p:cNvSpPr>
          <p:nvPr/>
        </p:nvSpPr>
        <p:spPr>
          <a:xfrm>
            <a:off x="762000" y="1203306"/>
            <a:ext cx="7396729" cy="55759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b="1" kern="0" dirty="0"/>
              <a:t>図を保存する</a:t>
            </a:r>
            <a:endParaRPr lang="en-US" altLang="ja-JP" sz="1800" kern="0" dirty="0">
              <a:solidFill>
                <a:schemeClr val="accent3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C5352A9B-147A-270B-B02A-4A45E1AABB12}"/>
              </a:ext>
            </a:extLst>
          </p:cNvPr>
          <p:cNvSpPr txBox="1">
            <a:spLocks/>
          </p:cNvSpPr>
          <p:nvPr/>
        </p:nvSpPr>
        <p:spPr>
          <a:xfrm>
            <a:off x="762000" y="2143599"/>
            <a:ext cx="4680604" cy="1361602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2400" kern="0" dirty="0"/>
              <a:t>図を表示</a:t>
            </a:r>
            <a:endParaRPr lang="en-US" altLang="ja-JP" sz="2400" kern="0" dirty="0"/>
          </a:p>
          <a:p>
            <a:r>
              <a:rPr lang="ja-JP" altLang="en-US" sz="2400" kern="0" dirty="0"/>
              <a:t>図を保存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   </a:t>
            </a:r>
            <a:r>
              <a:rPr lang="en-US" altLang="ja-JP" sz="1800" kern="0" dirty="0" err="1">
                <a:solidFill>
                  <a:schemeClr val="accent3">
                    <a:lumMod val="50000"/>
                  </a:schemeClr>
                </a:solidFill>
              </a:rPr>
              <a:t>png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形式、</a:t>
            </a:r>
            <a:r>
              <a:rPr lang="en-US" altLang="ja-JP" sz="1800" kern="0" dirty="0">
                <a:solidFill>
                  <a:schemeClr val="accent3">
                    <a:lumMod val="50000"/>
                  </a:schemeClr>
                </a:solidFill>
              </a:rPr>
              <a:t>jpg</a:t>
            </a:r>
            <a:r>
              <a:rPr lang="ja-JP" altLang="en-US" sz="1800" kern="0" dirty="0">
                <a:solidFill>
                  <a:schemeClr val="accent3">
                    <a:lumMod val="50000"/>
                  </a:schemeClr>
                </a:solidFill>
              </a:rPr>
              <a:t>形式の２パターンで保存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4908C1C-E1BE-7B66-9AE3-98D91F13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2BB8C37D-34E4-940C-5C11-2E0CC3E595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989761"/>
              </p:ext>
            </p:extLst>
          </p:nvPr>
        </p:nvGraphicFramePr>
        <p:xfrm>
          <a:off x="7153151" y="1930313"/>
          <a:ext cx="4749737" cy="146304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997268">
                  <a:extLst>
                    <a:ext uri="{9D8B030D-6E8A-4147-A177-3AD203B41FA5}">
                      <a16:colId xmlns:a16="http://schemas.microsoft.com/office/drawing/2014/main" val="165235932"/>
                    </a:ext>
                  </a:extLst>
                </a:gridCol>
                <a:gridCol w="2083862">
                  <a:extLst>
                    <a:ext uri="{9D8B030D-6E8A-4147-A177-3AD203B41FA5}">
                      <a16:colId xmlns:a16="http://schemas.microsoft.com/office/drawing/2014/main" val="1387312990"/>
                    </a:ext>
                  </a:extLst>
                </a:gridCol>
                <a:gridCol w="1668607">
                  <a:extLst>
                    <a:ext uri="{9D8B030D-6E8A-4147-A177-3AD203B41FA5}">
                      <a16:colId xmlns:a16="http://schemas.microsoft.com/office/drawing/2014/main" val="2241803932"/>
                    </a:ext>
                  </a:extLst>
                </a:gridCol>
              </a:tblGrid>
              <a:tr h="32092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Python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4329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図の表示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plt.show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500" dirty="0"/>
                        <a:t>自動表示</a:t>
                      </a:r>
                      <a:endParaRPr kumimoji="1" lang="en-US" altLang="ja-JP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238374"/>
                  </a:ext>
                </a:extLst>
              </a:tr>
              <a:tr h="280807">
                <a:tc>
                  <a:txBody>
                    <a:bodyPr/>
                    <a:lstStyle/>
                    <a:p>
                      <a:r>
                        <a:rPr kumimoji="1" lang="ja-JP" altLang="en-US" sz="1500" b="0" dirty="0">
                          <a:solidFill>
                            <a:schemeClr val="tx1"/>
                          </a:solidFill>
                        </a:rPr>
                        <a:t>図の保存</a:t>
                      </a: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fig.saving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  <a:endParaRPr kumimoji="1" lang="ja-JP" altLang="en-U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500" dirty="0" err="1"/>
                        <a:t>png</a:t>
                      </a:r>
                      <a:r>
                        <a:rPr kumimoji="1" lang="en-US" altLang="ja-JP" sz="1500" dirty="0"/>
                        <a:t>(“</a:t>
                      </a:r>
                      <a:r>
                        <a:rPr kumimoji="1" lang="ja-JP" altLang="en-US" sz="1500" dirty="0"/>
                        <a:t>図の名称</a:t>
                      </a:r>
                      <a:r>
                        <a:rPr kumimoji="1" lang="en-US" altLang="ja-JP" sz="1500" dirty="0"/>
                        <a:t>”)</a:t>
                      </a:r>
                    </a:p>
                    <a:p>
                      <a:r>
                        <a:rPr kumimoji="1" lang="ja-JP" altLang="en-US" sz="1500" dirty="0"/>
                        <a:t>図</a:t>
                      </a:r>
                      <a:endParaRPr kumimoji="1" lang="en-US" altLang="ja-JP" sz="1500" dirty="0"/>
                    </a:p>
                    <a:p>
                      <a:r>
                        <a:rPr kumimoji="1" lang="en-US" altLang="ja-JP" sz="1500" dirty="0" err="1"/>
                        <a:t>dev.off</a:t>
                      </a:r>
                      <a:r>
                        <a:rPr kumimoji="1" lang="en-US" altLang="ja-JP" sz="15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439253"/>
                  </a:ext>
                </a:extLst>
              </a:tr>
            </a:tbl>
          </a:graphicData>
        </a:graphic>
      </p:graphicFrame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082B75C-8B32-C889-B5AA-7E197128E2D2}"/>
              </a:ext>
            </a:extLst>
          </p:cNvPr>
          <p:cNvSpPr/>
          <p:nvPr/>
        </p:nvSpPr>
        <p:spPr bwMode="auto">
          <a:xfrm>
            <a:off x="2978588" y="1930313"/>
            <a:ext cx="2060263" cy="113644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Python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056466-E41D-8B4C-8C91-CDACA1D6D7B1}"/>
              </a:ext>
            </a:extLst>
          </p:cNvPr>
          <p:cNvSpPr/>
          <p:nvPr/>
        </p:nvSpPr>
        <p:spPr bwMode="auto">
          <a:xfrm>
            <a:off x="5121320" y="1930313"/>
            <a:ext cx="1780322" cy="1136442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20E03F0-72B3-788A-D55F-1D2C1929A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760" y="229683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802A5AE-C392-7A58-20FE-B090AC1FC9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18"/>
          <a:stretch>
            <a:fillRect/>
          </a:stretch>
        </p:blipFill>
        <p:spPr>
          <a:xfrm>
            <a:off x="5442604" y="1963755"/>
            <a:ext cx="1257475" cy="108343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0719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C81A-9A21-CEC4-618C-AADDA911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FEA26B-2A7C-CDA7-A5AE-7685E7C948B1}"/>
              </a:ext>
            </a:extLst>
          </p:cNvPr>
          <p:cNvSpPr/>
          <p:nvPr/>
        </p:nvSpPr>
        <p:spPr bwMode="auto">
          <a:xfrm>
            <a:off x="5721693" y="1268414"/>
            <a:ext cx="6610242" cy="6869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031C14-81B9-2475-EAA3-8DA6F520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E17388-F4D1-41A6-3529-214D010A152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B2F2228-9080-EF3D-EB3A-9FAE4C74A227}"/>
              </a:ext>
            </a:extLst>
          </p:cNvPr>
          <p:cNvSpPr/>
          <p:nvPr/>
        </p:nvSpPr>
        <p:spPr bwMode="auto">
          <a:xfrm>
            <a:off x="5721693" y="2190410"/>
            <a:ext cx="4913964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E9FD4C4D-AFFF-8C85-F569-324720DC6E3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データを学習用とテスト用に分ける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B8A4F90-460F-C307-D9DD-719C46DD5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220" y="1445539"/>
            <a:ext cx="6121715" cy="30481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ED1A23D9-8C35-7D43-3816-DB86A730D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138" y="2414399"/>
            <a:ext cx="4254719" cy="14288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61377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C81A-9A21-CEC4-618C-AADDA911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FEA26B-2A7C-CDA7-A5AE-7685E7C948B1}"/>
              </a:ext>
            </a:extLst>
          </p:cNvPr>
          <p:cNvSpPr/>
          <p:nvPr/>
        </p:nvSpPr>
        <p:spPr bwMode="auto">
          <a:xfrm>
            <a:off x="5832784" y="1297640"/>
            <a:ext cx="5597215" cy="18981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031C14-81B9-2475-EAA3-8DA6F520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E17388-F4D1-41A6-3529-214D010A152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B2F2228-9080-EF3D-EB3A-9FAE4C74A227}"/>
              </a:ext>
            </a:extLst>
          </p:cNvPr>
          <p:cNvSpPr/>
          <p:nvPr/>
        </p:nvSpPr>
        <p:spPr bwMode="auto">
          <a:xfrm>
            <a:off x="5892586" y="3491089"/>
            <a:ext cx="5537413" cy="2292194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E9FD4C4D-AFFF-8C85-F569-324720DC6E3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正解率を出す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6D8A17A-84B9-F153-3062-B8D45CA12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217" y="1340909"/>
            <a:ext cx="2038635" cy="153373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AD02BE06-D0F6-9C7F-00E2-4DA8736C4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5307" y="2107778"/>
            <a:ext cx="495369" cy="30484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04346335-C146-E93C-8DEC-CFEB5C1C2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217" y="3665331"/>
            <a:ext cx="2791215" cy="1905266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4BDD603-446E-9A2B-7FA9-FE9681916E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6633" y="4664742"/>
            <a:ext cx="1562318" cy="285790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504757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C81A-9A21-CEC4-618C-AADDA911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FEA26B-2A7C-CDA7-A5AE-7685E7C948B1}"/>
              </a:ext>
            </a:extLst>
          </p:cNvPr>
          <p:cNvSpPr/>
          <p:nvPr/>
        </p:nvSpPr>
        <p:spPr bwMode="auto">
          <a:xfrm>
            <a:off x="5832784" y="1297640"/>
            <a:ext cx="6610242" cy="33090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031C14-81B9-2475-EAA3-8DA6F520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E17388-F4D1-41A6-3529-214D010A152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B2F2228-9080-EF3D-EB3A-9FAE4C74A227}"/>
              </a:ext>
            </a:extLst>
          </p:cNvPr>
          <p:cNvSpPr/>
          <p:nvPr/>
        </p:nvSpPr>
        <p:spPr bwMode="auto">
          <a:xfrm>
            <a:off x="5832784" y="4729910"/>
            <a:ext cx="4913964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E9FD4C4D-AFFF-8C85-F569-324720DC6E3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正解率を出す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7AC90B4-9D67-A81F-A2EA-414387F9B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9" y="1420814"/>
            <a:ext cx="6211167" cy="2962688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599161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5D919-A7F3-81E5-A255-683B034F6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DAA273-F60E-4A1B-CDE0-A437AE5CA2A7}"/>
              </a:ext>
            </a:extLst>
          </p:cNvPr>
          <p:cNvSpPr/>
          <p:nvPr/>
        </p:nvSpPr>
        <p:spPr bwMode="auto">
          <a:xfrm>
            <a:off x="5832784" y="1297640"/>
            <a:ext cx="6610242" cy="33090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913AE7E-3BAD-A657-0A57-385438A5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F9F339-E67C-5C4A-AA4C-4235C36DABA4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0886C3B-E4DD-6729-109F-6546986A265D}"/>
              </a:ext>
            </a:extLst>
          </p:cNvPr>
          <p:cNvSpPr/>
          <p:nvPr/>
        </p:nvSpPr>
        <p:spPr bwMode="auto">
          <a:xfrm>
            <a:off x="5832784" y="4729910"/>
            <a:ext cx="4913964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1935C273-4948-6E4B-33CF-F898DB15F5C8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正解率を出す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</p:spTree>
    <p:extLst>
      <p:ext uri="{BB962C8B-B14F-4D97-AF65-F5344CB8AC3E}">
        <p14:creationId xmlns:p14="http://schemas.microsoft.com/office/powerpoint/2010/main" val="333354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853D-251E-4DB5-F020-5540CC85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A4EC4D-FD15-98F7-EE8F-0CD5C1431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E7DD6F-3335-A3AD-3746-0910D617EDD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75B395A4-D7A6-8C40-0611-ADA0F3A972D1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endParaRPr lang="ja-JP" altLang="en-US" sz="2400" kern="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FAECD8B-F318-0613-F58B-AE545189F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058" y="800925"/>
            <a:ext cx="4419827" cy="4115011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73D0BE21-CAB8-646D-02AD-DD58CDB57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543" y="1996180"/>
            <a:ext cx="4254719" cy="396260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58C40E18-6DE0-FC4E-159A-8B89116903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674" y="858542"/>
            <a:ext cx="5207726" cy="459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56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3217</TotalTime>
  <Words>577</Words>
  <Application>Microsoft Office PowerPoint</Application>
  <PresentationFormat>ワイド画面</PresentationFormat>
  <Paragraphs>170</Paragraphs>
  <Slides>12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0" baseType="lpstr">
      <vt:lpstr>ＭＳ Ｐゴシック</vt:lpstr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95</cp:revision>
  <cp:lastPrinted>2025-01-29T02:41:47Z</cp:lastPrinted>
  <dcterms:created xsi:type="dcterms:W3CDTF">2025-01-28T06:03:12Z</dcterms:created>
  <dcterms:modified xsi:type="dcterms:W3CDTF">2026-09-14T20:14:01Z</dcterms:modified>
</cp:coreProperties>
</file>