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318" r:id="rId3"/>
    <p:sldId id="321" r:id="rId4"/>
    <p:sldId id="320" r:id="rId5"/>
    <p:sldId id="322" r:id="rId6"/>
    <p:sldId id="324" r:id="rId7"/>
    <p:sldId id="323" r:id="rId8"/>
    <p:sldId id="319" r:id="rId9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C9C962AA-A2AB-4376-8EA3-205F5036992C}">
          <p14:sldIdLst>
            <p14:sldId id="256"/>
          </p14:sldIdLst>
        </p14:section>
        <p14:section name="elephant_ipynb" id="{BA157B24-D1C0-41FD-B252-B250D701F68F}">
          <p14:sldIdLst>
            <p14:sldId id="318"/>
            <p14:sldId id="321"/>
            <p14:sldId id="320"/>
            <p14:sldId id="322"/>
            <p14:sldId id="324"/>
            <p14:sldId id="323"/>
          </p14:sldIdLst>
        </p14:section>
        <p14:section name="参考文献" id="{CFFDC787-557B-4910-97C6-D64501BECE89}">
          <p14:sldIdLst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114" y="16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/>
              <a:t>フローチャート</a:t>
            </a:r>
            <a:endParaRPr lang="en-US" altLang="ja-JP" kern="0" dirty="0"/>
          </a:p>
          <a:p>
            <a:pPr marL="0" indent="0">
              <a:buNone/>
            </a:pPr>
            <a:endParaRPr lang="en-US" altLang="ja-JP" kern="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CE7E79-24CD-0047-16C3-9641CB93D965}"/>
              </a:ext>
            </a:extLst>
          </p:cNvPr>
          <p:cNvGrpSpPr/>
          <p:nvPr/>
        </p:nvGrpSpPr>
        <p:grpSpPr>
          <a:xfrm>
            <a:off x="997526" y="2220686"/>
            <a:ext cx="2992582" cy="1350818"/>
            <a:chOff x="1698170" y="2078182"/>
            <a:chExt cx="2992582" cy="1350818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B425BD9-099D-A6AD-15F2-F3623A12326F}"/>
                </a:ext>
              </a:extLst>
            </p:cNvPr>
            <p:cNvSpPr/>
            <p:nvPr/>
          </p:nvSpPr>
          <p:spPr bwMode="auto">
            <a:xfrm>
              <a:off x="1698170" y="2078182"/>
              <a:ext cx="2992582" cy="135081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8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elephant_data.txt</a:t>
              </a:r>
            </a:p>
            <a:p>
              <a:pPr marL="0" marR="0" indent="0" algn="ctr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　　　体長　　　　体重　　　ラベル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DE7B81-C143-6356-16D3-58820B541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84591" y="2740733"/>
              <a:ext cx="2619741" cy="590632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217BBE65-3ACC-B6E4-D613-17C17B5AD7FD}"/>
                  </a:ext>
                </a:extLst>
              </p:cNvPr>
              <p:cNvSpPr/>
              <p:nvPr/>
            </p:nvSpPr>
            <p:spPr bwMode="auto">
              <a:xfrm>
                <a:off x="1140803" y="3015416"/>
                <a:ext cx="2729345" cy="103034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None/>
                </a:pPr>
                <a:r>
                  <a:rPr lang="ja-JP" altLang="en-US" sz="1800" kern="0" dirty="0">
                    <a:solidFill>
                      <a:schemeClr val="accent6"/>
                    </a:solidFill>
                    <a:latin typeface="+mn-ea"/>
                  </a:rPr>
                  <a:t>正規化の式</a:t>
                </a:r>
                <a:endParaRPr lang="en-US" altLang="ja-JP" sz="1800" kern="0" dirty="0">
                  <a:solidFill>
                    <a:schemeClr val="accent6"/>
                  </a:solidFill>
                  <a:latin typeface="+mn-ea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80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𝑛𝑜𝑟𝑚𝑎𝑙𝑖𝑧𝑒𝑑</m:t>
                        </m:r>
                      </m:sub>
                    </m:sSub>
                  </m:oMath>
                </a14:m>
                <a:r>
                  <a:rPr lang="en-US" altLang="ja-JP" sz="1800" kern="0" dirty="0">
                    <a:solidFill>
                      <a:schemeClr val="accent6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180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180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endParaRPr kumimoji="1" lang="ja-JP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217BBE65-3ACC-B6E4-D613-17C17B5AD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0803" y="3015416"/>
                <a:ext cx="2729345" cy="1030349"/>
              </a:xfrm>
              <a:prstGeom prst="rect">
                <a:avLst/>
              </a:prstGeom>
              <a:blipFill>
                <a:blip r:embed="rId2"/>
                <a:stretch>
                  <a:fillRect l="-1786" t="-3550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kern="0" dirty="0"/>
              <a:t>def</a:t>
            </a:r>
            <a:r>
              <a:rPr lang="ja-JP" altLang="en-US" kern="0" dirty="0"/>
              <a:t> </a:t>
            </a:r>
            <a:r>
              <a:rPr lang="en-US" altLang="ja-JP" kern="0" dirty="0" err="1"/>
              <a:t>min_val</a:t>
            </a:r>
            <a:r>
              <a:rPr lang="ja-JP" altLang="en-US" kern="0" dirty="0"/>
              <a:t>　</a:t>
            </a:r>
            <a:r>
              <a:rPr lang="ja-JP" altLang="en-US" sz="2400" kern="0" dirty="0"/>
              <a:t>データを正規化する</a:t>
            </a:r>
            <a:endParaRPr lang="en-US" altLang="ja-JP" sz="2400" kern="0" dirty="0"/>
          </a:p>
          <a:p>
            <a:r>
              <a:rPr lang="en-US" altLang="ja-JP" sz="2400" kern="0" dirty="0"/>
              <a:t>x1,x2</a:t>
            </a:r>
            <a:r>
              <a:rPr lang="ja-JP" altLang="en-US" sz="2400" kern="0" dirty="0"/>
              <a:t> を転置する</a:t>
            </a:r>
            <a:endParaRPr lang="en-US" altLang="ja-JP" sz="2400" kern="0" dirty="0"/>
          </a:p>
          <a:p>
            <a:r>
              <a:rPr lang="ja-JP" altLang="en-US" sz="2400" kern="0" dirty="0"/>
              <a:t>データを正規化する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F60535-138B-732E-1893-7563B5F9E89B}"/>
              </a:ext>
            </a:extLst>
          </p:cNvPr>
          <p:cNvSpPr/>
          <p:nvPr/>
        </p:nvSpPr>
        <p:spPr bwMode="auto">
          <a:xfrm>
            <a:off x="5070080" y="2200772"/>
            <a:ext cx="6787159" cy="165463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x1.T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x1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の転置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　　　　　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x2.min(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axis,keepdims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)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最小値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　　　　　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axis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0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列方向　１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: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行方向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keepdims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T : 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配列の次元を維持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return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返り値を指定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DBE3B8F-501C-030C-2B41-3A35D663D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542" y="2323139"/>
            <a:ext cx="3000794" cy="140989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8064596-8A0D-1667-841B-85C709BCD0D4}"/>
              </a:ext>
            </a:extLst>
          </p:cNvPr>
          <p:cNvSpPr/>
          <p:nvPr/>
        </p:nvSpPr>
        <p:spPr bwMode="auto">
          <a:xfrm>
            <a:off x="5068545" y="4265139"/>
            <a:ext cx="7123455" cy="194565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t(x1)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x21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の転置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apply( x, m, fun 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（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データ、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m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１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2: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列）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or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列ごとに関数を適用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sweep( x, m, s, fun 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( s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：使用する値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)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or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列の各値に計算を実施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973C81C-9C4E-1158-F71B-9FF7F31897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4459" y="4437754"/>
            <a:ext cx="4086795" cy="1600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618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B3090A0-1908-E9B0-8290-9A3F400F7109}"/>
              </a:ext>
            </a:extLst>
          </p:cNvPr>
          <p:cNvSpPr/>
          <p:nvPr/>
        </p:nvSpPr>
        <p:spPr bwMode="auto">
          <a:xfrm>
            <a:off x="6487911" y="1413729"/>
            <a:ext cx="5209308" cy="215614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d [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〇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△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]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の〇行△列目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すべて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a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b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以上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b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未満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-1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最後の値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8A8C012-3453-ED17-5FD2-86A8CBA3EA67}"/>
              </a:ext>
            </a:extLst>
          </p:cNvPr>
          <p:cNvSpPr/>
          <p:nvPr/>
        </p:nvSpPr>
        <p:spPr bwMode="auto">
          <a:xfrm>
            <a:off x="6487911" y="3596598"/>
            <a:ext cx="5246889" cy="265800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 [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〇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△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]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の〇行△列目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 」　すべて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 : b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 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以上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b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以下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ncol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(d)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の最後の列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D1E742D-3C11-8A33-0E77-5529A4675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470" y="1557257"/>
            <a:ext cx="4505954" cy="66684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B4EBA53-DA81-DFD1-3DF7-3D483FDCD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2716" y="3697934"/>
            <a:ext cx="3572374" cy="10955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B9ED96D3-E6CA-7642-8B77-081D7BC95C0F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kern="0" dirty="0" err="1"/>
              <a:t>deta</a:t>
            </a:r>
            <a:r>
              <a:rPr lang="ja-JP" altLang="en-US" kern="0" dirty="0"/>
              <a:t>の取得</a:t>
            </a:r>
            <a:endParaRPr lang="en-US" altLang="ja-JP" kern="0" dirty="0"/>
          </a:p>
          <a:p>
            <a:r>
              <a:rPr lang="ja-JP" altLang="en-US" sz="2400" kern="0" dirty="0"/>
              <a:t>変数</a:t>
            </a:r>
            <a:r>
              <a:rPr lang="en-US" altLang="ja-JP" sz="2400" kern="0" dirty="0"/>
              <a:t>d </a:t>
            </a:r>
            <a:r>
              <a:rPr lang="ja-JP" altLang="en-US" sz="2400" kern="0" dirty="0"/>
              <a:t>に </a:t>
            </a:r>
            <a:r>
              <a:rPr lang="en-US" altLang="ja-JP" sz="2400" kern="0" dirty="0"/>
              <a:t>elephant_data.txt </a:t>
            </a:r>
            <a:r>
              <a:rPr lang="ja-JP" altLang="en-US" sz="2400" kern="0" dirty="0"/>
              <a:t>を代入</a:t>
            </a:r>
            <a:endParaRPr lang="en-US" altLang="ja-JP" sz="2400" kern="0" dirty="0"/>
          </a:p>
          <a:p>
            <a:r>
              <a:rPr lang="ja-JP" altLang="en-US" sz="2400" kern="0" dirty="0"/>
              <a:t>変数 </a:t>
            </a:r>
            <a:r>
              <a:rPr lang="en-US" altLang="ja-JP" sz="2400" kern="0" dirty="0" err="1"/>
              <a:t>Xd,yd</a:t>
            </a:r>
            <a:r>
              <a:rPr lang="ja-JP" altLang="en-US" sz="2400" kern="0" dirty="0"/>
              <a:t> に値を代入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/>
              <a:t>　</a:t>
            </a:r>
            <a:r>
              <a:rPr lang="en-US" altLang="ja-JP" sz="1800" kern="0" dirty="0" err="1">
                <a:solidFill>
                  <a:schemeClr val="accent6"/>
                </a:solidFill>
              </a:rPr>
              <a:t>Xd</a:t>
            </a:r>
            <a:r>
              <a:rPr lang="en-US" altLang="ja-JP" sz="1800" kern="0" dirty="0">
                <a:solidFill>
                  <a:schemeClr val="accent6"/>
                </a:solidFill>
              </a:rPr>
              <a:t> </a:t>
            </a:r>
            <a:r>
              <a:rPr lang="ja-JP" altLang="en-US" sz="1800" kern="0" dirty="0">
                <a:solidFill>
                  <a:schemeClr val="accent6"/>
                </a:solidFill>
              </a:rPr>
              <a:t>体長と体重　</a:t>
            </a:r>
            <a:r>
              <a:rPr lang="en-US" altLang="ja-JP" sz="1800" kern="0" dirty="0">
                <a:solidFill>
                  <a:schemeClr val="accent6"/>
                </a:solidFill>
              </a:rPr>
              <a:t>(d</a:t>
            </a:r>
            <a:r>
              <a:rPr lang="ja-JP" altLang="en-US" sz="1800" kern="0" dirty="0">
                <a:solidFill>
                  <a:schemeClr val="accent6"/>
                </a:solidFill>
              </a:rPr>
              <a:t>の</a:t>
            </a:r>
            <a:r>
              <a:rPr lang="en-US" altLang="ja-JP" sz="1800" kern="0" dirty="0">
                <a:solidFill>
                  <a:schemeClr val="accent6"/>
                </a:solidFill>
              </a:rPr>
              <a:t>1</a:t>
            </a:r>
            <a:r>
              <a:rPr lang="ja-JP" altLang="en-US" sz="1800" kern="0" dirty="0">
                <a:solidFill>
                  <a:schemeClr val="accent6"/>
                </a:solidFill>
              </a:rPr>
              <a:t>行目から２（最後</a:t>
            </a:r>
            <a:r>
              <a:rPr lang="en-US" altLang="ja-JP" sz="1800" kern="0" dirty="0">
                <a:solidFill>
                  <a:schemeClr val="accent6"/>
                </a:solidFill>
              </a:rPr>
              <a:t>-1</a:t>
            </a:r>
            <a:r>
              <a:rPr lang="ja-JP" altLang="en-US" sz="1800" kern="0" dirty="0">
                <a:solidFill>
                  <a:schemeClr val="accent6"/>
                </a:solidFill>
              </a:rPr>
              <a:t>）行目</a:t>
            </a:r>
            <a:r>
              <a:rPr lang="en-US" altLang="ja-JP" sz="1800" kern="0" dirty="0">
                <a:solidFill>
                  <a:schemeClr val="accent6"/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　ラベル　</a:t>
            </a:r>
            <a:r>
              <a:rPr lang="en-US" altLang="ja-JP" sz="1800" kern="0" dirty="0">
                <a:solidFill>
                  <a:schemeClr val="accent6"/>
                </a:solidFill>
              </a:rPr>
              <a:t>(</a:t>
            </a:r>
            <a:r>
              <a:rPr lang="ja-JP" altLang="en-US" sz="1800" kern="0" dirty="0">
                <a:solidFill>
                  <a:schemeClr val="accent6"/>
                </a:solidFill>
              </a:rPr>
              <a:t>最後の行</a:t>
            </a:r>
            <a:r>
              <a:rPr lang="en-US" altLang="ja-JP" sz="1800" kern="0" dirty="0">
                <a:solidFill>
                  <a:schemeClr val="accent6"/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4624E3C-A13F-C860-CBAB-6295845925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144" y="5046447"/>
            <a:ext cx="1571844" cy="153373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6" name="矢印: 右 15">
            <a:extLst>
              <a:ext uri="{FF2B5EF4-FFF2-40B4-BE49-F238E27FC236}">
                <a16:creationId xmlns:a16="http://schemas.microsoft.com/office/drawing/2014/main" id="{2CC46FE8-C4DD-92D8-4A63-5E9A03A7AE41}"/>
              </a:ext>
            </a:extLst>
          </p:cNvPr>
          <p:cNvSpPr/>
          <p:nvPr/>
        </p:nvSpPr>
        <p:spPr bwMode="auto">
          <a:xfrm>
            <a:off x="9294102" y="5813316"/>
            <a:ext cx="605642" cy="187204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84297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DBA4AFB-FEB6-8BA5-128E-B3CC94FD7DC1}"/>
              </a:ext>
            </a:extLst>
          </p:cNvPr>
          <p:cNvSpPr/>
          <p:nvPr/>
        </p:nvSpPr>
        <p:spPr bwMode="auto">
          <a:xfrm>
            <a:off x="4392937" y="1341231"/>
            <a:ext cx="7748923" cy="29205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plt.figure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( n,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figsize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= (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横幅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縦幅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) )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図番号：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n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大きさ：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figsize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図を用意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plt.clf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()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グラフの内容を消す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for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i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in x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の要素ごとに繰り返し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set( x )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の中の重複をなくしたもの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np.where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条件式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条件を満たす要素の位置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plt.scatter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(x, y, marker, c,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zorder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edgecolors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点を打つ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F507706-6079-4D40-5945-E11BCDC51E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4633"/>
          <a:stretch/>
        </p:blipFill>
        <p:spPr>
          <a:xfrm>
            <a:off x="4857981" y="1463084"/>
            <a:ext cx="6430272" cy="168722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64B1F7A-6CA1-8294-EDA3-A4E236B50922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散布図をかく</a:t>
            </a:r>
            <a:endParaRPr lang="en-US" altLang="ja-JP" sz="2400" kern="0" dirty="0"/>
          </a:p>
          <a:p>
            <a:r>
              <a:rPr lang="ja-JP" altLang="en-US" sz="2400" kern="0" dirty="0"/>
              <a:t>図</a:t>
            </a:r>
            <a:r>
              <a:rPr lang="en-US" altLang="ja-JP" sz="2400" kern="0" dirty="0"/>
              <a:t>fig</a:t>
            </a:r>
            <a:r>
              <a:rPr lang="ja-JP" altLang="en-US" sz="2400" kern="0" dirty="0"/>
              <a:t>を用意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6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マーカーを用意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の種類ごとにマーカーの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形と色を分ける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マーカーを打って図をかく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の１種類のデータ番号を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に格納する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番目の（体長</a:t>
            </a:r>
            <a:r>
              <a:rPr lang="en-US" altLang="ja-JP" sz="1800" kern="0" dirty="0">
                <a:solidFill>
                  <a:schemeClr val="accent6"/>
                </a:solidFill>
              </a:rPr>
              <a:t>,</a:t>
            </a:r>
            <a:r>
              <a:rPr lang="ja-JP" altLang="en-US" sz="1800" kern="0" dirty="0">
                <a:solidFill>
                  <a:schemeClr val="accent6"/>
                </a:solidFill>
              </a:rPr>
              <a:t>体重）の座標に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番目のマーカーをつける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次に</a:t>
            </a:r>
            <a:r>
              <a:rPr lang="en-US" altLang="ja-JP" sz="1800" kern="0" dirty="0">
                <a:solidFill>
                  <a:schemeClr val="accent6"/>
                </a:solidFill>
              </a:rPr>
              <a:t> yd</a:t>
            </a:r>
            <a:r>
              <a:rPr lang="ja-JP" altLang="en-US" sz="1800" kern="0" dirty="0">
                <a:solidFill>
                  <a:schemeClr val="accent6"/>
                </a:solidFill>
              </a:rPr>
              <a:t> の種類に進める（同時に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も１増やす）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4"/>
                </a:solidFill>
              </a:rPr>
              <a:t>　</a:t>
            </a:r>
            <a:endParaRPr lang="en-US" altLang="ja-JP" sz="1800" kern="0" dirty="0">
              <a:solidFill>
                <a:schemeClr val="accent4"/>
              </a:solidFill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6048BD6-4A02-E0BF-9BD9-2BF81BAE9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750" y="4182236"/>
            <a:ext cx="3585965" cy="228532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4" name="矢印: 右 13">
            <a:extLst>
              <a:ext uri="{FF2B5EF4-FFF2-40B4-BE49-F238E27FC236}">
                <a16:creationId xmlns:a16="http://schemas.microsoft.com/office/drawing/2014/main" id="{CF632E6A-879C-79D1-FC3D-4DB4BB0F4ED3}"/>
              </a:ext>
            </a:extLst>
          </p:cNvPr>
          <p:cNvSpPr/>
          <p:nvPr/>
        </p:nvSpPr>
        <p:spPr bwMode="auto">
          <a:xfrm>
            <a:off x="7729708" y="5369453"/>
            <a:ext cx="605642" cy="187204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7422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EE29E32-E518-D36F-9298-2097D177EB81}"/>
              </a:ext>
            </a:extLst>
          </p:cNvPr>
          <p:cNvSpPr/>
          <p:nvPr/>
        </p:nvSpPr>
        <p:spPr bwMode="auto">
          <a:xfrm>
            <a:off x="4947777" y="1268414"/>
            <a:ext cx="6280341" cy="366182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plot( 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軸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y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軸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type = n)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NULL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の図をかく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unique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( x )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の中の重複をなくしたもの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which(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条件式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条件を満たす要素の位置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points(x, y,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pch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col)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点を打つ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EED49052-6400-70AB-1241-CB556F6D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406" y="1367310"/>
            <a:ext cx="4896533" cy="230537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1EE0FA69-D986-A076-E543-3A5BDDF36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632" y="3402947"/>
            <a:ext cx="2458193" cy="328360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E461CFF8-D65A-E224-4D01-8441C881367F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散布図をかく</a:t>
            </a:r>
            <a:endParaRPr lang="en-US" altLang="ja-JP" sz="2400" kern="0" dirty="0"/>
          </a:p>
          <a:p>
            <a:r>
              <a:rPr lang="ja-JP" altLang="en-US" sz="2400" kern="0" dirty="0"/>
              <a:t>図</a:t>
            </a:r>
            <a:r>
              <a:rPr lang="en-US" altLang="ja-JP" sz="2400" kern="0" dirty="0"/>
              <a:t>fig</a:t>
            </a:r>
            <a:r>
              <a:rPr lang="ja-JP" altLang="en-US" sz="2400" kern="0" dirty="0"/>
              <a:t>を用意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6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マーカーを用意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の種類ごとにマーカーの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形と色を分ける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マーカーを打って図をかく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の１種類のデータ番号を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に格納する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番目の（体長</a:t>
            </a:r>
            <a:r>
              <a:rPr lang="en-US" altLang="ja-JP" sz="1800" kern="0" dirty="0">
                <a:solidFill>
                  <a:schemeClr val="accent6"/>
                </a:solidFill>
              </a:rPr>
              <a:t>,</a:t>
            </a:r>
            <a:r>
              <a:rPr lang="ja-JP" altLang="en-US" sz="1800" kern="0" dirty="0">
                <a:solidFill>
                  <a:schemeClr val="accent6"/>
                </a:solidFill>
              </a:rPr>
              <a:t>体重）の座標に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番目のマーカーをつける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次に</a:t>
            </a:r>
            <a:r>
              <a:rPr lang="en-US" altLang="ja-JP" sz="1800" kern="0" dirty="0">
                <a:solidFill>
                  <a:schemeClr val="accent6"/>
                </a:solidFill>
              </a:rPr>
              <a:t> yd</a:t>
            </a:r>
            <a:r>
              <a:rPr lang="ja-JP" altLang="en-US" sz="1800" kern="0" dirty="0">
                <a:solidFill>
                  <a:schemeClr val="accent6"/>
                </a:solidFill>
              </a:rPr>
              <a:t> の種類に進める（同時に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も１増やす）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4"/>
                </a:solidFill>
              </a:rPr>
              <a:t>　</a:t>
            </a:r>
            <a:endParaRPr lang="en-US" altLang="ja-JP" sz="1800" kern="0" dirty="0">
              <a:solidFill>
                <a:schemeClr val="accent4"/>
              </a:solidFill>
            </a:endParaRPr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78B00D20-D4F1-977D-1EF3-0B31E5D78DEF}"/>
              </a:ext>
            </a:extLst>
          </p:cNvPr>
          <p:cNvSpPr/>
          <p:nvPr/>
        </p:nvSpPr>
        <p:spPr bwMode="auto">
          <a:xfrm>
            <a:off x="8670965" y="5495984"/>
            <a:ext cx="605642" cy="187204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37746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DBA4AFB-FEB6-8BA5-128E-B3CC94FD7DC1}"/>
              </a:ext>
            </a:extLst>
          </p:cNvPr>
          <p:cNvSpPr/>
          <p:nvPr/>
        </p:nvSpPr>
        <p:spPr bwMode="auto">
          <a:xfrm>
            <a:off x="6820836" y="1159385"/>
            <a:ext cx="4761563" cy="153631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plt.show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作ったグラフを表示する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fig.savefig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(“ img1.png”)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img1.png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fig.savefig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(“img1.pdf”)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画像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img1.pdf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EE29E32-E518-D36F-9298-2097D177EB81}"/>
              </a:ext>
            </a:extLst>
          </p:cNvPr>
          <p:cNvSpPr/>
          <p:nvPr/>
        </p:nvSpPr>
        <p:spPr bwMode="auto">
          <a:xfrm>
            <a:off x="6820836" y="3205011"/>
            <a:ext cx="4411956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png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(“ img1.png”)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img1.png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pdf(“img1.pdf”)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img1.pdf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どちらも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dev.off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までが保存する図の範囲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64B1F7A-6CA1-8294-EDA3-A4E236B50922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図を保存する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r>
              <a:rPr lang="en-US" altLang="ja-JP" sz="2400" kern="0" dirty="0"/>
              <a:t>Python</a:t>
            </a:r>
            <a:r>
              <a:rPr lang="ja-JP" altLang="en-US" sz="2400" kern="0" dirty="0"/>
              <a:t>は</a:t>
            </a:r>
            <a:r>
              <a:rPr lang="en-US" altLang="ja-JP" sz="2400" kern="0" dirty="0"/>
              <a:t>show</a:t>
            </a:r>
            <a:r>
              <a:rPr lang="ja-JP" altLang="en-US" sz="2400" kern="0" dirty="0"/>
              <a:t>で表示、</a:t>
            </a:r>
            <a:r>
              <a:rPr lang="en-US" altLang="ja-JP" sz="2400" kern="0" dirty="0"/>
              <a:t>R</a:t>
            </a:r>
            <a:r>
              <a:rPr lang="ja-JP" altLang="en-US" sz="2400" kern="0" dirty="0"/>
              <a:t>は自動で表示される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  <a:p>
            <a:r>
              <a:rPr lang="ja-JP" altLang="en-US" sz="2400" kern="0" dirty="0"/>
              <a:t>図を保存する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Ｒでは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	</a:t>
            </a:r>
            <a:r>
              <a:rPr lang="en-US" altLang="ja-JP" sz="2400" kern="0" dirty="0" err="1"/>
              <a:t>png</a:t>
            </a:r>
            <a:r>
              <a:rPr lang="en-US" altLang="ja-JP" sz="2400" kern="0" dirty="0"/>
              <a:t>()</a:t>
            </a:r>
          </a:p>
          <a:p>
            <a:pPr marL="0" indent="0">
              <a:buNone/>
            </a:pPr>
            <a:r>
              <a:rPr lang="en-US" altLang="ja-JP" sz="2400" kern="0" dirty="0"/>
              <a:t>	plot()</a:t>
            </a:r>
          </a:p>
          <a:p>
            <a:pPr marL="0" indent="0">
              <a:buNone/>
            </a:pPr>
            <a:r>
              <a:rPr lang="en-US" altLang="ja-JP" sz="2400" kern="0" dirty="0"/>
              <a:t>	</a:t>
            </a:r>
            <a:r>
              <a:rPr lang="en-US" altLang="ja-JP" sz="2400" kern="0" dirty="0" err="1"/>
              <a:t>dev.off</a:t>
            </a:r>
            <a:r>
              <a:rPr lang="en-US" altLang="ja-JP" sz="2400" kern="0" dirty="0"/>
              <a:t>()</a:t>
            </a:r>
          </a:p>
          <a:p>
            <a:pPr marL="0" indent="0">
              <a:buNone/>
            </a:pPr>
            <a:r>
              <a:rPr lang="ja-JP" altLang="en-US" sz="2400" kern="0" dirty="0"/>
              <a:t>で１セットなので、前頁の内容を関数</a:t>
            </a:r>
            <a:r>
              <a:rPr lang="en-US" altLang="ja-JP" sz="2400" kern="0" dirty="0" err="1"/>
              <a:t>draw_graph</a:t>
            </a:r>
            <a:r>
              <a:rPr lang="ja-JP" altLang="en-US" sz="2400" kern="0" dirty="0"/>
              <a:t>に格納し、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 err="1"/>
              <a:t>png</a:t>
            </a:r>
            <a:r>
              <a:rPr lang="ja-JP" altLang="en-US" sz="2400" kern="0" dirty="0"/>
              <a:t>と</a:t>
            </a:r>
            <a:r>
              <a:rPr lang="en-US" altLang="ja-JP" sz="2400" kern="0" dirty="0"/>
              <a:t>pdf</a:t>
            </a:r>
            <a:r>
              <a:rPr lang="ja-JP" altLang="en-US" sz="2400" kern="0" dirty="0"/>
              <a:t>の２つで保存する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ja-JP" altLang="en-US" sz="2400" kern="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1FE9B44-578F-6111-BF10-E3858D658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90" y="1254641"/>
            <a:ext cx="1638529" cy="619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C225996-E665-4EAB-117D-5E5E3D5BD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790" y="3263028"/>
            <a:ext cx="1257475" cy="112410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17085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あ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</TotalTime>
  <Words>843</Words>
  <Application>Microsoft Office PowerPoint</Application>
  <PresentationFormat>ワイド画面</PresentationFormat>
  <Paragraphs>136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メイリオ</vt:lpstr>
      <vt:lpstr>游ゴシック</vt:lpstr>
      <vt:lpstr>Arial</vt:lpstr>
      <vt:lpstr>Cambria Math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91</cp:revision>
  <cp:lastPrinted>2025-01-29T02:41:47Z</cp:lastPrinted>
  <dcterms:created xsi:type="dcterms:W3CDTF">2025-01-28T06:03:12Z</dcterms:created>
  <dcterms:modified xsi:type="dcterms:W3CDTF">2026-09-09T03:20:19Z</dcterms:modified>
</cp:coreProperties>
</file>