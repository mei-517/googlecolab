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sldIdLst>
    <p:sldId id="256" r:id="rId2"/>
    <p:sldId id="318" r:id="rId3"/>
    <p:sldId id="330" r:id="rId4"/>
    <p:sldId id="331" r:id="rId5"/>
    <p:sldId id="332" r:id="rId6"/>
    <p:sldId id="333" r:id="rId7"/>
    <p:sldId id="334" r:id="rId8"/>
    <p:sldId id="335" r:id="rId9"/>
    <p:sldId id="336" r:id="rId10"/>
    <p:sldId id="337" r:id="rId11"/>
    <p:sldId id="338" r:id="rId12"/>
    <p:sldId id="339" r:id="rId13"/>
    <p:sldId id="329" r:id="rId14"/>
    <p:sldId id="319" r:id="rId15"/>
  </p:sldIdLst>
  <p:sldSz cx="12192000" cy="6858000"/>
  <p:notesSz cx="6802438" cy="993775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C9C962AA-A2AB-4376-8EA3-205F5036992C}">
          <p14:sldIdLst>
            <p14:sldId id="256"/>
          </p14:sldIdLst>
        </p14:section>
        <p14:section name="elephant_ipynb" id="{BA157B24-D1C0-41FD-B252-B250D701F68F}">
          <p14:sldIdLst>
            <p14:sldId id="318"/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  <p14:sldId id="339"/>
            <p14:sldId id="329"/>
          </p14:sldIdLst>
        </p14:section>
        <p14:section name="参考文献" id="{CFFDC787-557B-4910-97C6-D64501BECE89}">
          <p14:sldIdLst>
            <p14:sldId id="31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9900"/>
    <a:srgbClr val="FF00FF"/>
    <a:srgbClr val="FF7C80"/>
    <a:srgbClr val="FF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52" autoAdjust="0"/>
    <p:restoredTop sz="94660"/>
  </p:normalViewPr>
  <p:slideViewPr>
    <p:cSldViewPr snapToGrid="0">
      <p:cViewPr>
        <p:scale>
          <a:sx n="87" d="100"/>
          <a:sy n="87" d="100"/>
        </p:scale>
        <p:origin x="-186" y="1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7723" cy="4986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3141" y="0"/>
            <a:ext cx="2947723" cy="4986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9496A5-7C6D-4562-83AD-78E6F1D02C8F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59475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244" y="4782542"/>
            <a:ext cx="5441950" cy="391298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439138"/>
            <a:ext cx="2947723" cy="4986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3141" y="9439138"/>
            <a:ext cx="2947723" cy="4986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38E0EF-4404-48A5-A14D-C28912D88E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60177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34070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20C00-182F-7AE0-1C54-4787FD277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40E900F-1543-1963-9C11-B0EECD2E32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1D06396-343B-1F84-82AD-98CFC95941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DB5751D-E45D-9A19-9952-DABFDD88E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669619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B724B-2EC1-7BE8-607D-B8766F29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199DC3F-77FD-7DC8-007B-B750AB161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E63A146-B08B-7AE1-025C-23D0F1CAB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6EFE370-A7B0-D0E8-E34E-97F8434B87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04293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5236-3B77-F39E-B3CD-41D00F8F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46283B0-DE2B-2F05-4A52-3BE2444F7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97643AE-63C1-9B59-DB88-A8F008C8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CCFACFF-03D5-20DD-DAAE-67C3BE254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36682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5236-3B77-F39E-B3CD-41D00F8F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46283B0-DE2B-2F05-4A52-3BE2444F7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97643AE-63C1-9B59-DB88-A8F008C8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CCFACFF-03D5-20DD-DAAE-67C3BE254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0182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B724B-2EC1-7BE8-607D-B8766F29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199DC3F-77FD-7DC8-007B-B750AB161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E63A146-B08B-7AE1-025C-23D0F1CAB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6EFE370-A7B0-D0E8-E34E-97F8434B87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72650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B724B-2EC1-7BE8-607D-B8766F29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199DC3F-77FD-7DC8-007B-B750AB161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E63A146-B08B-7AE1-025C-23D0F1CAB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6EFE370-A7B0-D0E8-E34E-97F8434B87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55457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B724B-2EC1-7BE8-607D-B8766F29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199DC3F-77FD-7DC8-007B-B750AB161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E63A146-B08B-7AE1-025C-23D0F1CAB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6EFE370-A7B0-D0E8-E34E-97F8434B87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96123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B724B-2EC1-7BE8-607D-B8766F29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199DC3F-77FD-7DC8-007B-B750AB161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E63A146-B08B-7AE1-025C-23D0F1CAB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6EFE370-A7B0-D0E8-E34E-97F8434B87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09183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B724B-2EC1-7BE8-607D-B8766F29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199DC3F-77FD-7DC8-007B-B750AB161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E63A146-B08B-7AE1-025C-23D0F1CAB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6EFE370-A7B0-D0E8-E34E-97F8434B87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69790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7"/>
          <p:cNvSpPr>
            <a:spLocks noChangeArrowheads="1"/>
          </p:cNvSpPr>
          <p:nvPr/>
        </p:nvSpPr>
        <p:spPr bwMode="auto">
          <a:xfrm>
            <a:off x="812800" y="1219200"/>
            <a:ext cx="10566400" cy="914400"/>
          </a:xfrm>
          <a:custGeom>
            <a:avLst/>
            <a:gdLst>
              <a:gd name="T0" fmla="*/ 0 w 1000"/>
              <a:gd name="T1" fmla="*/ 836127360 h 1000"/>
              <a:gd name="T2" fmla="*/ 0 w 1000"/>
              <a:gd name="T3" fmla="*/ 0 h 1000"/>
              <a:gd name="T4" fmla="*/ 2147483647 w 1000"/>
              <a:gd name="T5" fmla="*/ 0 h 10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25400" cap="flat" cmpd="sng">
            <a:solidFill>
              <a:schemeClr val="accent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  <p:sp>
        <p:nvSpPr>
          <p:cNvPr id="5" name="Line 8"/>
          <p:cNvSpPr>
            <a:spLocks noChangeShapeType="1"/>
          </p:cNvSpPr>
          <p:nvPr/>
        </p:nvSpPr>
        <p:spPr bwMode="auto">
          <a:xfrm>
            <a:off x="2641601" y="3962400"/>
            <a:ext cx="8682567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  <p:sp>
        <p:nvSpPr>
          <p:cNvPr id="39117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219201" y="1524000"/>
            <a:ext cx="10164233" cy="1752600"/>
          </a:xfrm>
        </p:spPr>
        <p:txBody>
          <a:bodyPr/>
          <a:lstStyle>
            <a:lvl1pPr>
              <a:defRPr sz="5000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9117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641600" y="3962400"/>
            <a:ext cx="87376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300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サブタイトルの書式設定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609600" y="6243638"/>
            <a:ext cx="2844800" cy="457200"/>
          </a:xfrm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2026/9/15</a:t>
            </a:fld>
            <a:endParaRPr lang="ja-JP" alt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4165600" y="6243638"/>
            <a:ext cx="3860800" cy="457200"/>
          </a:xfrm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737600" y="6243638"/>
            <a:ext cx="2844800" cy="457200"/>
          </a:xfrm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754193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2026/9/15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754188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2026/9/15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187342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609600" y="1268414"/>
            <a:ext cx="5384800" cy="5113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197600" y="1268414"/>
            <a:ext cx="5384800" cy="5113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2026/9/15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64112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テキス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コンテンツ プレースホルダ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2026/9/15</a:t>
            </a:fld>
            <a:endParaRPr lang="ja-JP" alt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2071995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2026/9/15</a:t>
            </a:fld>
            <a:endParaRPr lang="ja-JP" altLang="en-US" dirty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3254660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2026/9/15</a:t>
            </a:fld>
            <a:endParaRPr lang="ja-JP" altLang="en-US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987709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2026/9/15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68321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図プレースホル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ja-JP" altLang="en-US" noProof="0" dirty="0"/>
              <a:t>アイコンをクリックして図を追加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2026/9/15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837721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2026/9/15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007696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839200" y="277814"/>
            <a:ext cx="2743200" cy="610393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609600" y="277814"/>
            <a:ext cx="8026400" cy="610393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2026/9/15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873130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タイトル、テキスト、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0" y="277814"/>
            <a:ext cx="10972800" cy="847725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sz="half" idx="1"/>
          </p:nvPr>
        </p:nvSpPr>
        <p:spPr>
          <a:xfrm>
            <a:off x="609600" y="1268414"/>
            <a:ext cx="5384800" cy="5113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197600" y="1268414"/>
            <a:ext cx="5384800" cy="5113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2026/9/15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46309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77814"/>
            <a:ext cx="10972800" cy="84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タイトルの書式設定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268414"/>
            <a:ext cx="10972800" cy="5113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39014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357938"/>
            <a:ext cx="2844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kumimoji="0" sz="1200">
                <a:latin typeface="+mj-lt"/>
                <a:ea typeface="ＭＳ Ｐゴシック" pitchFamily="50" charset="-128"/>
              </a:defRPr>
            </a:lvl1pPr>
          </a:lstStyle>
          <a:p>
            <a:fld id="{5BBCB299-525B-C043-8ABF-E2AB50D107C3}" type="datetimeFigureOut">
              <a:rPr lang="ja-JP" altLang="en-US" smtClean="0"/>
              <a:pPr/>
              <a:t>2026/9/15</a:t>
            </a:fld>
            <a:endParaRPr lang="ja-JP" altLang="en-US" dirty="0"/>
          </a:p>
        </p:txBody>
      </p:sp>
      <p:sp>
        <p:nvSpPr>
          <p:cNvPr id="39014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362700"/>
            <a:ext cx="3860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kumimoji="0" sz="1200">
                <a:latin typeface="+mj-lt"/>
                <a:ea typeface="ＭＳ Ｐゴシック" pitchFamily="50" charset="-128"/>
              </a:defRPr>
            </a:lvl1pPr>
          </a:lstStyle>
          <a:p>
            <a:endParaRPr lang="ja-JP" altLang="en-US" dirty="0"/>
          </a:p>
        </p:txBody>
      </p:sp>
      <p:sp>
        <p:nvSpPr>
          <p:cNvPr id="39015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357938"/>
            <a:ext cx="2844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kumimoji="0" sz="1200">
                <a:latin typeface="+mj-lt"/>
                <a:ea typeface="ＭＳ Ｐゴシック" pitchFamily="50" charset="-128"/>
              </a:defRPr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1031" name="Freeform 7"/>
          <p:cNvSpPr>
            <a:spLocks noChangeArrowheads="1"/>
          </p:cNvSpPr>
          <p:nvPr/>
        </p:nvSpPr>
        <p:spPr bwMode="auto">
          <a:xfrm>
            <a:off x="508000" y="228600"/>
            <a:ext cx="10972800" cy="609600"/>
          </a:xfrm>
          <a:custGeom>
            <a:avLst/>
            <a:gdLst>
              <a:gd name="T0" fmla="*/ 0 w 1000"/>
              <a:gd name="T1" fmla="*/ 371612160 h 1000"/>
              <a:gd name="T2" fmla="*/ 0 w 1000"/>
              <a:gd name="T3" fmla="*/ 0 h 1000"/>
              <a:gd name="T4" fmla="*/ 2147483647 w 1000"/>
              <a:gd name="T5" fmla="*/ 0 h 10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19050" cap="flat" cmpd="sng">
            <a:solidFill>
              <a:schemeClr val="accent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  <p:sp>
        <p:nvSpPr>
          <p:cNvPr id="1032" name="Line 8"/>
          <p:cNvSpPr>
            <a:spLocks noChangeShapeType="1"/>
          </p:cNvSpPr>
          <p:nvPr/>
        </p:nvSpPr>
        <p:spPr bwMode="auto">
          <a:xfrm>
            <a:off x="609600" y="6457950"/>
            <a:ext cx="10972800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1066804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n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669925" indent="-325438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60000"/>
        <a:buFont typeface="Wingdings" pitchFamily="2" charset="2"/>
        <a:buChar char="q"/>
        <a:defRPr kumimoji="1" sz="2800">
          <a:solidFill>
            <a:schemeClr val="tx1"/>
          </a:solidFill>
          <a:latin typeface="+mn-lt"/>
          <a:ea typeface="+mn-ea"/>
        </a:defRPr>
      </a:lvl2pPr>
      <a:lvl3pPr marL="1022350" indent="-350838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n"/>
        <a:defRPr kumimoji="1" sz="2400">
          <a:solidFill>
            <a:schemeClr val="tx1"/>
          </a:solidFill>
          <a:latin typeface="+mn-lt"/>
          <a:ea typeface="+mn-ea"/>
        </a:defRPr>
      </a:lvl3pPr>
      <a:lvl4pPr marL="1339850" indent="-315913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q"/>
        <a:defRPr kumimoji="1" sz="2000">
          <a:solidFill>
            <a:schemeClr val="tx1"/>
          </a:solidFill>
          <a:latin typeface="+mn-lt"/>
          <a:ea typeface="+mn-ea"/>
        </a:defRPr>
      </a:lvl4pPr>
      <a:lvl5pPr marL="16811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4C1ADB73-28C1-6E47-5D23-27F5F32058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7978" y="1683757"/>
            <a:ext cx="10916043" cy="2043211"/>
          </a:xfrm>
        </p:spPr>
        <p:txBody>
          <a:bodyPr anchor="ctr">
            <a:noAutofit/>
          </a:bodyPr>
          <a:lstStyle/>
          <a:p>
            <a:r>
              <a:rPr lang="ja-JP" altLang="en-US" sz="4000" dirty="0">
                <a:latin typeface="+mj-ea"/>
              </a:rPr>
              <a:t>「</a:t>
            </a:r>
            <a:r>
              <a:rPr lang="en-US" altLang="ja-JP" sz="4000" dirty="0">
                <a:latin typeface="+mj-ea"/>
              </a:rPr>
              <a:t>Python</a:t>
            </a:r>
            <a:r>
              <a:rPr lang="ja-JP" altLang="en-US" sz="4000" dirty="0">
                <a:latin typeface="+mj-ea"/>
              </a:rPr>
              <a:t>が動く</a:t>
            </a:r>
            <a:r>
              <a:rPr lang="en-US" altLang="ja-JP" sz="4000" dirty="0" err="1">
                <a:latin typeface="+mj-ea"/>
              </a:rPr>
              <a:t>Gogle</a:t>
            </a:r>
            <a:r>
              <a:rPr lang="en-US" altLang="ja-JP" sz="4000" dirty="0">
                <a:latin typeface="+mj-ea"/>
              </a:rPr>
              <a:t> </a:t>
            </a:r>
            <a:r>
              <a:rPr lang="en-US" altLang="ja-JP" sz="4000" dirty="0" err="1">
                <a:latin typeface="+mj-ea"/>
              </a:rPr>
              <a:t>Colab</a:t>
            </a:r>
            <a:r>
              <a:rPr lang="ja-JP" altLang="en-US" sz="4000" dirty="0">
                <a:latin typeface="+mj-ea"/>
              </a:rPr>
              <a:t>で</a:t>
            </a:r>
            <a:r>
              <a:rPr lang="en-US" altLang="ja-JP" sz="4000" dirty="0">
                <a:latin typeface="+mj-ea"/>
              </a:rPr>
              <a:t>AI</a:t>
            </a:r>
            <a:r>
              <a:rPr lang="ja-JP" altLang="en-US" sz="4000" dirty="0">
                <a:latin typeface="+mj-ea"/>
              </a:rPr>
              <a:t>自習ドリル」</a:t>
            </a:r>
            <a:br>
              <a:rPr lang="en-US" altLang="ja-JP" sz="4000" dirty="0">
                <a:latin typeface="+mj-ea"/>
              </a:rPr>
            </a:br>
            <a:r>
              <a:rPr lang="ja-JP" altLang="en-US" sz="4000" dirty="0">
                <a:latin typeface="+mj-ea"/>
              </a:rPr>
              <a:t>第１部３章演習</a:t>
            </a:r>
          </a:p>
        </p:txBody>
      </p:sp>
      <p:sp>
        <p:nvSpPr>
          <p:cNvPr id="7" name="字幕 6">
            <a:extLst>
              <a:ext uri="{FF2B5EF4-FFF2-40B4-BE49-F238E27FC236}">
                <a16:creationId xmlns:a16="http://schemas.microsoft.com/office/drawing/2014/main" id="{1FB1DF19-9957-EF38-B101-A60D1BC60F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85108" y="3892062"/>
            <a:ext cx="8737600" cy="1752600"/>
          </a:xfrm>
        </p:spPr>
        <p:txBody>
          <a:bodyPr/>
          <a:lstStyle/>
          <a:p>
            <a:endParaRPr lang="en-US" altLang="ja-JP" dirty="0"/>
          </a:p>
          <a:p>
            <a:endParaRPr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dirty="0">
                <a:latin typeface="+mj-ea"/>
                <a:ea typeface="+mj-ea"/>
              </a:rPr>
              <a:t>24510171 </a:t>
            </a:r>
            <a:r>
              <a:rPr lang="ja-JP" altLang="en-US" dirty="0">
                <a:latin typeface="+mj-ea"/>
                <a:ea typeface="+mj-ea"/>
              </a:rPr>
              <a:t>永井芽衣</a:t>
            </a:r>
          </a:p>
        </p:txBody>
      </p:sp>
    </p:spTree>
    <p:extLst>
      <p:ext uri="{BB962C8B-B14F-4D97-AF65-F5344CB8AC3E}">
        <p14:creationId xmlns:p14="http://schemas.microsoft.com/office/powerpoint/2010/main" val="31508734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00D9D6-997E-C24A-B95B-87D9AB47B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84" name="字幕 2">
            <a:extLst>
              <a:ext uri="{FF2B5EF4-FFF2-40B4-BE49-F238E27FC236}">
                <a16:creationId xmlns:a16="http://schemas.microsoft.com/office/drawing/2014/main" id="{006B75A2-CA46-5FE5-299D-BC113BF87D99}"/>
              </a:ext>
            </a:extLst>
          </p:cNvPr>
          <p:cNvSpPr txBox="1">
            <a:spLocks/>
          </p:cNvSpPr>
          <p:nvPr/>
        </p:nvSpPr>
        <p:spPr>
          <a:xfrm>
            <a:off x="884439" y="1097282"/>
            <a:ext cx="9391483" cy="54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ja-JP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　</a:t>
            </a:r>
            <a:endParaRPr kumimoji="1" lang="en-US" altLang="ja-JP" sz="2000" b="0" i="0" u="none" strike="noStrike" kern="1200" cap="none" spc="0" normalizeH="0" baseline="0" noProof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1" lang="ja-JP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983A2FE9-2C8C-266F-4107-E97A3399D805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015673B-D34F-6A06-286B-6B361B2EEE9B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kern="0" dirty="0"/>
              <a:t>フローチャート</a:t>
            </a:r>
            <a:endParaRPr lang="en-US" altLang="ja-JP" kern="0" dirty="0"/>
          </a:p>
          <a:p>
            <a:pPr marL="0" indent="0">
              <a:buNone/>
            </a:pPr>
            <a:endParaRPr lang="en-US" altLang="ja-JP" kern="0" dirty="0"/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A3CE7E79-24CD-0047-16C3-9641CB93D965}"/>
              </a:ext>
            </a:extLst>
          </p:cNvPr>
          <p:cNvGrpSpPr/>
          <p:nvPr/>
        </p:nvGrpSpPr>
        <p:grpSpPr>
          <a:xfrm>
            <a:off x="1010589" y="2076993"/>
            <a:ext cx="3326280" cy="1541417"/>
            <a:chOff x="1698170" y="2078182"/>
            <a:chExt cx="2992582" cy="1350818"/>
          </a:xfrm>
        </p:grpSpPr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9B425BD9-099D-A6AD-15F2-F3623A12326F}"/>
                </a:ext>
              </a:extLst>
            </p:cNvPr>
            <p:cNvSpPr/>
            <p:nvPr/>
          </p:nvSpPr>
          <p:spPr bwMode="auto">
            <a:xfrm>
              <a:off x="1698170" y="2078182"/>
              <a:ext cx="2992582" cy="135081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ja-JP" sz="1800" b="0" i="0" u="none" strike="noStrike" cap="none" normalizeH="0" baseline="0" dirty="0">
                  <a:ln>
                    <a:noFill/>
                  </a:ln>
                  <a:solidFill>
                    <a:schemeClr val="accent5">
                      <a:lumMod val="50000"/>
                    </a:schemeClr>
                  </a:solidFill>
                  <a:effectLst/>
                  <a:latin typeface="Arial" charset="0"/>
                  <a:ea typeface="ＭＳ Ｐゴシック" pitchFamily="50" charset="-128"/>
                </a:rPr>
                <a:t>elephant_data.txt</a:t>
              </a:r>
            </a:p>
            <a:p>
              <a:pPr marL="0" marR="0" indent="0" algn="ctr" defTabSz="914400" rtl="0" eaLnBrk="1" fontAlgn="base" latinLnBrk="0" hangingPunct="1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ja-JP" altLang="en-US" sz="1500" b="0" i="0" u="none" strike="noStrike" cap="none" normalizeH="0" baseline="0" dirty="0">
                  <a:ln>
                    <a:noFill/>
                  </a:ln>
                  <a:solidFill>
                    <a:schemeClr val="accent5">
                      <a:lumMod val="50000"/>
                    </a:schemeClr>
                  </a:solidFill>
                  <a:effectLst/>
                  <a:latin typeface="Arial" charset="0"/>
                  <a:ea typeface="ＭＳ Ｐゴシック" pitchFamily="50" charset="-128"/>
                </a:rPr>
                <a:t>　　　体長　　　　体重　　　ラベル</a:t>
              </a:r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84DE7B81-C143-6356-16D3-58820B541BC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84591" y="2740733"/>
              <a:ext cx="2619741" cy="590632"/>
            </a:xfrm>
            <a:prstGeom prst="rect">
              <a:avLst/>
            </a:prstGeom>
            <a:ln>
              <a:solidFill>
                <a:schemeClr val="accent5">
                  <a:lumMod val="75000"/>
                </a:schemeClr>
              </a:solidFill>
            </a:ln>
          </p:spPr>
        </p:pic>
      </p:grp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71868179-6603-F2EB-6331-DE0FFED2F196}"/>
              </a:ext>
            </a:extLst>
          </p:cNvPr>
          <p:cNvGrpSpPr/>
          <p:nvPr/>
        </p:nvGrpSpPr>
        <p:grpSpPr>
          <a:xfrm>
            <a:off x="5904123" y="3269780"/>
            <a:ext cx="7341325" cy="2981369"/>
            <a:chOff x="5355772" y="1795477"/>
            <a:chExt cx="8451668" cy="3641709"/>
          </a:xfrm>
        </p:grpSpPr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91887678-DA67-D5F3-BD39-6FD4E755C187}"/>
                </a:ext>
              </a:extLst>
            </p:cNvPr>
            <p:cNvSpPr/>
            <p:nvPr/>
          </p:nvSpPr>
          <p:spPr bwMode="auto">
            <a:xfrm>
              <a:off x="5355772" y="1814305"/>
              <a:ext cx="3696788" cy="3622881"/>
            </a:xfrm>
            <a:prstGeom prst="rect">
              <a:avLst/>
            </a:prstGeom>
            <a:solidFill>
              <a:schemeClr val="accent3">
                <a:lumMod val="85000"/>
              </a:schemeClr>
            </a:solidFill>
            <a:ln w="9525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defTabSz="914400" rtl="0" eaLnBrk="1" fontAlgn="base" latinLnBrk="0" hangingPunct="1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ja-JP" sz="15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Arial" charset="0"/>
                  <a:ea typeface="ＭＳ Ｐゴシック" pitchFamily="50" charset="-128"/>
                </a:rPr>
                <a:t>img1</a:t>
              </a:r>
            </a:p>
          </p:txBody>
        </p:sp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9E4980D4-0998-271B-8AD9-95AC249DAA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70589" y="2273109"/>
              <a:ext cx="3187689" cy="3033375"/>
            </a:xfrm>
            <a:prstGeom prst="rect">
              <a:avLst/>
            </a:prstGeom>
            <a:ln>
              <a:solidFill>
                <a:schemeClr val="accent3">
                  <a:lumMod val="65000"/>
                </a:schemeClr>
              </a:solidFill>
            </a:ln>
          </p:spPr>
        </p:pic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19D13F63-8DB8-1E61-366B-8FC61FAE9914}"/>
                </a:ext>
              </a:extLst>
            </p:cNvPr>
            <p:cNvSpPr/>
            <p:nvPr/>
          </p:nvSpPr>
          <p:spPr bwMode="auto">
            <a:xfrm>
              <a:off x="7733212" y="1804891"/>
              <a:ext cx="3696788" cy="3622881"/>
            </a:xfrm>
            <a:prstGeom prst="rect">
              <a:avLst/>
            </a:prstGeom>
            <a:solidFill>
              <a:schemeClr val="accent3">
                <a:lumMod val="85000"/>
              </a:schemeClr>
            </a:solidFill>
            <a:ln w="9525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defTabSz="914400" rtl="0" eaLnBrk="1" fontAlgn="base" latinLnBrk="0" hangingPunct="1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ja-JP" sz="15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Arial" charset="0"/>
                  <a:ea typeface="ＭＳ Ｐゴシック" pitchFamily="50" charset="-128"/>
                </a:rPr>
                <a:t>img2</a:t>
              </a:r>
            </a:p>
          </p:txBody>
        </p:sp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36BFBBEC-769B-A2E1-3357-F8CFD982E7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011130" y="2249250"/>
              <a:ext cx="3283696" cy="3057233"/>
            </a:xfrm>
            <a:prstGeom prst="rect">
              <a:avLst/>
            </a:prstGeom>
            <a:ln>
              <a:solidFill>
                <a:schemeClr val="accent3">
                  <a:lumMod val="65000"/>
                </a:schemeClr>
              </a:solidFill>
            </a:ln>
          </p:spPr>
        </p:pic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C106C8AE-E14E-1D44-89EF-FE57DF76F9DE}"/>
                </a:ext>
              </a:extLst>
            </p:cNvPr>
            <p:cNvSpPr/>
            <p:nvPr/>
          </p:nvSpPr>
          <p:spPr bwMode="auto">
            <a:xfrm>
              <a:off x="10110652" y="1795477"/>
              <a:ext cx="3696788" cy="3622881"/>
            </a:xfrm>
            <a:prstGeom prst="rect">
              <a:avLst/>
            </a:prstGeom>
            <a:solidFill>
              <a:schemeClr val="accent3">
                <a:lumMod val="85000"/>
              </a:schemeClr>
            </a:solidFill>
            <a:ln w="9525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defTabSz="914400" rtl="0" eaLnBrk="1" fontAlgn="base" latinLnBrk="0" hangingPunct="1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ja-JP" sz="15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Arial" charset="0"/>
                  <a:ea typeface="ＭＳ Ｐゴシック" pitchFamily="50" charset="-128"/>
                </a:rPr>
                <a:t>img3</a:t>
              </a:r>
            </a:p>
          </p:txBody>
        </p:sp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D5E9948B-9A1A-103B-38F4-07E8EFF446D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398361" y="2249250"/>
              <a:ext cx="3282605" cy="3057233"/>
            </a:xfrm>
            <a:prstGeom prst="rect">
              <a:avLst/>
            </a:prstGeom>
            <a:ln>
              <a:solidFill>
                <a:schemeClr val="accent3">
                  <a:lumMod val="65000"/>
                </a:schemeClr>
              </a:solidFill>
            </a:ln>
          </p:spPr>
        </p:pic>
      </p:grp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1E34434F-71D2-FD01-436D-62B08922C4EF}"/>
              </a:ext>
            </a:extLst>
          </p:cNvPr>
          <p:cNvSpPr/>
          <p:nvPr/>
        </p:nvSpPr>
        <p:spPr bwMode="auto">
          <a:xfrm>
            <a:off x="5445443" y="2140190"/>
            <a:ext cx="627397" cy="35600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Img1</a:t>
            </a:r>
            <a:endParaRPr kumimoji="1" lang="en-US" altLang="ja-JP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E8A83597-2CB4-DD42-0776-28237CECC389}"/>
              </a:ext>
            </a:extLst>
          </p:cNvPr>
          <p:cNvSpPr/>
          <p:nvPr/>
        </p:nvSpPr>
        <p:spPr bwMode="auto">
          <a:xfrm>
            <a:off x="710493" y="4461636"/>
            <a:ext cx="1890821" cy="3182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学習用データ</a:t>
            </a: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72CCBA0A-719F-4F57-776B-215D00398468}"/>
              </a:ext>
            </a:extLst>
          </p:cNvPr>
          <p:cNvSpPr/>
          <p:nvPr/>
        </p:nvSpPr>
        <p:spPr bwMode="auto">
          <a:xfrm>
            <a:off x="8831040" y="1207639"/>
            <a:ext cx="1897093" cy="615782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1" i="0" u="none" strike="noStrike" cap="none" normalizeH="0" baseline="0" dirty="0" err="1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min_max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正規化する関数</a:t>
            </a: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33D93869-B1DD-EB55-CDE1-43396D4636D4}"/>
              </a:ext>
            </a:extLst>
          </p:cNvPr>
          <p:cNvSpPr/>
          <p:nvPr/>
        </p:nvSpPr>
        <p:spPr bwMode="auto">
          <a:xfrm>
            <a:off x="710492" y="5651266"/>
            <a:ext cx="1890821" cy="3182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img2</a:t>
            </a:r>
            <a:endParaRPr kumimoji="1" lang="ja-JP" altLang="en-US" sz="150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9" name="矢印: 右 28">
            <a:extLst>
              <a:ext uri="{FF2B5EF4-FFF2-40B4-BE49-F238E27FC236}">
                <a16:creationId xmlns:a16="http://schemas.microsoft.com/office/drawing/2014/main" id="{73B4CBC5-5F4B-039B-740F-2DAEA64E555A}"/>
              </a:ext>
            </a:extLst>
          </p:cNvPr>
          <p:cNvSpPr/>
          <p:nvPr/>
        </p:nvSpPr>
        <p:spPr bwMode="auto">
          <a:xfrm rot="5400000">
            <a:off x="1376641" y="5114519"/>
            <a:ext cx="625030" cy="260635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0" name="矢印: 右 29">
            <a:extLst>
              <a:ext uri="{FF2B5EF4-FFF2-40B4-BE49-F238E27FC236}">
                <a16:creationId xmlns:a16="http://schemas.microsoft.com/office/drawing/2014/main" id="{67AB9755-58C4-8E5A-9092-B890451EB6A3}"/>
              </a:ext>
            </a:extLst>
          </p:cNvPr>
          <p:cNvSpPr/>
          <p:nvPr/>
        </p:nvSpPr>
        <p:spPr bwMode="auto">
          <a:xfrm rot="5400000">
            <a:off x="3356647" y="5111050"/>
            <a:ext cx="625030" cy="260635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7E8C49E8-1EAB-A7A6-E712-433EE4C90730}"/>
              </a:ext>
            </a:extLst>
          </p:cNvPr>
          <p:cNvSpPr/>
          <p:nvPr/>
        </p:nvSpPr>
        <p:spPr bwMode="auto">
          <a:xfrm>
            <a:off x="2723751" y="4458167"/>
            <a:ext cx="1890821" cy="3182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テスト用データ</a:t>
            </a: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5B95A581-C2ED-2F5E-A491-64A96263B897}"/>
              </a:ext>
            </a:extLst>
          </p:cNvPr>
          <p:cNvSpPr/>
          <p:nvPr/>
        </p:nvSpPr>
        <p:spPr bwMode="auto">
          <a:xfrm>
            <a:off x="2775594" y="5646855"/>
            <a:ext cx="1890821" cy="3182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img3</a:t>
            </a:r>
          </a:p>
        </p:txBody>
      </p:sp>
      <p:sp>
        <p:nvSpPr>
          <p:cNvPr id="33" name="矢印: 右 32">
            <a:extLst>
              <a:ext uri="{FF2B5EF4-FFF2-40B4-BE49-F238E27FC236}">
                <a16:creationId xmlns:a16="http://schemas.microsoft.com/office/drawing/2014/main" id="{C6B03786-31EE-CAC8-6F37-324A1E5CBC76}"/>
              </a:ext>
            </a:extLst>
          </p:cNvPr>
          <p:cNvSpPr/>
          <p:nvPr/>
        </p:nvSpPr>
        <p:spPr bwMode="auto">
          <a:xfrm rot="8003037">
            <a:off x="1691601" y="3905531"/>
            <a:ext cx="625030" cy="260635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4" name="矢印: 右 33">
            <a:extLst>
              <a:ext uri="{FF2B5EF4-FFF2-40B4-BE49-F238E27FC236}">
                <a16:creationId xmlns:a16="http://schemas.microsoft.com/office/drawing/2014/main" id="{D6EC0A90-6294-985F-2D84-5BFA20153C8F}"/>
              </a:ext>
            </a:extLst>
          </p:cNvPr>
          <p:cNvSpPr/>
          <p:nvPr/>
        </p:nvSpPr>
        <p:spPr bwMode="auto">
          <a:xfrm rot="3231022">
            <a:off x="3081767" y="3916280"/>
            <a:ext cx="625030" cy="260635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2DFCDD0A-6828-01C2-6512-52B364DB9CDD}"/>
              </a:ext>
            </a:extLst>
          </p:cNvPr>
          <p:cNvSpPr txBox="1"/>
          <p:nvPr/>
        </p:nvSpPr>
        <p:spPr>
          <a:xfrm>
            <a:off x="3822591" y="5043412"/>
            <a:ext cx="1177109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500" b="1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min_max</a:t>
            </a:r>
            <a:endParaRPr lang="ja-JP" altLang="en-US" dirty="0"/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369DD145-8BEA-5E27-16C9-B480E1CB4637}"/>
              </a:ext>
            </a:extLst>
          </p:cNvPr>
          <p:cNvSpPr txBox="1"/>
          <p:nvPr/>
        </p:nvSpPr>
        <p:spPr>
          <a:xfrm>
            <a:off x="1789610" y="5030662"/>
            <a:ext cx="1177109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500" b="1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min_max</a:t>
            </a:r>
            <a:endParaRPr lang="ja-JP" altLang="en-US" dirty="0"/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FB93413C-6DD3-6B85-665F-41329AEBA07B}"/>
              </a:ext>
            </a:extLst>
          </p:cNvPr>
          <p:cNvSpPr/>
          <p:nvPr/>
        </p:nvSpPr>
        <p:spPr bwMode="auto">
          <a:xfrm>
            <a:off x="4495466" y="2187875"/>
            <a:ext cx="625030" cy="260635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9911DBB1-0245-89DD-49BB-FF5872D4AAA4}"/>
              </a:ext>
            </a:extLst>
          </p:cNvPr>
          <p:cNvSpPr txBox="1"/>
          <p:nvPr/>
        </p:nvSpPr>
        <p:spPr>
          <a:xfrm>
            <a:off x="4388376" y="2461717"/>
            <a:ext cx="1177109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500" b="1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min_max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62395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0C5C8-66EF-C504-28F9-CFF7DC7E6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BF5F3C8-F1A2-AB3A-2CDD-142425509CCF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関数　</a:t>
            </a:r>
            <a:r>
              <a:rPr lang="en-US" altLang="ja-JP" b="1" kern="0" dirty="0" err="1"/>
              <a:t>min_max</a:t>
            </a:r>
            <a:r>
              <a:rPr lang="ja-JP" altLang="en-US" b="1" kern="0" dirty="0"/>
              <a:t>　</a:t>
            </a:r>
            <a:r>
              <a:rPr lang="ja-JP" altLang="en-US" sz="2400" kern="0" dirty="0"/>
              <a:t>データを０～１に正規化する</a:t>
            </a:r>
            <a:endParaRPr lang="en-US" altLang="ja-JP" sz="2400" kern="0" dirty="0"/>
          </a:p>
          <a:p>
            <a:endParaRPr lang="en-US" altLang="ja-JP" sz="2400" kern="0" dirty="0"/>
          </a:p>
          <a:p>
            <a:endParaRPr lang="en-US" altLang="ja-JP" sz="2400" kern="0" dirty="0"/>
          </a:p>
          <a:p>
            <a:endParaRPr lang="en-US" altLang="ja-JP" sz="2400" kern="0" dirty="0"/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7D149D47-84B7-7C6D-58E8-6EF015063F12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3925147" cy="4025289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データを行に転置</a:t>
            </a:r>
            <a:endParaRPr lang="en-US" altLang="ja-JP" sz="2400" kern="0" dirty="0"/>
          </a:p>
          <a:p>
            <a:pPr marL="0" indent="0">
              <a:spcBef>
                <a:spcPts val="0"/>
              </a:spcBef>
              <a:buNone/>
            </a:pPr>
            <a:r>
              <a:rPr lang="ja-JP" altLang="en-US" kern="0" dirty="0"/>
              <a:t>　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データを行に転置してから処理</a:t>
            </a:r>
            <a:endParaRPr lang="en-US" altLang="ja-JP" sz="1800" kern="0" dirty="0"/>
          </a:p>
          <a:p>
            <a:r>
              <a:rPr lang="ja-JP" altLang="en-US" sz="2400" kern="0" dirty="0"/>
              <a:t>データを整理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x1: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正規化するデータ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x2: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正規化の基準にするデータ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　　　　→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min,max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を抽出</a:t>
            </a:r>
            <a:endParaRPr lang="en-US" altLang="ja-JP" sz="2400" kern="0" dirty="0"/>
          </a:p>
          <a:p>
            <a:r>
              <a:rPr lang="ja-JP" altLang="en-US" sz="2400" kern="0" dirty="0"/>
              <a:t>データを正規化</a:t>
            </a:r>
            <a:endParaRPr lang="en-US" altLang="ja-JP" sz="2400" kern="0" dirty="0"/>
          </a:p>
          <a:p>
            <a:endParaRPr lang="en-US" altLang="ja-JP" sz="2400" kern="0" dirty="0">
              <a:solidFill>
                <a:schemeClr val="accent3">
                  <a:lumMod val="50000"/>
                </a:schemeClr>
              </a:solidFill>
            </a:endParaRPr>
          </a:p>
          <a:p>
            <a:endParaRPr lang="en-US" altLang="ja-JP" sz="2400" kern="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列に戻して返す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en-US" altLang="ja-JP" sz="18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C4950D1F-C947-0581-348F-99C73CF965C4}"/>
                  </a:ext>
                </a:extLst>
              </p:cNvPr>
              <p:cNvSpPr/>
              <p:nvPr/>
            </p:nvSpPr>
            <p:spPr bwMode="auto">
              <a:xfrm>
                <a:off x="1194248" y="4859318"/>
                <a:ext cx="2729345" cy="79537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indent="0">
                  <a:buNone/>
                </a:pPr>
                <a:r>
                  <a:rPr lang="ja-JP" altLang="en-US" sz="1800" kern="0" dirty="0">
                    <a:solidFill>
                      <a:schemeClr val="accent6"/>
                    </a:solidFill>
                    <a:latin typeface="+mn-ea"/>
                  </a:rPr>
                  <a:t>正規化の式</a:t>
                </a:r>
                <a:endParaRPr lang="en-US" altLang="ja-JP" sz="1800" kern="0" dirty="0">
                  <a:solidFill>
                    <a:schemeClr val="accent6"/>
                  </a:solidFill>
                  <a:latin typeface="+mn-ea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1800" b="0" i="1" kern="0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1800" b="0" i="1" kern="0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ja-JP" sz="1800" b="0" i="1" kern="0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𝑛𝑜𝑟𝑚𝑎𝑙𝑖𝑧𝑒𝑑</m:t>
                        </m:r>
                      </m:sub>
                    </m:sSub>
                  </m:oMath>
                </a14:m>
                <a:r>
                  <a:rPr lang="en-US" altLang="ja-JP" sz="1800" kern="0" dirty="0">
                    <a:solidFill>
                      <a:schemeClr val="accent6"/>
                    </a:solidFill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1800" b="0" i="1" kern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1800" b="0" i="1" kern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ja-JP" sz="1800" b="0" i="1" kern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𝑚𝑖𝑛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  <m:r>
                          <a:rPr lang="en-US" altLang="ja-JP" sz="1800" b="0" i="1" kern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𝑚𝑖𝑛</m:t>
                            </m:r>
                          </m:sub>
                        </m:sSub>
                      </m:den>
                    </m:f>
                  </m:oMath>
                </a14:m>
                <a:endParaRPr kumimoji="1" lang="ja-JP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ＭＳ Ｐゴシック" pitchFamily="50" charset="-128"/>
                </a:endParaRPr>
              </a:p>
            </p:txBody>
          </p:sp>
        </mc:Choice>
        <mc:Fallback xmlns=""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C4950D1F-C947-0581-348F-99C73CF965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194248" y="4859318"/>
                <a:ext cx="2729345" cy="795376"/>
              </a:xfrm>
              <a:prstGeom prst="rect">
                <a:avLst/>
              </a:prstGeom>
              <a:blipFill>
                <a:blip r:embed="rId3"/>
                <a:stretch>
                  <a:fillRect l="-2009" t="-3817"/>
                </a:stretch>
              </a:blipFill>
              <a:ln w="9525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タイトル 1">
            <a:extLst>
              <a:ext uri="{FF2B5EF4-FFF2-40B4-BE49-F238E27FC236}">
                <a16:creationId xmlns:a16="http://schemas.microsoft.com/office/drawing/2014/main" id="{B7E25182-44BC-21EB-1E37-4D991822C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17876821-62C5-9D1D-F80C-AC7A0D4E73DF}"/>
              </a:ext>
            </a:extLst>
          </p:cNvPr>
          <p:cNvGrpSpPr/>
          <p:nvPr/>
        </p:nvGrpSpPr>
        <p:grpSpPr>
          <a:xfrm>
            <a:off x="5574500" y="1869731"/>
            <a:ext cx="2425684" cy="1559269"/>
            <a:chOff x="4536198" y="1859476"/>
            <a:chExt cx="3279721" cy="2012630"/>
          </a:xfrm>
        </p:grpSpPr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C6DA61C1-5813-A096-4B5D-D478441DCE36}"/>
                </a:ext>
              </a:extLst>
            </p:cNvPr>
            <p:cNvSpPr/>
            <p:nvPr/>
          </p:nvSpPr>
          <p:spPr bwMode="auto">
            <a:xfrm>
              <a:off x="4536198" y="1859476"/>
              <a:ext cx="3279721" cy="201263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defTabSz="914400" rtl="0" eaLnBrk="1" fontAlgn="base" latinLnBrk="0" hangingPunct="1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ja-JP" sz="1500" b="0" i="0" u="none" strike="noStrike" cap="none" normalizeH="0" baseline="0" dirty="0">
                  <a:ln>
                    <a:noFill/>
                  </a:ln>
                  <a:solidFill>
                    <a:schemeClr val="accent5">
                      <a:lumMod val="50000"/>
                    </a:schemeClr>
                  </a:solidFill>
                  <a:effectLst/>
                  <a:latin typeface="Arial" charset="0"/>
                  <a:ea typeface="ＭＳ Ｐゴシック" pitchFamily="50" charset="-128"/>
                </a:rPr>
                <a:t>Python</a:t>
              </a:r>
              <a:endPara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endParaRPr>
            </a:p>
          </p:txBody>
        </p:sp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FB51CA1F-782D-79D4-2F60-1A22063D9C3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88730" y="2212970"/>
              <a:ext cx="3000794" cy="1409897"/>
            </a:xfrm>
            <a:prstGeom prst="rect">
              <a:avLst/>
            </a:prstGeom>
            <a:ln>
              <a:solidFill>
                <a:schemeClr val="accent5">
                  <a:lumMod val="75000"/>
                </a:schemeClr>
              </a:solidFill>
            </a:ln>
          </p:spPr>
        </p:pic>
      </p:grp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5641B1B2-9B66-5E36-647B-7A0CEA9027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9664668"/>
              </p:ext>
            </p:extLst>
          </p:nvPr>
        </p:nvGraphicFramePr>
        <p:xfrm>
          <a:off x="5038170" y="3702867"/>
          <a:ext cx="6602401" cy="255648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441121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2695787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2465493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20922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転置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x.T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t(x)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行方向・列方向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axis </a:t>
                      </a:r>
                      <a:r>
                        <a:rPr kumimoji="1" lang="ja-JP" altLang="en-US" sz="1500" dirty="0"/>
                        <a:t>列：０　行：１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m </a:t>
                      </a:r>
                      <a:r>
                        <a:rPr kumimoji="1" lang="ja-JP" altLang="en-US" sz="1500" dirty="0"/>
                        <a:t>行：１　列：２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7436988"/>
                  </a:ext>
                </a:extLst>
              </a:tr>
              <a:tr h="681960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最小値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x.min</a:t>
                      </a:r>
                      <a:r>
                        <a:rPr kumimoji="1" lang="en-US" altLang="ja-JP" sz="1500" dirty="0"/>
                        <a:t>(</a:t>
                      </a:r>
                      <a:r>
                        <a:rPr kumimoji="1" lang="en-US" altLang="ja-JP" sz="1500" dirty="0" err="1"/>
                        <a:t>axis,keepdims</a:t>
                      </a:r>
                      <a:r>
                        <a:rPr kumimoji="1" lang="en-US" altLang="ja-JP" sz="1500" dirty="0"/>
                        <a:t>)</a:t>
                      </a:r>
                    </a:p>
                    <a:p>
                      <a:r>
                        <a:rPr kumimoji="1" lang="ja-JP" altLang="en-US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　</a:t>
                      </a:r>
                      <a:r>
                        <a:rPr kumimoji="1" lang="en-US" altLang="ja-JP" sz="1500" dirty="0" err="1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keepdims</a:t>
                      </a:r>
                      <a:r>
                        <a:rPr kumimoji="1" lang="en-US" altLang="ja-JP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:</a:t>
                      </a:r>
                      <a:r>
                        <a:rPr kumimoji="1" lang="ja-JP" altLang="en-US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配列の次元を維持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apply(</a:t>
                      </a:r>
                      <a:r>
                        <a:rPr kumimoji="1" lang="en-US" altLang="ja-JP" sz="1500" dirty="0" err="1"/>
                        <a:t>x,m,fun</a:t>
                      </a:r>
                      <a:r>
                        <a:rPr kumimoji="1" lang="en-US" altLang="ja-JP" sz="1500" dirty="0"/>
                        <a:t>)</a:t>
                      </a:r>
                    </a:p>
                    <a:p>
                      <a:r>
                        <a:rPr kumimoji="1" lang="ja-JP" altLang="en-US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　</a:t>
                      </a:r>
                      <a:r>
                        <a:rPr kumimoji="1" lang="en-US" altLang="ja-JP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fun</a:t>
                      </a:r>
                      <a:r>
                        <a:rPr kumimoji="1" lang="ja-JP" altLang="en-US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 に </a:t>
                      </a:r>
                      <a:r>
                        <a:rPr kumimoji="1" lang="en-US" altLang="ja-JP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min</a:t>
                      </a:r>
                      <a:r>
                        <a:rPr kumimoji="1" lang="ja-JP" altLang="en-US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 を代入</a:t>
                      </a:r>
                      <a:endParaRPr kumimoji="1" lang="en-US" altLang="ja-JP" sz="1500" dirty="0">
                        <a:solidFill>
                          <a:schemeClr val="accent3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402592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返り値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return x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return(x)</a:t>
                      </a:r>
                      <a:endParaRPr kumimoji="1" lang="ja-JP" altLang="en-US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8601380"/>
                  </a:ext>
                </a:extLst>
              </a:tr>
              <a:tr h="481383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計算関数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sweep(x1,m,x2,fun)</a:t>
                      </a:r>
                    </a:p>
                    <a:p>
                      <a:r>
                        <a:rPr kumimoji="1" lang="ja-JP" altLang="en-US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　</a:t>
                      </a:r>
                      <a:r>
                        <a:rPr kumimoji="1" lang="en-US" altLang="ja-JP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fun</a:t>
                      </a:r>
                      <a:r>
                        <a:rPr kumimoji="1" lang="ja-JP" altLang="en-US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に計算時の記号を代入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4949504"/>
                  </a:ext>
                </a:extLst>
              </a:tr>
            </a:tbl>
          </a:graphicData>
        </a:graphic>
      </p:graphicFrame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E03634F7-6C9C-8DD4-0B08-9E417AB9BEAC}"/>
              </a:ext>
            </a:extLst>
          </p:cNvPr>
          <p:cNvGrpSpPr/>
          <p:nvPr/>
        </p:nvGrpSpPr>
        <p:grpSpPr>
          <a:xfrm>
            <a:off x="8542982" y="1869730"/>
            <a:ext cx="3174587" cy="1559270"/>
            <a:chOff x="8059645" y="1859476"/>
            <a:chExt cx="4284756" cy="2012630"/>
          </a:xfrm>
        </p:grpSpPr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A601A5B2-72E3-4B71-B8E6-DF7C7A654EE8}"/>
                </a:ext>
              </a:extLst>
            </p:cNvPr>
            <p:cNvSpPr/>
            <p:nvPr/>
          </p:nvSpPr>
          <p:spPr bwMode="auto">
            <a:xfrm>
              <a:off x="8059645" y="1859476"/>
              <a:ext cx="4284756" cy="2012630"/>
            </a:xfrm>
            <a:prstGeom prst="rect">
              <a:avLst/>
            </a:prstGeom>
            <a:solidFill>
              <a:schemeClr val="accent3">
                <a:lumMod val="85000"/>
              </a:schemeClr>
            </a:solidFill>
            <a:ln w="9525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defTabSz="914400" rtl="0" eaLnBrk="1" fontAlgn="base" latinLnBrk="0" hangingPunct="1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ja-JP" sz="15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Arial" charset="0"/>
                  <a:ea typeface="ＭＳ Ｐゴシック" pitchFamily="50" charset="-128"/>
                </a:rPr>
                <a:t>R</a:t>
              </a:r>
            </a:p>
          </p:txBody>
        </p:sp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23EE6DF0-2C42-56A7-B96F-F422EEE5971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1595"/>
            <a:stretch>
              <a:fillRect/>
            </a:stretch>
          </p:blipFill>
          <p:spPr>
            <a:xfrm>
              <a:off x="8163567" y="2212972"/>
              <a:ext cx="4076910" cy="1581008"/>
            </a:xfrm>
            <a:prstGeom prst="rect">
              <a:avLst/>
            </a:prstGeom>
            <a:ln>
              <a:solidFill>
                <a:schemeClr val="accent3">
                  <a:lumMod val="65000"/>
                </a:schemeClr>
              </a:solidFill>
            </a:ln>
          </p:spPr>
        </p:pic>
      </p:grpSp>
    </p:spTree>
    <p:extLst>
      <p:ext uri="{BB962C8B-B14F-4D97-AF65-F5344CB8AC3E}">
        <p14:creationId xmlns:p14="http://schemas.microsoft.com/office/powerpoint/2010/main" val="16059612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C9BF8-B3A2-ED76-2093-B6B7148B2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49AD4C2-D006-91ED-0493-BD850A544FD1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ja-JP" b="1" kern="0" dirty="0"/>
              <a:t>data</a:t>
            </a:r>
            <a:r>
              <a:rPr lang="ja-JP" altLang="en-US" b="1" kern="0" dirty="0"/>
              <a:t>の取得</a:t>
            </a:r>
            <a:endParaRPr lang="en-US" altLang="ja-JP" sz="2400" kern="0" dirty="0"/>
          </a:p>
          <a:p>
            <a:endParaRPr lang="en-US" altLang="ja-JP" sz="2400" kern="0" dirty="0"/>
          </a:p>
          <a:p>
            <a:endParaRPr lang="en-US" altLang="ja-JP" sz="2400" kern="0" dirty="0"/>
          </a:p>
          <a:p>
            <a:pPr marL="0" indent="0">
              <a:buNone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AC7F2BBE-6E3A-713A-699C-D9805AC9FDD2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3925147" cy="4025289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ja-JP" sz="2400" kern="0" dirty="0"/>
              <a:t>d	</a:t>
            </a:r>
            <a:r>
              <a:rPr lang="en-US" altLang="ja-JP" sz="1800" kern="0" dirty="0" err="1">
                <a:solidFill>
                  <a:schemeClr val="accent4"/>
                </a:solidFill>
              </a:rPr>
              <a:t>elephant_data</a:t>
            </a:r>
            <a:endParaRPr lang="en-US" altLang="ja-JP" sz="1800" kern="0" dirty="0">
              <a:solidFill>
                <a:schemeClr val="accent4"/>
              </a:solidFill>
            </a:endParaRPr>
          </a:p>
          <a:p>
            <a:r>
              <a:rPr lang="en-US" altLang="ja-JP" sz="2400" kern="0" dirty="0"/>
              <a:t>xd	</a:t>
            </a:r>
            <a:r>
              <a:rPr lang="ja-JP" altLang="en-US" sz="1800" kern="0" dirty="0">
                <a:solidFill>
                  <a:schemeClr val="accent4"/>
                </a:solidFill>
              </a:rPr>
              <a:t>体長・体重</a:t>
            </a:r>
            <a:endParaRPr lang="en-US" altLang="ja-JP" sz="18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すべての行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1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列目から２（最後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-1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）列目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endParaRPr lang="en-US" altLang="ja-JP" sz="2400" kern="0" dirty="0"/>
          </a:p>
          <a:p>
            <a:endParaRPr lang="en-US" altLang="ja-JP" sz="2400" kern="0" dirty="0"/>
          </a:p>
          <a:p>
            <a:r>
              <a:rPr lang="en-US" altLang="ja-JP" sz="2400" kern="0" dirty="0"/>
              <a:t>yd	</a:t>
            </a:r>
            <a:r>
              <a:rPr lang="ja-JP" altLang="en-US" sz="1800" kern="0" dirty="0">
                <a:solidFill>
                  <a:schemeClr val="accent4"/>
                </a:solidFill>
              </a:rPr>
              <a:t>ラベル</a:t>
            </a:r>
            <a:endParaRPr lang="en-US" altLang="ja-JP" sz="18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すべての行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最後の列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18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7DF9B92-DF1D-B7A5-BD68-372CD2CA5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C560628-D4C7-7731-8E82-C4BA6F44CB30}"/>
              </a:ext>
            </a:extLst>
          </p:cNvPr>
          <p:cNvSpPr/>
          <p:nvPr/>
        </p:nvSpPr>
        <p:spPr bwMode="auto">
          <a:xfrm>
            <a:off x="5038170" y="1757591"/>
            <a:ext cx="5212770" cy="119777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9232FF57-663A-7551-63B2-D183C99AF5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1558601"/>
              </p:ext>
            </p:extLst>
          </p:nvPr>
        </p:nvGraphicFramePr>
        <p:xfrm>
          <a:off x="5038170" y="4983915"/>
          <a:ext cx="6602401" cy="132588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441121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2695787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2465493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20922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〇：△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500" dirty="0"/>
                        <a:t>〇以上△未満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500" dirty="0"/>
                        <a:t>〇以上△以下</a:t>
                      </a:r>
                      <a:endParaRPr kumimoji="1" lang="en-US" altLang="ja-JP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すべて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500" dirty="0"/>
                        <a:t>「：」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500" dirty="0"/>
                        <a:t>「　」</a:t>
                      </a:r>
                      <a:endParaRPr kumimoji="1" lang="en-US" altLang="ja-JP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607290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最後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-1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ncol</a:t>
                      </a:r>
                      <a:r>
                        <a:rPr kumimoji="1" lang="en-US" altLang="ja-JP" sz="1500" dirty="0"/>
                        <a:t>(x),</a:t>
                      </a:r>
                      <a:r>
                        <a:rPr kumimoji="1" lang="en-US" altLang="ja-JP" sz="1500" dirty="0" err="1"/>
                        <a:t>nrow</a:t>
                      </a:r>
                      <a:r>
                        <a:rPr kumimoji="1" lang="en-US" altLang="ja-JP" sz="1500" dirty="0"/>
                        <a:t>(x)</a:t>
                      </a:r>
                      <a:endParaRPr kumimoji="1" lang="ja-JP" altLang="en-US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7436988"/>
                  </a:ext>
                </a:extLst>
              </a:tr>
            </a:tbl>
          </a:graphicData>
        </a:graphic>
      </p:graphicFrame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A5EBF90-6572-DD00-A9CF-993C4098D414}"/>
              </a:ext>
            </a:extLst>
          </p:cNvPr>
          <p:cNvSpPr/>
          <p:nvPr/>
        </p:nvSpPr>
        <p:spPr bwMode="auto">
          <a:xfrm>
            <a:off x="5038170" y="3277557"/>
            <a:ext cx="5212770" cy="1197771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sp>
        <p:nvSpPr>
          <p:cNvPr id="22" name="矢印: 右 21">
            <a:extLst>
              <a:ext uri="{FF2B5EF4-FFF2-40B4-BE49-F238E27FC236}">
                <a16:creationId xmlns:a16="http://schemas.microsoft.com/office/drawing/2014/main" id="{3FD9703C-8626-10F0-9FEE-1F09336AF24C}"/>
              </a:ext>
            </a:extLst>
          </p:cNvPr>
          <p:cNvSpPr/>
          <p:nvPr/>
        </p:nvSpPr>
        <p:spPr bwMode="auto">
          <a:xfrm>
            <a:off x="9167306" y="3755921"/>
            <a:ext cx="426490" cy="165041"/>
          </a:xfrm>
          <a:prstGeom prst="rightArrow">
            <a:avLst/>
          </a:prstGeom>
          <a:solidFill>
            <a:schemeClr val="accent4">
              <a:lumMod val="65000"/>
              <a:lumOff val="3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87D0542-8E6A-E93F-0BAF-3EA1F4F13E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672" y="2187931"/>
            <a:ext cx="4505954" cy="666843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4E06C46C-271D-4AD4-2A70-FB1C51036C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5672" y="3318788"/>
            <a:ext cx="3572374" cy="1095528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CD507FE4-D695-48AA-7191-E7054FC189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73056" y="3154092"/>
            <a:ext cx="1571844" cy="1533739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F44C68D6-3FAA-3B71-E5A0-3789EB1767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530" y="3720368"/>
            <a:ext cx="2911864" cy="673970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4C7550F8-639D-4C49-7218-E4615F58C2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530" y="5654694"/>
            <a:ext cx="2911864" cy="673970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EC601657-539B-13B5-ECE9-F58BA013DC37}"/>
              </a:ext>
            </a:extLst>
          </p:cNvPr>
          <p:cNvSpPr/>
          <p:nvPr/>
        </p:nvSpPr>
        <p:spPr bwMode="auto">
          <a:xfrm>
            <a:off x="1273619" y="3783486"/>
            <a:ext cx="992503" cy="610852"/>
          </a:xfrm>
          <a:prstGeom prst="rect">
            <a:avLst/>
          </a:prstGeom>
          <a:solidFill>
            <a:srgbClr val="CC9900">
              <a:alpha val="30196"/>
            </a:srgb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FEF9A46B-8F56-9BCE-BB49-C7A8EF7DE62C}"/>
              </a:ext>
            </a:extLst>
          </p:cNvPr>
          <p:cNvSpPr/>
          <p:nvPr/>
        </p:nvSpPr>
        <p:spPr bwMode="auto">
          <a:xfrm>
            <a:off x="2617145" y="3783486"/>
            <a:ext cx="992503" cy="610852"/>
          </a:xfrm>
          <a:prstGeom prst="rect">
            <a:avLst/>
          </a:prstGeom>
          <a:solidFill>
            <a:srgbClr val="CC9900">
              <a:alpha val="30196"/>
            </a:srgb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C1A3B095-4174-249D-0F32-B39F37582E52}"/>
              </a:ext>
            </a:extLst>
          </p:cNvPr>
          <p:cNvSpPr/>
          <p:nvPr/>
        </p:nvSpPr>
        <p:spPr bwMode="auto">
          <a:xfrm>
            <a:off x="3915019" y="5728377"/>
            <a:ext cx="220375" cy="610852"/>
          </a:xfrm>
          <a:prstGeom prst="rect">
            <a:avLst/>
          </a:prstGeom>
          <a:solidFill>
            <a:srgbClr val="CC9900">
              <a:alpha val="30196"/>
            </a:srgb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650470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77460-602D-11DB-9939-EFFB0B238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EAC601-6525-1D1F-6EDF-E418C9D870C3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関数 </a:t>
            </a:r>
            <a:r>
              <a:rPr lang="en-US" altLang="ja-JP" b="1" kern="0" dirty="0"/>
              <a:t>draw_graph1</a:t>
            </a:r>
            <a:r>
              <a:rPr lang="ja-JP" altLang="en-US" b="1" kern="0" dirty="0"/>
              <a:t>　</a:t>
            </a:r>
            <a:r>
              <a:rPr lang="en-US" altLang="ja-JP" sz="2400" kern="0" dirty="0"/>
              <a:t>d</a:t>
            </a:r>
            <a:r>
              <a:rPr lang="ja-JP" altLang="en-US" sz="2400" kern="0" dirty="0"/>
              <a:t>の散布図をかく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B1505EBD-5BB3-9BB0-A8D8-750082522D2A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4680604" cy="4343341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マーカーを用意する</a:t>
            </a:r>
            <a:endParaRPr lang="en-US" altLang="ja-JP" sz="2400" kern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markers: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形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colors: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色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m: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マーカー番号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↓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R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の記号と番号の対応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		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（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Rdocumentation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）より</a:t>
            </a:r>
            <a:endParaRPr lang="en-US" altLang="ja-JP" sz="2400" kern="0" dirty="0"/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図を用意する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 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横軸：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xd 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縦軸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:yd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NULL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の図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: type = n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打点する</a:t>
            </a:r>
            <a:endParaRPr lang="en-US" altLang="ja-JP" sz="18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unique(yd)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ごとにループ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１行につき１打点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行数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:n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、マーカー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:m</a:t>
            </a:r>
            <a:endParaRPr lang="en-US" altLang="ja-JP" sz="2400" kern="0" dirty="0"/>
          </a:p>
          <a:p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B31667A-D314-284E-C92F-E1BBBCC78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5ECE7812-4C24-8C76-FFDC-36614A2FFA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7826205"/>
              </p:ext>
            </p:extLst>
          </p:nvPr>
        </p:nvGraphicFramePr>
        <p:xfrm>
          <a:off x="5205615" y="4841592"/>
          <a:ext cx="6601211" cy="1970824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439931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2695787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2465493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20922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図の生成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fig = </a:t>
                      </a:r>
                      <a:r>
                        <a:rPr kumimoji="1" lang="en-US" altLang="ja-JP" sz="1500" dirty="0" err="1"/>
                        <a:t>plt.figure</a:t>
                      </a:r>
                      <a:r>
                        <a:rPr kumimoji="1" lang="en-US" altLang="ja-JP" sz="1500" dirty="0"/>
                        <a:t>(</a:t>
                      </a:r>
                      <a:r>
                        <a:rPr kumimoji="1" lang="ja-JP" altLang="en-US" sz="1500" dirty="0"/>
                        <a:t>番号</a:t>
                      </a:r>
                      <a:r>
                        <a:rPr kumimoji="1" lang="en-US" altLang="ja-JP" sz="1500" dirty="0"/>
                        <a:t>, </a:t>
                      </a:r>
                      <a:r>
                        <a:rPr kumimoji="1" lang="en-US" altLang="ja-JP" sz="1500" dirty="0" err="1"/>
                        <a:t>figsize</a:t>
                      </a:r>
                      <a:r>
                        <a:rPr kumimoji="1" lang="en-US" altLang="ja-JP" sz="1500" dirty="0"/>
                        <a:t>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plot(</a:t>
                      </a:r>
                      <a:r>
                        <a:rPr kumimoji="1" lang="en-US" altLang="ja-JP" sz="1500" dirty="0" err="1"/>
                        <a:t>x,y,type</a:t>
                      </a:r>
                      <a:r>
                        <a:rPr kumimoji="1" lang="en-US" altLang="ja-JP" sz="15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図形の描写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plt.scater</a:t>
                      </a:r>
                      <a:r>
                        <a:rPr kumimoji="1" lang="en-US" altLang="ja-JP" sz="1500" dirty="0"/>
                        <a:t>(</a:t>
                      </a:r>
                      <a:r>
                        <a:rPr kumimoji="1" lang="en-US" altLang="ja-JP" sz="1500" dirty="0" err="1"/>
                        <a:t>x,y,m,c,z,edgec</a:t>
                      </a:r>
                      <a:r>
                        <a:rPr kumimoji="1" lang="en-US" altLang="ja-JP" sz="1500" dirty="0"/>
                        <a:t>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points(</a:t>
                      </a:r>
                      <a:r>
                        <a:rPr kumimoji="1" lang="en-US" altLang="ja-JP" sz="1500" dirty="0" err="1"/>
                        <a:t>x,y,pch,col</a:t>
                      </a:r>
                      <a:r>
                        <a:rPr kumimoji="1" lang="en-US" altLang="ja-JP" sz="15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en-US" altLang="ja-JP" sz="1500" b="0" dirty="0">
                          <a:solidFill>
                            <a:schemeClr val="tx1"/>
                          </a:solidFill>
                        </a:rPr>
                        <a:t>for</a:t>
                      </a:r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文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for </a:t>
                      </a:r>
                      <a:r>
                        <a:rPr kumimoji="1" lang="en-US" altLang="ja-JP" sz="1500" dirty="0" err="1"/>
                        <a:t>i</a:t>
                      </a:r>
                      <a:r>
                        <a:rPr kumimoji="1" lang="en-US" altLang="ja-JP" sz="1500" dirty="0"/>
                        <a:t> in </a:t>
                      </a:r>
                      <a:r>
                        <a:rPr kumimoji="1" lang="ja-JP" altLang="en-US" sz="1500" dirty="0"/>
                        <a:t>〇</a:t>
                      </a:r>
                      <a:r>
                        <a:rPr kumimoji="1" lang="en-US" altLang="ja-JP" sz="1500" dirty="0"/>
                        <a:t>: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for(</a:t>
                      </a:r>
                      <a:r>
                        <a:rPr kumimoji="1" lang="en-US" altLang="ja-JP" sz="1500" dirty="0" err="1"/>
                        <a:t>i</a:t>
                      </a:r>
                      <a:r>
                        <a:rPr kumimoji="1" lang="en-US" altLang="ja-JP" sz="1500" dirty="0"/>
                        <a:t> in </a:t>
                      </a:r>
                      <a:r>
                        <a:rPr kumimoji="1" lang="ja-JP" altLang="en-US" sz="1500" dirty="0"/>
                        <a:t>〇</a:t>
                      </a:r>
                      <a:r>
                        <a:rPr kumimoji="1" lang="en-US" altLang="ja-JP" sz="1500" dirty="0"/>
                        <a:t>){ 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607290"/>
                  </a:ext>
                </a:extLst>
              </a:tr>
              <a:tr h="324904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一致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np.where</a:t>
                      </a:r>
                      <a:r>
                        <a:rPr kumimoji="1" lang="en-US" altLang="ja-JP" sz="1500" dirty="0"/>
                        <a:t>(</a:t>
                      </a:r>
                      <a:r>
                        <a:rPr kumimoji="1" lang="ja-JP" altLang="en-US" sz="1500" dirty="0"/>
                        <a:t>〇 </a:t>
                      </a:r>
                      <a:r>
                        <a:rPr kumimoji="1" lang="en-US" altLang="ja-JP" sz="1500" dirty="0"/>
                        <a:t>== </a:t>
                      </a:r>
                      <a:r>
                        <a:rPr kumimoji="1" lang="ja-JP" altLang="en-US" sz="1500" dirty="0"/>
                        <a:t>△</a:t>
                      </a:r>
                      <a:r>
                        <a:rPr kumimoji="1" lang="en-US" altLang="ja-JP" sz="1500" dirty="0"/>
                        <a:t>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which(</a:t>
                      </a:r>
                      <a:r>
                        <a:rPr kumimoji="1" lang="ja-JP" altLang="en-US" sz="1500" dirty="0"/>
                        <a:t>〇 </a:t>
                      </a:r>
                      <a:r>
                        <a:rPr kumimoji="1" lang="en-US" altLang="ja-JP" sz="1500" dirty="0"/>
                        <a:t>== </a:t>
                      </a:r>
                      <a:r>
                        <a:rPr kumimoji="1" lang="ja-JP" altLang="en-US" sz="1500" dirty="0"/>
                        <a:t>△</a:t>
                      </a:r>
                      <a:r>
                        <a:rPr kumimoji="1" lang="en-US" altLang="ja-JP" sz="1500" dirty="0"/>
                        <a:t>)</a:t>
                      </a:r>
                      <a:endParaRPr kumimoji="1" lang="ja-JP" altLang="en-US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7436988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重複しない値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set(x)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unique(x)</a:t>
                      </a:r>
                      <a:endParaRPr kumimoji="1" lang="ja-JP" altLang="en-US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4394912"/>
                  </a:ext>
                </a:extLst>
              </a:tr>
            </a:tbl>
          </a:graphicData>
        </a:graphic>
      </p:graphicFrame>
      <p:pic>
        <p:nvPicPr>
          <p:cNvPr id="15" name="図 14">
            <a:extLst>
              <a:ext uri="{FF2B5EF4-FFF2-40B4-BE49-F238E27FC236}">
                <a16:creationId xmlns:a16="http://schemas.microsoft.com/office/drawing/2014/main" id="{11416C19-2E18-1C91-EE4F-389B58F576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030" y="3230288"/>
            <a:ext cx="4591516" cy="345834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F6EE943-8AD3-E112-D2A6-034902452A6F}"/>
              </a:ext>
            </a:extLst>
          </p:cNvPr>
          <p:cNvSpPr/>
          <p:nvPr/>
        </p:nvSpPr>
        <p:spPr bwMode="auto">
          <a:xfrm>
            <a:off x="5069406" y="1780442"/>
            <a:ext cx="5212770" cy="15001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59BD46-0327-5F01-00A5-072F1C1F51FD}"/>
              </a:ext>
            </a:extLst>
          </p:cNvPr>
          <p:cNvSpPr/>
          <p:nvPr/>
        </p:nvSpPr>
        <p:spPr bwMode="auto">
          <a:xfrm>
            <a:off x="5069406" y="3300408"/>
            <a:ext cx="5212770" cy="1500185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5C45FFD4-C85B-6C94-F77E-45E3B551B23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24633"/>
          <a:stretch/>
        </p:blipFill>
        <p:spPr>
          <a:xfrm>
            <a:off x="5366403" y="2105950"/>
            <a:ext cx="4262377" cy="1118393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DCD988D0-95DF-7B34-5CF4-CA02DA348B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1938" y="1068277"/>
            <a:ext cx="2579673" cy="1644021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D6BA76A8-1CEE-E52D-8F05-2C519C47A9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0952" y="2895620"/>
            <a:ext cx="2049911" cy="2001181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5C5090DD-6FD9-C4D3-F906-CC51E0088F6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16858" y="3449101"/>
            <a:ext cx="4333152" cy="1273311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7088801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C8073-E444-51DF-CE36-45100F5D2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A60E52-4A48-8A44-9D10-73F89E54D7B5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図を保存する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C5352A9B-147A-270B-B02A-4A45E1AABB12}"/>
              </a:ext>
            </a:extLst>
          </p:cNvPr>
          <p:cNvSpPr txBox="1">
            <a:spLocks/>
          </p:cNvSpPr>
          <p:nvPr/>
        </p:nvSpPr>
        <p:spPr>
          <a:xfrm>
            <a:off x="762000" y="2143599"/>
            <a:ext cx="4680604" cy="1361602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図を表示</a:t>
            </a:r>
            <a:endParaRPr lang="en-US" altLang="ja-JP" sz="2400" kern="0" dirty="0"/>
          </a:p>
          <a:p>
            <a:r>
              <a:rPr lang="ja-JP" altLang="en-US" sz="2400" kern="0" dirty="0"/>
              <a:t>図を保存</a:t>
            </a:r>
            <a:endParaRPr lang="en-US" altLang="ja-JP" sz="2400" kern="0" dirty="0"/>
          </a:p>
          <a:p>
            <a:pPr marL="0" indent="0">
              <a:buNone/>
            </a:pPr>
            <a:r>
              <a:rPr lang="en-US" altLang="ja-JP" sz="2400" kern="0" dirty="0"/>
              <a:t>   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png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形式、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jpg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形式の２パターンで保存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4908C1C-E1BE-7B66-9AE3-98D91F13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2BB8C37D-34E4-940C-5C11-2E0CC3E595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7989761"/>
              </p:ext>
            </p:extLst>
          </p:nvPr>
        </p:nvGraphicFramePr>
        <p:xfrm>
          <a:off x="7153151" y="1930313"/>
          <a:ext cx="4749737" cy="146304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997268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2083862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1668607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20922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図の表示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plt.show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500" dirty="0"/>
                        <a:t>自動表示</a:t>
                      </a:r>
                      <a:endParaRPr kumimoji="1" lang="en-US" altLang="ja-JP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図の保存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fig.saving</a:t>
                      </a:r>
                      <a:r>
                        <a:rPr kumimoji="1" lang="en-US" altLang="ja-JP" sz="1500" dirty="0"/>
                        <a:t>(“</a:t>
                      </a:r>
                      <a:r>
                        <a:rPr kumimoji="1" lang="ja-JP" altLang="en-US" sz="1500" dirty="0"/>
                        <a:t>図の名称</a:t>
                      </a:r>
                      <a:r>
                        <a:rPr kumimoji="1" lang="en-US" altLang="ja-JP" sz="1500" dirty="0"/>
                        <a:t>”)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png</a:t>
                      </a:r>
                      <a:r>
                        <a:rPr kumimoji="1" lang="en-US" altLang="ja-JP" sz="1500" dirty="0"/>
                        <a:t>(“</a:t>
                      </a:r>
                      <a:r>
                        <a:rPr kumimoji="1" lang="ja-JP" altLang="en-US" sz="1500" dirty="0"/>
                        <a:t>図の名称</a:t>
                      </a:r>
                      <a:r>
                        <a:rPr kumimoji="1" lang="en-US" altLang="ja-JP" sz="1500" dirty="0"/>
                        <a:t>”)</a:t>
                      </a:r>
                    </a:p>
                    <a:p>
                      <a:r>
                        <a:rPr kumimoji="1" lang="ja-JP" altLang="en-US" sz="1500" dirty="0"/>
                        <a:t>図</a:t>
                      </a:r>
                      <a:endParaRPr kumimoji="1" lang="en-US" altLang="ja-JP" sz="1500" dirty="0"/>
                    </a:p>
                    <a:p>
                      <a:r>
                        <a:rPr kumimoji="1" lang="en-US" altLang="ja-JP" sz="1500" dirty="0" err="1"/>
                        <a:t>dev.off</a:t>
                      </a:r>
                      <a:r>
                        <a:rPr kumimoji="1" lang="en-US" altLang="ja-JP" sz="15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</a:tbl>
          </a:graphicData>
        </a:graphic>
      </p:graphicFrame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082B75C-8B32-C889-B5AA-7E197128E2D2}"/>
              </a:ext>
            </a:extLst>
          </p:cNvPr>
          <p:cNvSpPr/>
          <p:nvPr/>
        </p:nvSpPr>
        <p:spPr bwMode="auto">
          <a:xfrm>
            <a:off x="2978588" y="1930313"/>
            <a:ext cx="2060263" cy="113644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1056466-E41D-8B4C-8C91-CDACA1D6D7B1}"/>
              </a:ext>
            </a:extLst>
          </p:cNvPr>
          <p:cNvSpPr/>
          <p:nvPr/>
        </p:nvSpPr>
        <p:spPr bwMode="auto">
          <a:xfrm>
            <a:off x="5121320" y="1930313"/>
            <a:ext cx="1780322" cy="1136442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20E03F0-72B3-788A-D55F-1D2C1929A7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8760" y="2296831"/>
            <a:ext cx="1638529" cy="619211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0802A5AE-C392-7A58-20FE-B090AC1FC92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618"/>
          <a:stretch>
            <a:fillRect/>
          </a:stretch>
        </p:blipFill>
        <p:spPr>
          <a:xfrm>
            <a:off x="5442604" y="1963755"/>
            <a:ext cx="1257475" cy="108343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051310CA-DAD2-4205-F6B5-0737A9D3CAAE}"/>
              </a:ext>
            </a:extLst>
          </p:cNvPr>
          <p:cNvSpPr txBox="1">
            <a:spLocks/>
          </p:cNvSpPr>
          <p:nvPr/>
        </p:nvSpPr>
        <p:spPr>
          <a:xfrm>
            <a:off x="762000" y="3718487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データを分類する</a:t>
            </a: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147A513C-9CEA-3CC9-79B7-BB05B2F4B426}"/>
              </a:ext>
            </a:extLst>
          </p:cNvPr>
          <p:cNvSpPr txBox="1">
            <a:spLocks/>
          </p:cNvSpPr>
          <p:nvPr/>
        </p:nvSpPr>
        <p:spPr>
          <a:xfrm>
            <a:off x="762000" y="4658779"/>
            <a:ext cx="4680604" cy="3271549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学習用データ </a:t>
            </a:r>
            <a:r>
              <a:rPr lang="en-US" altLang="ja-JP" sz="2400" kern="0" dirty="0" err="1"/>
              <a:t>x_train,y_train</a:t>
            </a:r>
            <a:endParaRPr lang="en-US" altLang="ja-JP" sz="2400" kern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データ全体の８割に設定　</a:t>
            </a:r>
            <a:r>
              <a:rPr lang="en-US" altLang="ja-JP" sz="1800" kern="0" dirty="0" err="1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train_index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を使用</a:t>
            </a:r>
            <a:endParaRPr lang="en-US" altLang="ja-JP" sz="2400" kern="0" dirty="0"/>
          </a:p>
          <a:p>
            <a:r>
              <a:rPr lang="ja-JP" altLang="en-US" sz="2400" kern="0" dirty="0"/>
              <a:t>テスト用データ </a:t>
            </a:r>
            <a:r>
              <a:rPr lang="en-US" altLang="ja-JP" sz="2400" kern="0" dirty="0" err="1"/>
              <a:t>x_test,y_test</a:t>
            </a:r>
            <a:endParaRPr lang="en-US" altLang="ja-JP" sz="2400" kern="0" dirty="0"/>
          </a:p>
          <a:p>
            <a:pPr marL="0" indent="0">
              <a:spcBef>
                <a:spcPts val="0"/>
              </a:spcBef>
              <a:buNone/>
            </a:pPr>
            <a:r>
              <a:rPr lang="en-US" altLang="ja-JP" sz="2400" kern="0" dirty="0"/>
              <a:t>  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データ全体の２割に設定　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train_index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以外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(-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train_index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)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を使用</a:t>
            </a:r>
            <a:endParaRPr lang="en-US" altLang="ja-JP" sz="2400" kern="0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6495E51-2B2A-3307-3F1A-247667BF3F30}"/>
              </a:ext>
            </a:extLst>
          </p:cNvPr>
          <p:cNvSpPr/>
          <p:nvPr/>
        </p:nvSpPr>
        <p:spPr bwMode="auto">
          <a:xfrm>
            <a:off x="5630546" y="3740838"/>
            <a:ext cx="6270510" cy="75310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C3CE713-496B-EDC3-D6F8-91CC3D0A06F1}"/>
              </a:ext>
            </a:extLst>
          </p:cNvPr>
          <p:cNvSpPr/>
          <p:nvPr/>
        </p:nvSpPr>
        <p:spPr bwMode="auto">
          <a:xfrm>
            <a:off x="5630546" y="4530742"/>
            <a:ext cx="6270510" cy="1260909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4D8CD5B2-3A25-05CD-0BBC-3EDD5EED76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2138" y="4142716"/>
            <a:ext cx="6087325" cy="26673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DEFBD0EF-1B57-757C-26DB-8A1953E6CB9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3099"/>
          <a:stretch/>
        </p:blipFill>
        <p:spPr>
          <a:xfrm>
            <a:off x="6185692" y="4609683"/>
            <a:ext cx="4220164" cy="111696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518B7A36-F1E4-C434-CC7B-9BB076B47992}"/>
              </a:ext>
            </a:extLst>
          </p:cNvPr>
          <p:cNvSpPr/>
          <p:nvPr/>
        </p:nvSpPr>
        <p:spPr bwMode="auto">
          <a:xfrm>
            <a:off x="4684120" y="5870592"/>
            <a:ext cx="2076036" cy="86767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accent6">
                <a:lumMod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複数回実行したときの</a:t>
            </a:r>
            <a:endParaRPr kumimoji="1" lang="en-US" altLang="ja-JP" sz="1200" b="0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結果が同じになるように、</a:t>
            </a:r>
            <a:endParaRPr kumimoji="1" lang="en-US" altLang="ja-JP" sz="1200" b="0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それぞれのデータを</a:t>
            </a:r>
            <a:endParaRPr kumimoji="1" lang="en-US" altLang="ja-JP" sz="1200" b="0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抽出する際の乱数を指定する</a:t>
            </a:r>
          </a:p>
        </p:txBody>
      </p:sp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F017264B-18F9-509A-95BF-8FC0262348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326847"/>
              </p:ext>
            </p:extLst>
          </p:nvPr>
        </p:nvGraphicFramePr>
        <p:xfrm>
          <a:off x="6803757" y="5722023"/>
          <a:ext cx="5079036" cy="1016243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326567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2083862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1668607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76163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乱数の種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random state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set.seed</a:t>
                      </a:r>
                      <a:r>
                        <a:rPr kumimoji="1" lang="en-US" altLang="ja-JP" sz="15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データの分割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split()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en-US" altLang="ja-JP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</a:tbl>
          </a:graphicData>
        </a:graphic>
      </p:graphicFrame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A8AEBABA-F0A7-1FF9-87DB-020F7DFC9CD7}"/>
              </a:ext>
            </a:extLst>
          </p:cNvPr>
          <p:cNvCxnSpPr/>
          <p:nvPr/>
        </p:nvCxnSpPr>
        <p:spPr bwMode="auto">
          <a:xfrm>
            <a:off x="609600" y="3600204"/>
            <a:ext cx="11291456" cy="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71910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C8073-E444-51DF-CE36-45100F5D2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A60E52-4A48-8A44-9D10-73F89E54D7B5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正解率を出す</a:t>
            </a: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C5352A9B-147A-270B-B02A-4A45E1AABB12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4680604" cy="409094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ja-JP" sz="2400" kern="0" dirty="0"/>
              <a:t>train</a:t>
            </a:r>
            <a:r>
              <a:rPr lang="ja-JP" altLang="en-US" sz="2400" kern="0" dirty="0"/>
              <a:t>を正規化する</a:t>
            </a:r>
            <a:endParaRPr lang="en-US" altLang="ja-JP" sz="2400" kern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x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：</a:t>
            </a:r>
            <a:r>
              <a:rPr lang="en-US" altLang="ja-JP" sz="1800" kern="0" dirty="0" err="1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x_train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の正規化</a:t>
            </a:r>
            <a:endParaRPr lang="en-US" altLang="ja-JP" sz="1800" kern="0" dirty="0">
              <a:solidFill>
                <a:srgbClr val="FFFFFF">
                  <a:lumMod val="50000"/>
                </a:srgbClr>
              </a:solidFill>
              <a:latin typeface="Arial"/>
              <a:ea typeface="ＭＳ Ｐゴシック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y:y_train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そのまま</a:t>
            </a:r>
            <a:endParaRPr lang="en-US" altLang="ja-JP" sz="2400" kern="0" dirty="0"/>
          </a:p>
          <a:p>
            <a:r>
              <a:rPr lang="en-US" altLang="ja-JP" sz="2400" kern="0" dirty="0"/>
              <a:t>SVM</a:t>
            </a:r>
            <a:r>
              <a:rPr lang="ja-JP" altLang="en-US" sz="2400" kern="0" dirty="0"/>
              <a:t>で学習させる</a:t>
            </a: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model:x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と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y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の関係を学習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ja-JP" altLang="en-US" sz="2400" kern="0" dirty="0"/>
              <a:t>学習データを予測する</a:t>
            </a:r>
            <a:endParaRPr lang="en-US" altLang="ja-JP" sz="2400" kern="0" dirty="0"/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y_pred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: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ｘのときのｙを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model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で予測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ja-JP" altLang="en-US" sz="2400" kern="0" dirty="0"/>
              <a:t>正解率を出す</a:t>
            </a:r>
            <a:r>
              <a:rPr lang="en-US" altLang="ja-JP" sz="2400" kern="0" dirty="0"/>
              <a:t>   </a:t>
            </a: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予測の正答率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(y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と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y_pred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の一致率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)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を計算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4908C1C-E1BE-7B66-9AE3-98D91F13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2BB8C37D-34E4-940C-5C11-2E0CC3E595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5749910"/>
              </p:ext>
            </p:extLst>
          </p:nvPr>
        </p:nvGraphicFramePr>
        <p:xfrm>
          <a:off x="6145186" y="4648286"/>
          <a:ext cx="5079036" cy="1016243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326567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2083862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1668607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76163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en-US" altLang="ja-JP" sz="1500" b="0" dirty="0">
                          <a:solidFill>
                            <a:schemeClr val="tx1"/>
                          </a:solidFill>
                        </a:rPr>
                        <a:t>SVM</a:t>
                      </a:r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予測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clf.predict</a:t>
                      </a:r>
                      <a:r>
                        <a:rPr kumimoji="1" lang="en-US" altLang="ja-JP" sz="1500" dirty="0"/>
                        <a:t>()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predict()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1802238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正答率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accuracy_score</a:t>
                      </a:r>
                      <a:r>
                        <a:rPr kumimoji="1" lang="en-US" altLang="ja-JP" sz="1500" dirty="0"/>
                        <a:t>(</a:t>
                      </a:r>
                      <a:r>
                        <a:rPr kumimoji="1" lang="en-US" altLang="ja-JP" sz="1500" dirty="0" err="1"/>
                        <a:t>a,b</a:t>
                      </a:r>
                      <a:r>
                        <a:rPr kumimoji="1" lang="en-US" altLang="ja-JP" sz="1500" dirty="0"/>
                        <a:t>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mean(a == b)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</a:tbl>
          </a:graphicData>
        </a:graphic>
      </p:graphicFrame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082B75C-8B32-C889-B5AA-7E197128E2D2}"/>
              </a:ext>
            </a:extLst>
          </p:cNvPr>
          <p:cNvSpPr/>
          <p:nvPr/>
        </p:nvSpPr>
        <p:spPr bwMode="auto">
          <a:xfrm>
            <a:off x="5648698" y="1754035"/>
            <a:ext cx="2157454" cy="225888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1056466-E41D-8B4C-8C91-CDACA1D6D7B1}"/>
              </a:ext>
            </a:extLst>
          </p:cNvPr>
          <p:cNvSpPr/>
          <p:nvPr/>
        </p:nvSpPr>
        <p:spPr bwMode="auto">
          <a:xfrm>
            <a:off x="8070905" y="1754035"/>
            <a:ext cx="3300438" cy="2258886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F7FE8AE3-BC53-EB08-8F92-20D493168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4823" y="2088407"/>
            <a:ext cx="2800741" cy="1390844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27CC82B5-9298-BA24-8B0E-4BB5C619B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9985" y="2152545"/>
            <a:ext cx="1981477" cy="419158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2520CCB8-0D13-51BB-25A5-6EEFF23C6C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49985" y="2649846"/>
            <a:ext cx="1695687" cy="809738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6" name="図 25">
            <a:extLst>
              <a:ext uri="{FF2B5EF4-FFF2-40B4-BE49-F238E27FC236}">
                <a16:creationId xmlns:a16="http://schemas.microsoft.com/office/drawing/2014/main" id="{A915B007-EA6E-52DF-5CDD-93E9A6647E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6801" y="3587579"/>
            <a:ext cx="562053" cy="257211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2BBBE738-7A44-402D-E210-CFD0985175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0878" y="3558999"/>
            <a:ext cx="1514686" cy="314369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4700375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77460-602D-11DB-9939-EFFB0B238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EAC601-6525-1D1F-6EDF-E418C9D870C3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関数 </a:t>
            </a:r>
            <a:r>
              <a:rPr lang="en-US" altLang="ja-JP" b="1" kern="0" dirty="0"/>
              <a:t>draw_graph2</a:t>
            </a:r>
            <a:r>
              <a:rPr lang="ja-JP" altLang="en-US" b="1" kern="0" dirty="0"/>
              <a:t>　</a:t>
            </a:r>
            <a:r>
              <a:rPr lang="ja-JP" altLang="en-US" sz="2400" b="1" kern="0" dirty="0"/>
              <a:t>境界線</a:t>
            </a:r>
            <a:r>
              <a:rPr lang="ja-JP" altLang="en-US" sz="2400" kern="0" dirty="0"/>
              <a:t>をかく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B1505EBD-5BB3-9BB0-A8D8-750082522D2A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4680604" cy="4343341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マーカーを用意する</a:t>
            </a:r>
            <a:endParaRPr lang="en-US" altLang="ja-JP" sz="2400" kern="0" dirty="0"/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図を用意する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打点する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 draw_graph1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のときと同じ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B31667A-D314-284E-C92F-E1BBBCC78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F6EE943-8AD3-E112-D2A6-034902452A6F}"/>
              </a:ext>
            </a:extLst>
          </p:cNvPr>
          <p:cNvSpPr/>
          <p:nvPr/>
        </p:nvSpPr>
        <p:spPr bwMode="auto">
          <a:xfrm>
            <a:off x="5060700" y="1815314"/>
            <a:ext cx="7031550" cy="22775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59BD46-0327-5F01-00A5-072F1C1F51FD}"/>
              </a:ext>
            </a:extLst>
          </p:cNvPr>
          <p:cNvSpPr/>
          <p:nvPr/>
        </p:nvSpPr>
        <p:spPr bwMode="auto">
          <a:xfrm>
            <a:off x="5060700" y="4132573"/>
            <a:ext cx="7131300" cy="2354366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25" name="図 24">
            <a:extLst>
              <a:ext uri="{FF2B5EF4-FFF2-40B4-BE49-F238E27FC236}">
                <a16:creationId xmlns:a16="http://schemas.microsoft.com/office/drawing/2014/main" id="{53373858-6418-5FE8-30DD-B05EA6AD91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3898" y="2154795"/>
            <a:ext cx="6230219" cy="1895740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ED23475D-952A-5A76-443F-ABABD9019B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1365" y="4384097"/>
            <a:ext cx="6182588" cy="514422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32" name="図 31">
            <a:extLst>
              <a:ext uri="{FF2B5EF4-FFF2-40B4-BE49-F238E27FC236}">
                <a16:creationId xmlns:a16="http://schemas.microsoft.com/office/drawing/2014/main" id="{C8935BAC-C400-C223-AFD6-715D5439DA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1365" y="5035482"/>
            <a:ext cx="4601217" cy="123842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252924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77460-602D-11DB-9939-EFFB0B238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B1505EBD-5BB3-9BB0-A8D8-750082522D2A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4680604" cy="4343341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グラフ範囲を指定</a:t>
            </a:r>
            <a:endParaRPr lang="en-US" altLang="ja-JP" sz="2400" kern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データの存在する範囲に限定する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格子状にする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予測する点をすべて表せるように分ける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予測する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格子点ごとに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svm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で予測する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→１列で返ってくるので、行列に戻す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B31667A-D314-284E-C92F-E1BBBCC78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5ECE7812-4C24-8C76-FFDC-36614A2FFA0A}"/>
              </a:ext>
            </a:extLst>
          </p:cNvPr>
          <p:cNvGraphicFramePr>
            <a:graphicFrameLocks noGrp="1"/>
          </p:cNvGraphicFramePr>
          <p:nvPr/>
        </p:nvGraphicFramePr>
        <p:xfrm>
          <a:off x="2795394" y="5014588"/>
          <a:ext cx="6601211" cy="132588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439931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2695787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2465493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20922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数列作成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np.mgrid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seq()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格子作成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np.mgrid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expand.grid</a:t>
                      </a:r>
                      <a:r>
                        <a:rPr kumimoji="1" lang="en-US" altLang="ja-JP" sz="15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行列に変形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reshape()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matrix()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607290"/>
                  </a:ext>
                </a:extLst>
              </a:tr>
            </a:tbl>
          </a:graphicData>
        </a:graphic>
      </p:graphicFrame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F6EE943-8AD3-E112-D2A6-034902452A6F}"/>
              </a:ext>
            </a:extLst>
          </p:cNvPr>
          <p:cNvSpPr/>
          <p:nvPr/>
        </p:nvSpPr>
        <p:spPr bwMode="auto">
          <a:xfrm>
            <a:off x="4969656" y="1760904"/>
            <a:ext cx="7031550" cy="15001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59BD46-0327-5F01-00A5-072F1C1F51FD}"/>
              </a:ext>
            </a:extLst>
          </p:cNvPr>
          <p:cNvSpPr/>
          <p:nvPr/>
        </p:nvSpPr>
        <p:spPr bwMode="auto">
          <a:xfrm>
            <a:off x="4969656" y="3336886"/>
            <a:ext cx="7131300" cy="1591374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02F4896-25FF-AAEC-9516-4FEE997401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9875" y="2124060"/>
            <a:ext cx="1352739" cy="924054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0BCE7AD2-1F20-B36E-12F5-1C38A5E705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5862" y="3723126"/>
            <a:ext cx="1619476" cy="828791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392943BC-56C8-0755-311E-DA9017D910A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6865" b="83603"/>
          <a:stretch/>
        </p:blipFill>
        <p:spPr>
          <a:xfrm>
            <a:off x="6601794" y="2029402"/>
            <a:ext cx="3593294" cy="184323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F07D0E4B-512E-634A-F3FC-79D628581B9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35400" b="62205"/>
          <a:stretch/>
        </p:blipFill>
        <p:spPr>
          <a:xfrm>
            <a:off x="6701544" y="3423214"/>
            <a:ext cx="3464742" cy="712900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8EFA23E5-CF2A-41F1-4BA4-FDF8938DEA12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t="6770"/>
          <a:stretch/>
        </p:blipFill>
        <p:spPr>
          <a:xfrm>
            <a:off x="6587788" y="2272195"/>
            <a:ext cx="3886742" cy="897018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3" name="図 22">
            <a:extLst>
              <a:ext uri="{FF2B5EF4-FFF2-40B4-BE49-F238E27FC236}">
                <a16:creationId xmlns:a16="http://schemas.microsoft.com/office/drawing/2014/main" id="{086DAEEC-11A9-F0B5-E4E1-D564B5DF6D3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1544" y="4170895"/>
            <a:ext cx="5315692" cy="695422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A6AFB36B-9BEA-8ADA-73CA-79A30DAEA32F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関数 </a:t>
            </a:r>
            <a:r>
              <a:rPr lang="en-US" altLang="ja-JP" b="1" kern="0" dirty="0"/>
              <a:t>draw_graph2</a:t>
            </a:r>
            <a:r>
              <a:rPr lang="ja-JP" altLang="en-US" b="1" kern="0" dirty="0"/>
              <a:t>　</a:t>
            </a:r>
            <a:r>
              <a:rPr lang="ja-JP" altLang="en-US" sz="2400" b="1" kern="0" dirty="0"/>
              <a:t>境界線</a:t>
            </a:r>
            <a:r>
              <a:rPr lang="ja-JP" altLang="en-US" sz="2400" kern="0" dirty="0"/>
              <a:t>をかく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84523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77460-602D-11DB-9939-EFFB0B238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59BD46-0327-5F01-00A5-072F1C1F51FD}"/>
              </a:ext>
            </a:extLst>
          </p:cNvPr>
          <p:cNvSpPr/>
          <p:nvPr/>
        </p:nvSpPr>
        <p:spPr bwMode="auto">
          <a:xfrm>
            <a:off x="4969656" y="3578683"/>
            <a:ext cx="7131300" cy="1662340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B1505EBD-5BB3-9BB0-A8D8-750082522D2A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4680604" cy="4343341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背景色</a:t>
            </a: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データの存在する範囲に限定する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境界線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予測する点をすべて表せるように分ける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図の表示・保存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altLang="ja-JP" sz="2400" kern="0" dirty="0">
                <a:solidFill>
                  <a:schemeClr val="accent4"/>
                </a:solidFill>
              </a:rPr>
              <a:t>   </a:t>
            </a: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B31667A-D314-284E-C92F-E1BBBCC78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F6EE943-8AD3-E112-D2A6-034902452A6F}"/>
              </a:ext>
            </a:extLst>
          </p:cNvPr>
          <p:cNvSpPr/>
          <p:nvPr/>
        </p:nvSpPr>
        <p:spPr bwMode="auto">
          <a:xfrm>
            <a:off x="4969656" y="1793537"/>
            <a:ext cx="7031550" cy="166233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2A2CEB70-B136-5C09-AFDF-C20FE95C450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55881"/>
          <a:stretch/>
        </p:blipFill>
        <p:spPr>
          <a:xfrm>
            <a:off x="5391617" y="2193012"/>
            <a:ext cx="3143689" cy="407684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8A17DB9A-100A-50D7-42B0-7DC7043966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1617" y="3683724"/>
            <a:ext cx="4963218" cy="84784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0262575E-AEFA-37C5-F45A-13A7E5866D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7267" y="1152380"/>
            <a:ext cx="2306590" cy="2175074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A1A3289B-4AB0-BB8E-14F9-05655F908C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1617" y="2697600"/>
            <a:ext cx="1657581" cy="571580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6" name="図 25">
            <a:extLst>
              <a:ext uri="{FF2B5EF4-FFF2-40B4-BE49-F238E27FC236}">
                <a16:creationId xmlns:a16="http://schemas.microsoft.com/office/drawing/2014/main" id="{EA25A6EC-36DE-6D16-F73D-DE310C0FF6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80728" y="3683724"/>
            <a:ext cx="1257475" cy="141942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5ECE7812-4C24-8C76-FFDC-36614A2FFA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8533803"/>
              </p:ext>
            </p:extLst>
          </p:nvPr>
        </p:nvGraphicFramePr>
        <p:xfrm>
          <a:off x="1029336" y="4985733"/>
          <a:ext cx="3530789" cy="100584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835090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1603169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1092530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37783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背景色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plt.pcolormesh</a:t>
                      </a:r>
                      <a:r>
                        <a:rPr kumimoji="1" lang="en-US" altLang="ja-JP" sz="1500" dirty="0"/>
                        <a:t>()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image()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境界線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plt.contour</a:t>
                      </a:r>
                      <a:r>
                        <a:rPr kumimoji="1" lang="en-US" altLang="ja-JP" sz="1500" dirty="0"/>
                        <a:t>()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contour()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</a:tbl>
          </a:graphicData>
        </a:graphic>
      </p:graphicFrame>
      <p:sp>
        <p:nvSpPr>
          <p:cNvPr id="27" name="コンテンツ プレースホルダー 2">
            <a:extLst>
              <a:ext uri="{FF2B5EF4-FFF2-40B4-BE49-F238E27FC236}">
                <a16:creationId xmlns:a16="http://schemas.microsoft.com/office/drawing/2014/main" id="{1DE5CB1C-B112-9574-8702-0790C04D1F88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関数 </a:t>
            </a:r>
            <a:r>
              <a:rPr lang="en-US" altLang="ja-JP" b="1" kern="0" dirty="0"/>
              <a:t>draw_graph2</a:t>
            </a:r>
            <a:r>
              <a:rPr lang="ja-JP" altLang="en-US" b="1" kern="0" dirty="0"/>
              <a:t>　</a:t>
            </a:r>
            <a:r>
              <a:rPr lang="ja-JP" altLang="en-US" sz="2400" b="1" kern="0" dirty="0"/>
              <a:t>境界線</a:t>
            </a:r>
            <a:r>
              <a:rPr lang="ja-JP" altLang="en-US" sz="2400" kern="0" dirty="0"/>
              <a:t>をかく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pic>
        <p:nvPicPr>
          <p:cNvPr id="29" name="図 28">
            <a:extLst>
              <a:ext uri="{FF2B5EF4-FFF2-40B4-BE49-F238E27FC236}">
                <a16:creationId xmlns:a16="http://schemas.microsoft.com/office/drawing/2014/main" id="{0EA7A420-6A13-042E-490F-63B299624A7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9083" y="4586480"/>
            <a:ext cx="2054565" cy="2054565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7230189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77460-602D-11DB-9939-EFFB0B238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59BD46-0327-5F01-00A5-072F1C1F51FD}"/>
              </a:ext>
            </a:extLst>
          </p:cNvPr>
          <p:cNvSpPr/>
          <p:nvPr/>
        </p:nvSpPr>
        <p:spPr bwMode="auto">
          <a:xfrm>
            <a:off x="8541269" y="1760904"/>
            <a:ext cx="2903195" cy="1662340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EAC601-6525-1D1F-6EDF-E418C9D870C3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正解率を出す </a:t>
            </a:r>
            <a:r>
              <a:rPr lang="ja-JP" altLang="en-US" sz="2400" kern="0" dirty="0"/>
              <a:t>テスト用データ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B1505EBD-5BB3-9BB0-A8D8-750082522D2A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4680604" cy="4343341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ja-JP" sz="2400" kern="0" dirty="0"/>
              <a:t>train</a:t>
            </a:r>
            <a:r>
              <a:rPr lang="ja-JP" altLang="en-US" sz="2400" kern="0" dirty="0"/>
              <a:t>を正規化する</a:t>
            </a:r>
            <a:endParaRPr lang="en-US" altLang="ja-JP" sz="2400" kern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24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x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：</a:t>
            </a:r>
            <a:r>
              <a:rPr lang="en-US" altLang="ja-JP" sz="1800" kern="0" dirty="0" err="1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x_test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の正規化</a:t>
            </a:r>
            <a:endParaRPr lang="en-US" altLang="ja-JP" sz="1800" kern="0" dirty="0">
              <a:solidFill>
                <a:srgbClr val="FFFFFF">
                  <a:lumMod val="50000"/>
                </a:srgbClr>
              </a:solidFill>
              <a:latin typeface="Arial"/>
              <a:ea typeface="ＭＳ Ｐゴシック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y:y_test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そのまま</a:t>
            </a:r>
            <a:endParaRPr lang="en-US" altLang="ja-JP" sz="1800" kern="0" dirty="0"/>
          </a:p>
          <a:p>
            <a:r>
              <a:rPr lang="ja-JP" altLang="en-US" sz="2400" kern="0" dirty="0"/>
              <a:t>正解率を出す</a:t>
            </a:r>
            <a:r>
              <a:rPr lang="en-US" altLang="ja-JP" sz="2400" kern="0" dirty="0"/>
              <a:t>   </a:t>
            </a: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予測の正答率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(y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と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y_pred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の一致率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)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を計算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B31667A-D314-284E-C92F-E1BBBCC78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F6EE943-8AD3-E112-D2A6-034902452A6F}"/>
              </a:ext>
            </a:extLst>
          </p:cNvPr>
          <p:cNvSpPr/>
          <p:nvPr/>
        </p:nvSpPr>
        <p:spPr bwMode="auto">
          <a:xfrm>
            <a:off x="5434942" y="1766740"/>
            <a:ext cx="2814941" cy="166233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F418076-BACE-B5FC-DE9E-5B2B529C0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8774" y="2084168"/>
            <a:ext cx="2391109" cy="1162212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3E58D379-4A55-9484-D43C-3402FCFD8B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679" y="3090044"/>
            <a:ext cx="390580" cy="247685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68F93536-E35A-AA33-9BEA-2B20A1FF97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8443" y="2063272"/>
            <a:ext cx="2324424" cy="113363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D6C6150F-8B06-067D-1E0F-BE461F207A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19434" y="3085991"/>
            <a:ext cx="1514686" cy="295316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4164446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77460-602D-11DB-9939-EFFB0B238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EAC601-6525-1D1F-6EDF-E418C9D870C3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関数 </a:t>
            </a:r>
            <a:r>
              <a:rPr lang="en-US" altLang="ja-JP" b="1" kern="0" dirty="0"/>
              <a:t>draw_graph3</a:t>
            </a:r>
            <a:r>
              <a:rPr lang="ja-JP" altLang="en-US" b="1" kern="0" dirty="0"/>
              <a:t>　</a:t>
            </a:r>
            <a:r>
              <a:rPr lang="en-US" altLang="ja-JP" sz="2400" kern="0" dirty="0"/>
              <a:t>test</a:t>
            </a:r>
            <a:r>
              <a:rPr lang="ja-JP" altLang="en-US" sz="2400" kern="0" dirty="0"/>
              <a:t>の散布図をかく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B1505EBD-5BB3-9BB0-A8D8-750082522D2A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4680604" cy="4343341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図、マーカーを用意</a:t>
            </a:r>
            <a:endParaRPr lang="en-US" altLang="ja-JP" sz="2400" kern="0" dirty="0"/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データを正規化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データ範囲の設定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格子状のデータ作成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en-US" altLang="ja-JP" sz="2400" kern="0" dirty="0">
                <a:solidFill>
                  <a:schemeClr val="accent4"/>
                </a:solidFill>
              </a:rPr>
              <a:t>SVM</a:t>
            </a:r>
            <a:r>
              <a:rPr lang="ja-JP" altLang="en-US" sz="2400" kern="0" dirty="0">
                <a:solidFill>
                  <a:schemeClr val="accent4"/>
                </a:solidFill>
              </a:rPr>
              <a:t>で格子点を予測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背景色を塗る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境界線を引く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打点する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図を保存する</a:t>
            </a:r>
            <a:endParaRPr lang="en-US" altLang="ja-JP" sz="2400" kern="0" dirty="0">
              <a:solidFill>
                <a:schemeClr val="accent4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B31667A-D314-284E-C92F-E1BBBCC78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F6EE943-8AD3-E112-D2A6-034902452A6F}"/>
              </a:ext>
            </a:extLst>
          </p:cNvPr>
          <p:cNvSpPr/>
          <p:nvPr/>
        </p:nvSpPr>
        <p:spPr bwMode="auto">
          <a:xfrm>
            <a:off x="4969656" y="1838671"/>
            <a:ext cx="3544952" cy="434334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59BD46-0327-5F01-00A5-072F1C1F51FD}"/>
              </a:ext>
            </a:extLst>
          </p:cNvPr>
          <p:cNvSpPr/>
          <p:nvPr/>
        </p:nvSpPr>
        <p:spPr bwMode="auto">
          <a:xfrm>
            <a:off x="8647048" y="1838671"/>
            <a:ext cx="3442033" cy="4343341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717B55A6-B224-208A-7AA8-92D4BE7D5D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8381" y="2256265"/>
            <a:ext cx="3442033" cy="3625399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0AACBCE5-B058-2E60-93E2-07D7BCFC8F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9824" y="4609656"/>
            <a:ext cx="1584363" cy="1512672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556F233E-5350-D11A-BB59-51F4F518AA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34332" y="2236844"/>
            <a:ext cx="2984141" cy="3644820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53D18264-2C92-F5FF-5381-A7A7325FF67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4799" y="4589097"/>
            <a:ext cx="1627093" cy="162709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9017867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9853D-251E-4DB5-F020-5540CC854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B490DC50-BA89-8D31-ACCA-FAD7861A9F8B}"/>
              </a:ext>
            </a:extLst>
          </p:cNvPr>
          <p:cNvSpPr/>
          <p:nvPr/>
        </p:nvSpPr>
        <p:spPr bwMode="auto">
          <a:xfrm>
            <a:off x="1453383" y="1801854"/>
            <a:ext cx="10314055" cy="299996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elephant_data_3k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0AA4EC4D-FD15-98F7-EE8F-0CD5C1431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6E7DD6F-3335-A3AD-3746-0910D617EDDD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75B395A4-D7A6-8C40-0611-ADA0F3A972D1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endParaRPr lang="ja-JP" altLang="en-US" sz="2400" kern="0" dirty="0"/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89E2ED13-3AC7-91E6-121D-8B910FC5A80C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4680604" cy="4343341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/>
          </a:p>
        </p:txBody>
      </p:sp>
      <p:sp>
        <p:nvSpPr>
          <p:cNvPr id="17" name="コンテンツ プレースホルダー 2">
            <a:extLst>
              <a:ext uri="{FF2B5EF4-FFF2-40B4-BE49-F238E27FC236}">
                <a16:creationId xmlns:a16="http://schemas.microsoft.com/office/drawing/2014/main" id="{0DB7595B-6D5A-FBA9-80C1-174A56A68749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データを増やす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BA0C342F-17F8-0D52-4A5A-1CF261C1A625}"/>
              </a:ext>
            </a:extLst>
          </p:cNvPr>
          <p:cNvSpPr/>
          <p:nvPr/>
        </p:nvSpPr>
        <p:spPr bwMode="auto">
          <a:xfrm>
            <a:off x="1453382" y="5437185"/>
            <a:ext cx="10314055" cy="80446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elephant_data_4d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39" name="図 38">
            <a:extLst>
              <a:ext uri="{FF2B5EF4-FFF2-40B4-BE49-F238E27FC236}">
                <a16:creationId xmlns:a16="http://schemas.microsoft.com/office/drawing/2014/main" id="{FADBD051-32BE-787F-73BC-BF9B2C554E7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959"/>
          <a:stretch/>
        </p:blipFill>
        <p:spPr>
          <a:xfrm>
            <a:off x="5821390" y="4210116"/>
            <a:ext cx="1552792" cy="296223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DF341C4B-A636-C4AF-0B69-92A3519B14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7106" y="4157176"/>
            <a:ext cx="1486107" cy="314369"/>
          </a:xfrm>
          <a:prstGeom prst="rect">
            <a:avLst/>
          </a:prstGeom>
        </p:spPr>
      </p:pic>
      <p:pic>
        <p:nvPicPr>
          <p:cNvPr id="43" name="図 42">
            <a:extLst>
              <a:ext uri="{FF2B5EF4-FFF2-40B4-BE49-F238E27FC236}">
                <a16:creationId xmlns:a16="http://schemas.microsoft.com/office/drawing/2014/main" id="{FE930961-AEA0-49A5-4DF1-525AB8F294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8075" y="5607502"/>
            <a:ext cx="1486107" cy="295316"/>
          </a:xfrm>
          <a:prstGeom prst="rect">
            <a:avLst/>
          </a:prstGeom>
        </p:spPr>
      </p:pic>
      <p:pic>
        <p:nvPicPr>
          <p:cNvPr id="45" name="図 44">
            <a:extLst>
              <a:ext uri="{FF2B5EF4-FFF2-40B4-BE49-F238E27FC236}">
                <a16:creationId xmlns:a16="http://schemas.microsoft.com/office/drawing/2014/main" id="{76F4A999-4A57-D190-9E33-785161A7C0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1457" y="5597975"/>
            <a:ext cx="1486107" cy="304843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C48E42C1-721B-0EC2-E20E-BAC73739903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9467" y="2218566"/>
            <a:ext cx="1758622" cy="1758622"/>
          </a:xfrm>
          <a:prstGeom prst="rect">
            <a:avLst/>
          </a:prstGeom>
        </p:spPr>
      </p:pic>
      <p:pic>
        <p:nvPicPr>
          <p:cNvPr id="49" name="図 48">
            <a:extLst>
              <a:ext uri="{FF2B5EF4-FFF2-40B4-BE49-F238E27FC236}">
                <a16:creationId xmlns:a16="http://schemas.microsoft.com/office/drawing/2014/main" id="{AA2BE8DF-3402-69BE-0CDF-4CCE96BCC03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0849" y="2215919"/>
            <a:ext cx="1758622" cy="1758622"/>
          </a:xfrm>
          <a:prstGeom prst="rect">
            <a:avLst/>
          </a:prstGeom>
        </p:spPr>
      </p:pic>
      <p:pic>
        <p:nvPicPr>
          <p:cNvPr id="51" name="図 50">
            <a:extLst>
              <a:ext uri="{FF2B5EF4-FFF2-40B4-BE49-F238E27FC236}">
                <a16:creationId xmlns:a16="http://schemas.microsoft.com/office/drawing/2014/main" id="{556A3117-59A3-B69C-9C74-CDF2709C0D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3868" y="2221557"/>
            <a:ext cx="1755925" cy="1755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568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2EEB9-D52F-262D-9932-339045E07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11AD8D-36A1-5DF0-654C-7D5CB301E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参考文献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E819672-D17E-DF8C-DEA2-084BC6C49B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あ</a:t>
            </a:r>
          </a:p>
        </p:txBody>
      </p:sp>
      <p:sp>
        <p:nvSpPr>
          <p:cNvPr id="7" name="字幕 2">
            <a:extLst>
              <a:ext uri="{FF2B5EF4-FFF2-40B4-BE49-F238E27FC236}">
                <a16:creationId xmlns:a16="http://schemas.microsoft.com/office/drawing/2014/main" id="{99641A50-23CB-2877-6685-B6FDD180F290}"/>
              </a:ext>
            </a:extLst>
          </p:cNvPr>
          <p:cNvSpPr txBox="1">
            <a:spLocks/>
          </p:cNvSpPr>
          <p:nvPr/>
        </p:nvSpPr>
        <p:spPr>
          <a:xfrm>
            <a:off x="719541" y="2386173"/>
            <a:ext cx="10992128" cy="18376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1" lang="ja-JP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0878030"/>
      </p:ext>
    </p:extLst>
  </p:cSld>
  <p:clrMapOvr>
    <a:masterClrMapping/>
  </p:clrMapOvr>
</p:sld>
</file>

<file path=ppt/theme/theme1.xml><?xml version="1.0" encoding="utf-8"?>
<a:theme xmlns:a="http://schemas.openxmlformats.org/drawingml/2006/main" name="lecture">
  <a:themeElements>
    <a:clrScheme name="lecture 7">
      <a:dk1>
        <a:srgbClr val="000000"/>
      </a:dk1>
      <a:lt1>
        <a:srgbClr val="FFFFFF"/>
      </a:lt1>
      <a:dk2>
        <a:srgbClr val="006633"/>
      </a:dk2>
      <a:lt2>
        <a:srgbClr val="5F5F5F"/>
      </a:lt2>
      <a:accent1>
        <a:srgbClr val="CC9900"/>
      </a:accent1>
      <a:accent2>
        <a:srgbClr val="3B812F"/>
      </a:accent2>
      <a:accent3>
        <a:srgbClr val="FFFFFF"/>
      </a:accent3>
      <a:accent4>
        <a:srgbClr val="000000"/>
      </a:accent4>
      <a:accent5>
        <a:srgbClr val="E2CAAA"/>
      </a:accent5>
      <a:accent6>
        <a:srgbClr val="35742A"/>
      </a:accent6>
      <a:hlink>
        <a:srgbClr val="996600"/>
      </a:hlink>
      <a:folHlink>
        <a:srgbClr val="AFBF39"/>
      </a:folHlink>
    </a:clrScheme>
    <a:fontScheme name="lecture">
      <a:majorFont>
        <a:latin typeface="Garamond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ＭＳ Ｐゴシック" pitchFamily="5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ＭＳ Ｐゴシック" pitchFamily="50" charset="-128"/>
          </a:defRPr>
        </a:defPPr>
      </a:lstStyle>
    </a:lnDef>
  </a:objectDefaults>
  <a:extraClrSchemeLst>
    <a:extraClrScheme>
      <a:clrScheme name="lectur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ctur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ctur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3644</TotalTime>
  <Words>1029</Words>
  <Application>Microsoft Office PowerPoint</Application>
  <PresentationFormat>ワイド画面</PresentationFormat>
  <Paragraphs>264</Paragraphs>
  <Slides>14</Slides>
  <Notes>10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21" baseType="lpstr">
      <vt:lpstr>メイリオ</vt:lpstr>
      <vt:lpstr>游ゴシック</vt:lpstr>
      <vt:lpstr>Arial</vt:lpstr>
      <vt:lpstr>Cambria Math</vt:lpstr>
      <vt:lpstr>Garamond</vt:lpstr>
      <vt:lpstr>Wingdings</vt:lpstr>
      <vt:lpstr>lecture</vt:lpstr>
      <vt:lpstr>「Pythonが動くGogle ColabでAI自習ドリル」 第１部３章演習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参考文献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「Pythonが動くGogle ColabでAI自習ドリル」 第１部３章演習</dc:title>
  <dc:creator>楓子 松本</dc:creator>
  <cp:lastModifiedBy>mei nagai</cp:lastModifiedBy>
  <cp:revision>99</cp:revision>
  <cp:lastPrinted>2025-01-29T02:41:47Z</cp:lastPrinted>
  <dcterms:created xsi:type="dcterms:W3CDTF">2025-01-28T06:03:12Z</dcterms:created>
  <dcterms:modified xsi:type="dcterms:W3CDTF">2026-09-15T05:44:19Z</dcterms:modified>
</cp:coreProperties>
</file>