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02438" cy="993775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AB1E5F0F-7DAD-4448-8189-90273236F70C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FF00FF"/>
    <a:srgbClr val="FFDDFF"/>
    <a:srgbClr val="339933"/>
    <a:srgbClr val="FF9900"/>
    <a:srgbClr val="0000FF"/>
    <a:srgbClr val="E1F5FF"/>
    <a:srgbClr val="EBEBEB"/>
    <a:srgbClr val="6600FF"/>
    <a:srgbClr val="99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間スタイル 1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03447BB-5D67-496B-8E87-E561075AD55C}" styleName="濃色スタイル 1 - アクセント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スタイル (濃色)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中間スタイル 4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中間スタイル 3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間スタイル 3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中間スタイル 3 - 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中間スタイル 3 - アクセント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9" autoAdjust="0"/>
    <p:restoredTop sz="95361" autoAdjust="0"/>
  </p:normalViewPr>
  <p:slideViewPr>
    <p:cSldViewPr>
      <p:cViewPr varScale="1">
        <p:scale>
          <a:sx n="84" d="100"/>
          <a:sy n="84" d="100"/>
        </p:scale>
        <p:origin x="1217" y="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10" d="100"/>
        <a:sy n="110" d="100"/>
      </p:scale>
      <p:origin x="0" y="-167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7723" cy="496888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3142" y="0"/>
            <a:ext cx="2947723" cy="496888"/>
          </a:xfrm>
          <a:prstGeom prst="rect">
            <a:avLst/>
          </a:prstGeom>
        </p:spPr>
        <p:txBody>
          <a:bodyPr vert="horz" lIns="91385" tIns="45693" rIns="91385" bIns="45693" rtlCol="0"/>
          <a:lstStyle>
            <a:lvl1pPr algn="r">
              <a:defRPr sz="1200"/>
            </a:lvl1pPr>
          </a:lstStyle>
          <a:p>
            <a:fld id="{A6F0CE93-5446-4AF6-B967-DCC380254293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6125"/>
            <a:ext cx="4967288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5" tIns="45693" rIns="91385" bIns="45693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244" y="4720432"/>
            <a:ext cx="5441950" cy="4471988"/>
          </a:xfrm>
          <a:prstGeom prst="rect">
            <a:avLst/>
          </a:prstGeom>
        </p:spPr>
        <p:txBody>
          <a:bodyPr vert="horz" lIns="91385" tIns="45693" rIns="91385" bIns="45693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439138"/>
            <a:ext cx="2947723" cy="496888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3142" y="9439138"/>
            <a:ext cx="2947723" cy="496888"/>
          </a:xfrm>
          <a:prstGeom prst="rect">
            <a:avLst/>
          </a:prstGeom>
        </p:spPr>
        <p:txBody>
          <a:bodyPr vert="horz" lIns="91385" tIns="45693" rIns="91385" bIns="45693" rtlCol="0" anchor="b"/>
          <a:lstStyle>
            <a:lvl1pPr algn="r">
              <a:defRPr sz="1200"/>
            </a:lvl1pPr>
          </a:lstStyle>
          <a:p>
            <a:fld id="{884D59B1-49A7-439E-9A6D-1FCE53F3220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52361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>
                <a:solidFill>
                  <a:schemeClr val="tx2"/>
                </a:solidFill>
              </a:defRPr>
            </a:lvl1pPr>
          </a:lstStyle>
          <a:p>
            <a:r>
              <a:rPr lang="ja-JP" altLang="en-US"/>
              <a:t>マスタ サブタイトルの書式設定</a:t>
            </a:r>
          </a:p>
        </p:txBody>
      </p:sp>
      <p:sp>
        <p:nvSpPr>
          <p:cNvPr id="391172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391173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391174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391175" name="Freeform 7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391176" name="Line 8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ja-JP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268413"/>
            <a:ext cx="40386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 dirty="0"/>
              <a:t>アイコンをクリックして図を追加</a:t>
            </a:r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03937"/>
          </a:xfrm>
        </p:spPr>
        <p:txBody>
          <a:bodyPr vert="eaVert"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03937"/>
          </a:xfrm>
        </p:spPr>
        <p:txBody>
          <a:bodyPr vert="eaVert"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タイトル、テキスト、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847725"/>
          </a:xfrm>
        </p:spPr>
        <p:txBody>
          <a:bodyPr/>
          <a:lstStyle/>
          <a:p>
            <a:r>
              <a:rPr lang="ja-JP" altLang="en-US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sz="half" idx="1"/>
          </p:nvPr>
        </p:nvSpPr>
        <p:spPr>
          <a:xfrm>
            <a:off x="457200" y="1268413"/>
            <a:ext cx="4038600" cy="5113337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268413"/>
            <a:ext cx="4038600" cy="5113337"/>
          </a:xfrm>
        </p:spPr>
        <p:txBody>
          <a:bodyPr/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>
          <a:xfrm>
            <a:off x="457200" y="63579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>
          <a:xfrm>
            <a:off x="3124200" y="63627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>
          <a:xfrm>
            <a:off x="6553200" y="63579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390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2296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3901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79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+mj-lt"/>
              </a:defRPr>
            </a:lvl1pPr>
          </a:lstStyle>
          <a:p>
            <a:fld id="{866496A2-E22D-4FAB-A8A9-43CC87E8782A}" type="datetimeFigureOut">
              <a:rPr kumimoji="1" lang="ja-JP" altLang="en-US" smtClean="0"/>
              <a:pPr/>
              <a:t>2025/9/24</a:t>
            </a:fld>
            <a:endParaRPr kumimoji="1" lang="ja-JP" altLang="en-US" dirty="0"/>
          </a:p>
        </p:txBody>
      </p:sp>
      <p:sp>
        <p:nvSpPr>
          <p:cNvPr id="3901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627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200">
                <a:latin typeface="+mj-lt"/>
              </a:defRPr>
            </a:lvl1pPr>
          </a:lstStyle>
          <a:p>
            <a:endParaRPr kumimoji="1" lang="ja-JP" altLang="en-US" dirty="0"/>
          </a:p>
        </p:txBody>
      </p:sp>
      <p:sp>
        <p:nvSpPr>
          <p:cNvPr id="3901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79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200">
                <a:latin typeface="+mj-lt"/>
              </a:defRPr>
            </a:lvl1pPr>
          </a:lstStyle>
          <a:p>
            <a:fld id="{DC05A66D-E7BB-4988-96C0-2FE30C73C36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390151" name="Freeform 7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390152" name="Line 8"/>
          <p:cNvSpPr>
            <a:spLocks noChangeShapeType="1"/>
          </p:cNvSpPr>
          <p:nvPr/>
        </p:nvSpPr>
        <p:spPr bwMode="auto">
          <a:xfrm>
            <a:off x="457200" y="645795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endParaRPr lang="ja-JP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200">
          <a:solidFill>
            <a:schemeClr val="tx2"/>
          </a:solidFill>
          <a:latin typeface="Garamond" pitchFamily="18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kumimoji="1" sz="2800">
          <a:solidFill>
            <a:schemeClr val="tx1"/>
          </a:solidFill>
          <a:latin typeface="+mn-lt"/>
          <a:ea typeface="+mn-ea"/>
        </a:defRPr>
      </a:lvl2pPr>
      <a:lvl3pPr marL="1022350" indent="-350838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339850" indent="-31591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kumimoji="1" sz="2000">
          <a:solidFill>
            <a:schemeClr val="tx1"/>
          </a:solidFill>
          <a:latin typeface="+mn-lt"/>
          <a:ea typeface="+mn-ea"/>
        </a:defRPr>
      </a:lvl4pPr>
      <a:lvl5pPr marL="16811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251520" y="1772816"/>
            <a:ext cx="8568952" cy="2088232"/>
          </a:xfrm>
        </p:spPr>
        <p:txBody>
          <a:bodyPr/>
          <a:lstStyle/>
          <a:p>
            <a:r>
              <a:rPr lang="ja-JP" altLang="en-US" sz="4400" dirty="0"/>
              <a:t>第</a:t>
            </a:r>
            <a:r>
              <a:rPr lang="en-US" altLang="ja-JP" sz="4400" dirty="0"/>
              <a:t>1</a:t>
            </a:r>
            <a:r>
              <a:rPr lang="ja-JP" altLang="en-US" sz="4400" dirty="0"/>
              <a:t>部第三章　</a:t>
            </a:r>
            <a:r>
              <a:rPr lang="en-US" altLang="ja-JP" sz="4400" dirty="0"/>
              <a:t>SVM</a:t>
            </a:r>
            <a:br>
              <a:rPr lang="en-US" altLang="ja-JP" sz="4400" dirty="0"/>
            </a:br>
            <a:br>
              <a:rPr lang="en-US" altLang="ja-JP" sz="4400" dirty="0"/>
            </a:br>
            <a:r>
              <a:rPr lang="ja-JP" altLang="en-US" sz="3000" dirty="0"/>
              <a:t>谷垣　美桜</a:t>
            </a:r>
            <a:br>
              <a:rPr lang="en-US" altLang="ja-JP" sz="4400" dirty="0"/>
            </a:br>
            <a:br>
              <a:rPr lang="en-US" altLang="ja-JP" sz="4400" dirty="0"/>
            </a:br>
            <a:endParaRPr kumimoji="1" lang="ja-JP" altLang="en-US" sz="44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2403812-CE51-408A-B46C-BB1CC2D8E05A}"/>
              </a:ext>
            </a:extLst>
          </p:cNvPr>
          <p:cNvSpPr txBox="1"/>
          <p:nvPr/>
        </p:nvSpPr>
        <p:spPr>
          <a:xfrm>
            <a:off x="251520" y="5416778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　　</a:t>
            </a:r>
            <a:endParaRPr kumimoji="1" lang="en-US" altLang="ja-JP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7EA861-0C65-4D9B-BFEE-AAF69F9D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ゾウ１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CD0BD0-0B6A-49E0-BADE-58B414FD7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847725"/>
          </a:xfrm>
        </p:spPr>
        <p:txBody>
          <a:bodyPr/>
          <a:lstStyle/>
          <a:p>
            <a:r>
              <a:rPr lang="en-US" altLang="ja-JP" sz="2000" dirty="0" err="1">
                <a:solidFill>
                  <a:srgbClr val="FF00FF"/>
                </a:solidFill>
              </a:rPr>
              <a:t>Colnames</a:t>
            </a:r>
            <a:r>
              <a:rPr lang="en-US" altLang="ja-JP" sz="2000" dirty="0">
                <a:solidFill>
                  <a:srgbClr val="FF00FF"/>
                </a:solidFill>
              </a:rPr>
              <a:t>()</a:t>
            </a:r>
            <a:endParaRPr kumimoji="1" lang="en-US" altLang="ja-JP" sz="2000" dirty="0">
              <a:solidFill>
                <a:srgbClr val="FF00FF"/>
              </a:solidFill>
            </a:endParaRPr>
          </a:p>
          <a:p>
            <a:pPr marL="327025" lvl="1" indent="0">
              <a:buNone/>
            </a:pPr>
            <a:r>
              <a:rPr lang="ja-JP" altLang="en-US" sz="1100" dirty="0"/>
              <a:t>（）内のデータの列名をコンソールに表示</a:t>
            </a:r>
            <a:endParaRPr lang="en-US" altLang="ja-JP" sz="11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C217F92-53AE-7189-8F39-746992377C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888" t="48950" r="2709" b="1700"/>
          <a:stretch>
            <a:fillRect/>
          </a:stretch>
        </p:blipFill>
        <p:spPr>
          <a:xfrm>
            <a:off x="5364088" y="980728"/>
            <a:ext cx="3684665" cy="266429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48463DE1-3D84-523C-3FE2-AACC5EFE21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46" t="21651" r="3714" b="39500"/>
          <a:stretch>
            <a:fillRect/>
          </a:stretch>
        </p:blipFill>
        <p:spPr>
          <a:xfrm>
            <a:off x="611560" y="3836702"/>
            <a:ext cx="5904657" cy="251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298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3B729-648D-940C-4197-D23F8A21F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9BA281-1C67-9623-F7B9-FCDD59483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ゾウ２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693D44-4344-5CA9-56E9-A21D74195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840366"/>
            <a:ext cx="8229600" cy="504403"/>
          </a:xfrm>
        </p:spPr>
        <p:txBody>
          <a:bodyPr/>
          <a:lstStyle/>
          <a:p>
            <a:r>
              <a:rPr lang="it-IT" altLang="ja-JP" sz="2000" dirty="0">
                <a:solidFill>
                  <a:srgbClr val="FF00FF"/>
                </a:solidFill>
              </a:rPr>
              <a:t>svm(formula, data, kernel, cost, scale, ...)</a:t>
            </a:r>
            <a:endParaRPr kumimoji="1" lang="en-US" altLang="ja-JP" sz="2000" dirty="0">
              <a:solidFill>
                <a:srgbClr val="FF00FF"/>
              </a:solidFill>
            </a:endParaRPr>
          </a:p>
          <a:p>
            <a:pPr marL="327025" lvl="1" indent="0">
              <a:buNone/>
            </a:pPr>
            <a:r>
              <a:rPr lang="ja-JP" altLang="en-US" sz="1100" dirty="0"/>
              <a:t>サポートベクターマシーンの関数</a:t>
            </a:r>
            <a:endParaRPr lang="en-US" altLang="ja-JP" sz="1100" dirty="0"/>
          </a:p>
        </p:txBody>
      </p:sp>
      <p:sp>
        <p:nvSpPr>
          <p:cNvPr id="18" name="コンテンツ プレースホルダー 2">
            <a:extLst>
              <a:ext uri="{FF2B5EF4-FFF2-40B4-BE49-F238E27FC236}">
                <a16:creationId xmlns:a16="http://schemas.microsoft.com/office/drawing/2014/main" id="{69BB725D-10AD-66E5-0AF6-D7AC7E7534E8}"/>
              </a:ext>
            </a:extLst>
          </p:cNvPr>
          <p:cNvSpPr txBox="1">
            <a:spLocks/>
          </p:cNvSpPr>
          <p:nvPr/>
        </p:nvSpPr>
        <p:spPr bwMode="auto">
          <a:xfrm>
            <a:off x="426368" y="1260775"/>
            <a:ext cx="8229600" cy="504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000" kern="0" dirty="0">
                <a:solidFill>
                  <a:srgbClr val="FF00FF"/>
                </a:solidFill>
              </a:rPr>
              <a:t>seq(0, 1, length = 200)</a:t>
            </a:r>
          </a:p>
          <a:p>
            <a:pPr marL="327025" lvl="1" indent="0">
              <a:buFont typeface="Wingdings" pitchFamily="2" charset="2"/>
              <a:buNone/>
            </a:pPr>
            <a:r>
              <a:rPr lang="en-US" altLang="ja-JP" sz="1100" kern="0" dirty="0"/>
              <a:t>0 ~ 1</a:t>
            </a:r>
            <a:r>
              <a:rPr lang="ja-JP" altLang="en-US" sz="1100" kern="0" dirty="0"/>
              <a:t>を</a:t>
            </a:r>
            <a:r>
              <a:rPr lang="en-US" altLang="ja-JP" sz="1100" kern="0" dirty="0"/>
              <a:t>200</a:t>
            </a:r>
            <a:r>
              <a:rPr lang="ja-JP" altLang="en-US" sz="1100" kern="0" dirty="0"/>
              <a:t>で分割する</a:t>
            </a:r>
            <a:endParaRPr lang="en-US" altLang="ja-JP" sz="1100" kern="0" dirty="0"/>
          </a:p>
        </p:txBody>
      </p:sp>
      <p:sp>
        <p:nvSpPr>
          <p:cNvPr id="20" name="コンテンツ プレースホルダー 2">
            <a:extLst>
              <a:ext uri="{FF2B5EF4-FFF2-40B4-BE49-F238E27FC236}">
                <a16:creationId xmlns:a16="http://schemas.microsoft.com/office/drawing/2014/main" id="{33E3211A-FF60-275C-36B4-EA267BEE654E}"/>
              </a:ext>
            </a:extLst>
          </p:cNvPr>
          <p:cNvSpPr txBox="1">
            <a:spLocks/>
          </p:cNvSpPr>
          <p:nvPr/>
        </p:nvSpPr>
        <p:spPr bwMode="auto">
          <a:xfrm>
            <a:off x="395536" y="1697645"/>
            <a:ext cx="8229600" cy="504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000" kern="0" dirty="0">
                <a:solidFill>
                  <a:srgbClr val="FF00FF"/>
                </a:solidFill>
              </a:rPr>
              <a:t>Predict(</a:t>
            </a:r>
            <a:r>
              <a:rPr lang="ja-JP" altLang="en-US" sz="2000" kern="0" dirty="0">
                <a:solidFill>
                  <a:srgbClr val="FF00FF"/>
                </a:solidFill>
              </a:rPr>
              <a:t>●</a:t>
            </a:r>
            <a:r>
              <a:rPr lang="en-US" altLang="ja-JP" sz="2000" kern="0" dirty="0">
                <a:solidFill>
                  <a:srgbClr val="FF00FF"/>
                </a:solidFill>
              </a:rPr>
              <a:t>,×)</a:t>
            </a:r>
          </a:p>
          <a:p>
            <a:pPr marL="327025" lvl="1" indent="0">
              <a:buFont typeface="Wingdings" pitchFamily="2" charset="2"/>
              <a:buNone/>
            </a:pPr>
            <a:r>
              <a:rPr lang="ja-JP" altLang="en-US" sz="1100" kern="0" dirty="0"/>
              <a:t>●に対して</a:t>
            </a:r>
            <a:r>
              <a:rPr lang="en-US" altLang="ja-JP" sz="1100" kern="0" dirty="0"/>
              <a:t>×</a:t>
            </a:r>
            <a:r>
              <a:rPr lang="ja-JP" altLang="en-US" sz="1100" kern="0" dirty="0"/>
              <a:t>を予測</a:t>
            </a:r>
            <a:endParaRPr lang="en-US" altLang="ja-JP" sz="1100" kern="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8537804-29B4-7E31-F164-ECEF997202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6" t="16412" r="37368" b="26900"/>
          <a:stretch>
            <a:fillRect/>
          </a:stretch>
        </p:blipFill>
        <p:spPr>
          <a:xfrm>
            <a:off x="0" y="3493317"/>
            <a:ext cx="2763539" cy="266429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451C2EE-920E-575C-A5A2-72A510989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16" t="17690" r="15990" b="11151"/>
          <a:stretch>
            <a:fillRect/>
          </a:stretch>
        </p:blipFill>
        <p:spPr>
          <a:xfrm>
            <a:off x="2763539" y="3493317"/>
            <a:ext cx="3139776" cy="2728033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B9EC5C7-F136-7596-7D9D-F206C4FC073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88" t="29001" r="16962" b="20600"/>
          <a:stretch>
            <a:fillRect/>
          </a:stretch>
        </p:blipFill>
        <p:spPr>
          <a:xfrm>
            <a:off x="5903315" y="3525309"/>
            <a:ext cx="3180180" cy="2008534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B4EFC59-C626-BEFD-7CD7-9DE1A3FE63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6113" t="50000" r="2386" b="1701"/>
          <a:stretch>
            <a:fillRect/>
          </a:stretch>
        </p:blipFill>
        <p:spPr>
          <a:xfrm>
            <a:off x="3995936" y="1329067"/>
            <a:ext cx="2282827" cy="1981321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2766B8D7-B2BB-1C0A-B256-3F94E14370F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6113" t="49266" r="2386" b="1700"/>
          <a:stretch>
            <a:fillRect/>
          </a:stretch>
        </p:blipFill>
        <p:spPr>
          <a:xfrm>
            <a:off x="6491782" y="1344769"/>
            <a:ext cx="2248666" cy="1981321"/>
          </a:xfrm>
          <a:prstGeom prst="rect">
            <a:avLst/>
          </a:prstGeom>
        </p:spPr>
      </p:pic>
      <p:sp>
        <p:nvSpPr>
          <p:cNvPr id="21" name="コンテンツ プレースホルダー 2">
            <a:extLst>
              <a:ext uri="{FF2B5EF4-FFF2-40B4-BE49-F238E27FC236}">
                <a16:creationId xmlns:a16="http://schemas.microsoft.com/office/drawing/2014/main" id="{FAA82683-136D-C2B1-277A-AC6ADE6A1097}"/>
              </a:ext>
            </a:extLst>
          </p:cNvPr>
          <p:cNvSpPr txBox="1">
            <a:spLocks/>
          </p:cNvSpPr>
          <p:nvPr/>
        </p:nvSpPr>
        <p:spPr bwMode="auto">
          <a:xfrm>
            <a:off x="395536" y="2234040"/>
            <a:ext cx="8229600" cy="5044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it-IT" altLang="ja-JP" sz="2000" dirty="0">
                <a:solidFill>
                  <a:srgbClr val="FF00FF"/>
                </a:solidFill>
              </a:rPr>
              <a:t>Kernel</a:t>
            </a:r>
            <a:r>
              <a:rPr lang="ja-JP" altLang="en-US" sz="2000" dirty="0">
                <a:solidFill>
                  <a:srgbClr val="FF00FF"/>
                </a:solidFill>
              </a:rPr>
              <a:t>関数</a:t>
            </a:r>
            <a:endParaRPr lang="en-US" altLang="ja-JP" sz="2000" kern="0" dirty="0">
              <a:solidFill>
                <a:srgbClr val="FF00FF"/>
              </a:solidFill>
            </a:endParaRPr>
          </a:p>
          <a:p>
            <a:pPr marL="327025" lvl="1" indent="0">
              <a:buNone/>
            </a:pPr>
            <a:r>
              <a:rPr lang="en-US" altLang="ja-JP" sz="1100" kern="0" dirty="0"/>
              <a:t>"linear", "polynomial", "radial", "sigmoid“</a:t>
            </a:r>
          </a:p>
          <a:p>
            <a:pPr marL="327025" lvl="1" indent="0">
              <a:buNone/>
            </a:pPr>
            <a:r>
              <a:rPr lang="ja-JP" altLang="en-US" sz="1100" kern="0" dirty="0"/>
              <a:t>線形、多項式、放射基底関数、シグモイド</a:t>
            </a:r>
            <a:endParaRPr lang="en-US" altLang="ja-JP" sz="1100" kern="0" dirty="0"/>
          </a:p>
          <a:p>
            <a:pPr marL="327025" lvl="1" indent="0">
              <a:buNone/>
            </a:pPr>
            <a:endParaRPr lang="en-US" altLang="ja-JP" sz="1100" kern="0" dirty="0"/>
          </a:p>
        </p:txBody>
      </p:sp>
    </p:spTree>
    <p:extLst>
      <p:ext uri="{BB962C8B-B14F-4D97-AF65-F5344CB8AC3E}">
        <p14:creationId xmlns:p14="http://schemas.microsoft.com/office/powerpoint/2010/main" val="16695380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05B81-ADBC-02B9-BF45-3023C4DB1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07D1F04-AF36-2C3D-E242-2FBFFE8B5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ゾウ４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055781-1731-1C9D-8D49-155DB2EAC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847725"/>
          </a:xfrm>
        </p:spPr>
        <p:txBody>
          <a:bodyPr/>
          <a:lstStyle/>
          <a:p>
            <a:r>
              <a:rPr lang="en-US" altLang="ja-JP" sz="2000" dirty="0">
                <a:solidFill>
                  <a:srgbClr val="FF00FF"/>
                </a:solidFill>
              </a:rPr>
              <a:t>c()</a:t>
            </a:r>
            <a:endParaRPr kumimoji="1" lang="en-US" altLang="ja-JP" sz="2000" dirty="0">
              <a:solidFill>
                <a:srgbClr val="FF00FF"/>
              </a:solidFill>
            </a:endParaRPr>
          </a:p>
          <a:p>
            <a:pPr marL="327025" lvl="1" indent="0">
              <a:buNone/>
            </a:pPr>
            <a:r>
              <a:rPr lang="ja-JP" altLang="en-US" sz="1100" dirty="0"/>
              <a:t>ベクトルにまとめている</a:t>
            </a:r>
            <a:endParaRPr lang="en-US" altLang="ja-JP" sz="1100" dirty="0"/>
          </a:p>
          <a:p>
            <a:pPr marL="327025" lvl="1" indent="0">
              <a:buNone/>
            </a:pPr>
            <a:r>
              <a:rPr lang="ja-JP" altLang="en-US" sz="1100" dirty="0"/>
              <a:t>今回は三種類のデータを扱うため三つ</a:t>
            </a:r>
            <a:r>
              <a:rPr lang="en-US" altLang="ja-JP" sz="1100" dirty="0"/>
              <a:t>(0,1,2)</a:t>
            </a:r>
            <a:r>
              <a:rPr lang="ja-JP" altLang="en-US" sz="1100" dirty="0"/>
              <a:t>を出している</a:t>
            </a:r>
            <a:endParaRPr lang="en-US" altLang="ja-JP" sz="11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E67B57-B753-7DC1-23F2-956DACBF79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16" t="20601" r="36396" b="12201"/>
          <a:stretch>
            <a:fillRect/>
          </a:stretch>
        </p:blipFill>
        <p:spPr>
          <a:xfrm>
            <a:off x="179512" y="3212976"/>
            <a:ext cx="2501153" cy="2808312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D189076-7F42-21BA-8F4B-8440AD54D5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89" t="23750" r="5301" b="15351"/>
          <a:stretch>
            <a:fillRect/>
          </a:stretch>
        </p:blipFill>
        <p:spPr>
          <a:xfrm>
            <a:off x="2769317" y="3213323"/>
            <a:ext cx="3605366" cy="2376264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9F881CC-789A-65B8-1C7D-B488E31E10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188" t="44750" r="21821" b="23750"/>
          <a:stretch>
            <a:fillRect/>
          </a:stretch>
        </p:blipFill>
        <p:spPr>
          <a:xfrm>
            <a:off x="4499992" y="5406933"/>
            <a:ext cx="3074741" cy="1299186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FE39AB8-0DF9-E4C4-2CFA-85B389DF2D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084" t="48950" r="2387" b="2215"/>
          <a:stretch>
            <a:fillRect/>
          </a:stretch>
        </p:blipFill>
        <p:spPr>
          <a:xfrm>
            <a:off x="4499992" y="1088679"/>
            <a:ext cx="2254195" cy="2016224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EC5BEE4A-3231-2F41-EB5F-BA48C40F1D1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8056" t="50000" r="1416" b="2215"/>
          <a:stretch>
            <a:fillRect/>
          </a:stretch>
        </p:blipFill>
        <p:spPr>
          <a:xfrm>
            <a:off x="6759196" y="1088679"/>
            <a:ext cx="2201267" cy="1926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85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8160D-8896-EAD8-C454-4AAF33888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6F62BC-E628-3616-CD9D-C6252D727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ゾウ５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51308A-221B-087A-C1C9-BEFB635D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847725"/>
          </a:xfrm>
        </p:spPr>
        <p:txBody>
          <a:bodyPr/>
          <a:lstStyle/>
          <a:p>
            <a:r>
              <a:rPr lang="en-US" altLang="ja-JP" sz="2000" dirty="0">
                <a:solidFill>
                  <a:srgbClr val="FF00FF"/>
                </a:solidFill>
              </a:rPr>
              <a:t>degree</a:t>
            </a:r>
            <a:endParaRPr kumimoji="1" lang="en-US" altLang="ja-JP" sz="2000" dirty="0">
              <a:solidFill>
                <a:srgbClr val="FF00FF"/>
              </a:solidFill>
            </a:endParaRPr>
          </a:p>
          <a:p>
            <a:pPr marL="327025" lvl="1" indent="0">
              <a:buNone/>
            </a:pPr>
            <a:r>
              <a:rPr lang="ja-JP" altLang="en-US" sz="1100" dirty="0"/>
              <a:t>多項式の次数を指定</a:t>
            </a:r>
            <a:endParaRPr lang="en-US" altLang="ja-JP" sz="1100" dirty="0"/>
          </a:p>
          <a:p>
            <a:pPr marL="327025" lvl="1" indent="0">
              <a:buNone/>
            </a:pPr>
            <a:r>
              <a:rPr lang="en-US" altLang="ja-JP" sz="1100" dirty="0"/>
              <a:t>1〜2</a:t>
            </a:r>
            <a:r>
              <a:rPr lang="ja-JP" altLang="en-US" sz="1100" dirty="0"/>
              <a:t>：モデルが単純で過学習しにくい。線形に近い境界を作る。</a:t>
            </a:r>
            <a:endParaRPr lang="en-US" altLang="ja-JP" sz="1100" dirty="0"/>
          </a:p>
          <a:p>
            <a:pPr marL="327025" lvl="1" indent="0">
              <a:buNone/>
            </a:pPr>
            <a:r>
              <a:rPr lang="en-US" altLang="ja-JP" sz="1100" dirty="0"/>
              <a:t>3〜5</a:t>
            </a:r>
            <a:r>
              <a:rPr lang="ja-JP" altLang="en-US" sz="1100" dirty="0"/>
              <a:t>：複雑な境界を作れるが、過学習しやすい。</a:t>
            </a:r>
            <a:endParaRPr lang="en-US" altLang="ja-JP" sz="11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D082544-289C-0921-D244-60B26361DB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" t="69144" r="30566" b="4051"/>
          <a:stretch>
            <a:fillRect/>
          </a:stretch>
        </p:blipFill>
        <p:spPr>
          <a:xfrm>
            <a:off x="323528" y="4437112"/>
            <a:ext cx="5040560" cy="18383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E9F4C71-6FEE-67FB-9EC2-B48F473023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188" t="18495" r="15018" b="13251"/>
          <a:stretch>
            <a:fillRect/>
          </a:stretch>
        </p:blipFill>
        <p:spPr>
          <a:xfrm>
            <a:off x="5426631" y="277813"/>
            <a:ext cx="3384376" cy="2820523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4E38FE0B-D8C4-EAEB-69DD-35D01F343A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216" t="32940" r="20848" b="13250"/>
          <a:stretch>
            <a:fillRect/>
          </a:stretch>
        </p:blipFill>
        <p:spPr>
          <a:xfrm>
            <a:off x="5419193" y="3098336"/>
            <a:ext cx="3716288" cy="2608937"/>
          </a:xfrm>
          <a:prstGeom prst="rect">
            <a:avLst/>
          </a:prstGeom>
        </p:spPr>
      </p:pic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6114CE9F-41F7-768A-6921-74F93B0DD7CA}"/>
              </a:ext>
            </a:extLst>
          </p:cNvPr>
          <p:cNvSpPr txBox="1">
            <a:spLocks/>
          </p:cNvSpPr>
          <p:nvPr/>
        </p:nvSpPr>
        <p:spPr bwMode="auto">
          <a:xfrm>
            <a:off x="457200" y="2183374"/>
            <a:ext cx="8229600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0838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5913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1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5pPr>
            <a:lvl6pPr marL="21383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6pPr>
            <a:lvl7pPr marL="25955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7pPr>
            <a:lvl8pPr marL="30527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8pPr>
            <a:lvl9pPr marL="3509963" indent="-339725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kumimoji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ja-JP" sz="2000" kern="0" dirty="0">
                <a:solidFill>
                  <a:srgbClr val="FF00FF"/>
                </a:solidFill>
              </a:rPr>
              <a:t>Cat()</a:t>
            </a:r>
          </a:p>
          <a:p>
            <a:pPr marL="327025" lvl="1" indent="0">
              <a:buNone/>
            </a:pPr>
            <a:r>
              <a:rPr lang="en-US" altLang="ja-JP" sz="1100" kern="0" dirty="0"/>
              <a:t>cat()</a:t>
            </a:r>
            <a:r>
              <a:rPr lang="ja-JP" altLang="en-US" sz="1100" kern="0" dirty="0"/>
              <a:t>は文字列や数値をつなげて出力する関数</a:t>
            </a:r>
            <a:endParaRPr lang="en-US" altLang="ja-JP" sz="1100" kern="0" dirty="0"/>
          </a:p>
        </p:txBody>
      </p:sp>
    </p:spTree>
    <p:extLst>
      <p:ext uri="{BB962C8B-B14F-4D97-AF65-F5344CB8AC3E}">
        <p14:creationId xmlns:p14="http://schemas.microsoft.com/office/powerpoint/2010/main" val="1060098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852D-7FF0-DD8A-83D3-412CE85C6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934C9B-03F5-ED19-9FF3-F0FE8C2A1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画像処理１～４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439CCF7-2ED3-3956-2831-D04A53403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847725"/>
          </a:xfrm>
        </p:spPr>
        <p:txBody>
          <a:bodyPr/>
          <a:lstStyle/>
          <a:p>
            <a:r>
              <a:rPr kumimoji="1" lang="en-US" altLang="ja-JP" sz="2000" dirty="0" err="1">
                <a:solidFill>
                  <a:srgbClr val="FF00FF"/>
                </a:solidFill>
              </a:rPr>
              <a:t>As.vector</a:t>
            </a:r>
            <a:r>
              <a:rPr kumimoji="1" lang="en-US" altLang="ja-JP" sz="2000" dirty="0">
                <a:solidFill>
                  <a:srgbClr val="FF00FF"/>
                </a:solidFill>
              </a:rPr>
              <a:t>()</a:t>
            </a:r>
          </a:p>
          <a:p>
            <a:pPr marL="327025" lvl="1" indent="0">
              <a:buNone/>
            </a:pPr>
            <a:r>
              <a:rPr lang="ja-JP" altLang="en-US" sz="1100" dirty="0"/>
              <a:t>行列を一列のベクトルに変換</a:t>
            </a:r>
            <a:endParaRPr lang="en-US" altLang="ja-JP" sz="11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84F2EE5-5A96-410C-E8F6-3E6C2DA651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 t="52100" r="5113" b="4051"/>
          <a:stretch>
            <a:fillRect/>
          </a:stretch>
        </p:blipFill>
        <p:spPr>
          <a:xfrm>
            <a:off x="611560" y="3382293"/>
            <a:ext cx="2474216" cy="271913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5B9431C8-083C-D02E-2EDA-CA158E4891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19" t="25850" r="12200" b="34501"/>
          <a:stretch>
            <a:fillRect/>
          </a:stretch>
        </p:blipFill>
        <p:spPr>
          <a:xfrm>
            <a:off x="4582344" y="923900"/>
            <a:ext cx="4104456" cy="238447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FD37E71A-90F9-5A2A-CF09-7E9F12F73D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019" t="26901" r="18107" b="33451"/>
          <a:stretch>
            <a:fillRect/>
          </a:stretch>
        </p:blipFill>
        <p:spPr>
          <a:xfrm>
            <a:off x="4569698" y="3451251"/>
            <a:ext cx="3977236" cy="2503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47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F9421-7372-A46E-DA6E-F28931204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84E102-66AF-E0B2-967E-DAC89C692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画像処理５～６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4F03CAE-5BDC-AA86-5033-42D25F628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847725"/>
          </a:xfrm>
        </p:spPr>
        <p:txBody>
          <a:bodyPr/>
          <a:lstStyle/>
          <a:p>
            <a:r>
              <a:rPr lang="en-US" altLang="ja-JP" sz="2000" dirty="0">
                <a:solidFill>
                  <a:srgbClr val="FF00FF"/>
                </a:solidFill>
              </a:rPr>
              <a:t>seq(0, 256, by=1)</a:t>
            </a:r>
            <a:endParaRPr kumimoji="1" lang="en-US" altLang="ja-JP" sz="2000" dirty="0">
              <a:solidFill>
                <a:srgbClr val="FF00FF"/>
              </a:solidFill>
            </a:endParaRPr>
          </a:p>
          <a:p>
            <a:pPr marL="327025" lvl="1" indent="0">
              <a:buNone/>
            </a:pPr>
            <a:r>
              <a:rPr lang="en-US" altLang="ja-JP" sz="1100" dirty="0"/>
              <a:t>0~255</a:t>
            </a:r>
            <a:r>
              <a:rPr lang="ja-JP" altLang="en-US" sz="1100" dirty="0"/>
              <a:t>で</a:t>
            </a:r>
            <a:r>
              <a:rPr lang="en-US" altLang="ja-JP" sz="1100" dirty="0"/>
              <a:t>256</a:t>
            </a:r>
            <a:r>
              <a:rPr lang="ja-JP" altLang="en-US" sz="1100" dirty="0"/>
              <a:t>ビンを作る</a:t>
            </a:r>
            <a:endParaRPr lang="en-US" altLang="ja-JP" sz="11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D8125C5-DCB2-D77A-904A-92C297C085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019" t="26901" r="11019" b="11151"/>
          <a:stretch>
            <a:fillRect/>
          </a:stretch>
        </p:blipFill>
        <p:spPr>
          <a:xfrm>
            <a:off x="5220072" y="980728"/>
            <a:ext cx="3624809" cy="324036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D6386F8-D8D4-6E68-6F30-050155FC50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020" t="25850" r="8657" b="48531"/>
          <a:stretch>
            <a:fillRect/>
          </a:stretch>
        </p:blipFill>
        <p:spPr>
          <a:xfrm>
            <a:off x="5246408" y="4304843"/>
            <a:ext cx="3612205" cy="1296144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B97EE522-69B6-1B23-313C-9291AA8595D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50" t="78350" r="16926"/>
          <a:stretch>
            <a:fillRect/>
          </a:stretch>
        </p:blipFill>
        <p:spPr>
          <a:xfrm>
            <a:off x="1115616" y="4221088"/>
            <a:ext cx="3816424" cy="115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765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B76E3-7BBD-9CEF-E34C-B327F538B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5C4C2FA-B62B-872C-C49B-F595472D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画像処理９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F97E06E-DDBD-B924-EF65-4A89AC2BE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847725"/>
          </a:xfrm>
        </p:spPr>
        <p:txBody>
          <a:bodyPr/>
          <a:lstStyle/>
          <a:p>
            <a:r>
              <a:rPr lang="en-US" altLang="ja-JP" sz="2000" dirty="0">
                <a:solidFill>
                  <a:srgbClr val="FF00FF"/>
                </a:solidFill>
              </a:rPr>
              <a:t>[A, ]  ,  [-A, ]</a:t>
            </a:r>
            <a:endParaRPr kumimoji="1" lang="en-US" altLang="ja-JP" sz="2000" dirty="0">
              <a:solidFill>
                <a:srgbClr val="FF00FF"/>
              </a:solidFill>
            </a:endParaRPr>
          </a:p>
          <a:p>
            <a:pPr marL="327025" lvl="1" indent="0">
              <a:buNone/>
            </a:pPr>
            <a:r>
              <a:rPr lang="ja-JP" altLang="en-US" sz="1100" dirty="0"/>
              <a:t>今回は</a:t>
            </a:r>
            <a:r>
              <a:rPr lang="en-US" altLang="ja-JP" sz="1100" dirty="0"/>
              <a:t>A</a:t>
            </a:r>
            <a:r>
              <a:rPr lang="ja-JP" altLang="en-US" sz="1100" dirty="0"/>
              <a:t>が</a:t>
            </a:r>
            <a:r>
              <a:rPr lang="en-US" altLang="ja-JP" sz="1100" dirty="0"/>
              <a:t>80</a:t>
            </a:r>
            <a:r>
              <a:rPr lang="ja-JP" altLang="en-US" sz="1100" dirty="0"/>
              <a:t>％だが、この時</a:t>
            </a:r>
            <a:r>
              <a:rPr lang="en-US" altLang="ja-JP" sz="1100" dirty="0"/>
              <a:t>-A</a:t>
            </a:r>
            <a:r>
              <a:rPr lang="ja-JP" altLang="en-US" sz="1100" dirty="0"/>
              <a:t>は</a:t>
            </a:r>
            <a:r>
              <a:rPr lang="en-US" altLang="ja-JP" sz="1100" dirty="0"/>
              <a:t>20</a:t>
            </a:r>
            <a:r>
              <a:rPr lang="ja-JP" altLang="en-US" sz="1100" dirty="0"/>
              <a:t>％になる</a:t>
            </a:r>
            <a:endParaRPr lang="en-US" altLang="ja-JP" sz="11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CE84BC88-5BA2-91E6-5A91-40835C687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900" r="11019" b="4052"/>
          <a:stretch>
            <a:fillRect/>
          </a:stretch>
        </p:blipFill>
        <p:spPr>
          <a:xfrm>
            <a:off x="3563888" y="1268413"/>
            <a:ext cx="5424264" cy="4735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83598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">
  <a:themeElements>
    <a:clrScheme name="lectur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lecture">
      <a:majorFont>
        <a:latin typeface="Garamond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-128"/>
          </a:defRPr>
        </a:defPPr>
      </a:lstStyle>
    </a:lnDef>
  </a:objectDefaults>
  <a:extraClrSchemeLst>
    <a:extraClrScheme>
      <a:clrScheme name="lectur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ctur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ctur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yoshida-2007-</Template>
  <TotalTime>50185</TotalTime>
  <Words>238</Words>
  <Application>Microsoft Office PowerPoint</Application>
  <PresentationFormat>画面に合わせる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3" baseType="lpstr">
      <vt:lpstr>Arial</vt:lpstr>
      <vt:lpstr>Calibri</vt:lpstr>
      <vt:lpstr>Garamond</vt:lpstr>
      <vt:lpstr>Wingdings</vt:lpstr>
      <vt:lpstr>lecture</vt:lpstr>
      <vt:lpstr>第1部第三章　SVM  谷垣　美桜  </vt:lpstr>
      <vt:lpstr>ゾウ１</vt:lpstr>
      <vt:lpstr>ゾウ２</vt:lpstr>
      <vt:lpstr>ゾウ４</vt:lpstr>
      <vt:lpstr>ゾウ５</vt:lpstr>
      <vt:lpstr>画像処理１～４</vt:lpstr>
      <vt:lpstr>画像処理５～６</vt:lpstr>
      <vt:lpstr>画像処理９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20110128 議論</dc:title>
  <dc:creator>Sato Tomoyuki</dc:creator>
  <cp:lastModifiedBy>吉田哲也</cp:lastModifiedBy>
  <cp:revision>2530</cp:revision>
  <cp:lastPrinted>2018-09-06T06:38:22Z</cp:lastPrinted>
  <dcterms:created xsi:type="dcterms:W3CDTF">2010-09-13T11:40:07Z</dcterms:created>
  <dcterms:modified xsi:type="dcterms:W3CDTF">2025-09-24T09:29:51Z</dcterms:modified>
</cp:coreProperties>
</file>